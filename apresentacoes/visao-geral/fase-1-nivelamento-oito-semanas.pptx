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051f4ea99394f7a" /><Relationship Type="http://schemas.openxmlformats.org/officeDocument/2006/relationships/extended-properties" Target="/docProps/app.xml" Id="R3c2a3b6964614b3c" /><Relationship Type="http://schemas.openxmlformats.org/officeDocument/2006/relationships/officeDocument" Target="/ppt/presentation.xml" Id="R32c2718f41e04b9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caa4a104870405c"/>
  </p:sldMasterIdLst>
  <p:notesMasterIdLst>
    <p:notesMasterId xmlns:r="http://schemas.openxmlformats.org/officeDocument/2006/relationships" r:id="R7b50ddca5c8f4677"/>
  </p:notesMasterIdLst>
  <p:sldIdLst>
    <p:sldId xmlns:r="http://schemas.openxmlformats.org/officeDocument/2006/relationships" id="256" r:id="R96d343395224486d"/>
    <p:sldId xmlns:r="http://schemas.openxmlformats.org/officeDocument/2006/relationships" id="257" r:id="R17a48e1140844e02"/>
    <p:sldId xmlns:r="http://schemas.openxmlformats.org/officeDocument/2006/relationships" id="258" r:id="R10d8e63c33e44b8c"/>
    <p:sldId xmlns:r="http://schemas.openxmlformats.org/officeDocument/2006/relationships" id="259" r:id="R574db378537a485f"/>
    <p:sldId xmlns:r="http://schemas.openxmlformats.org/officeDocument/2006/relationships" id="260" r:id="Rbaf493ee36634475"/>
    <p:sldId xmlns:r="http://schemas.openxmlformats.org/officeDocument/2006/relationships" id="261" r:id="R08a43c6207e849f1"/>
    <p:sldId xmlns:r="http://schemas.openxmlformats.org/officeDocument/2006/relationships" id="262" r:id="R5b065fb450da4eba"/>
    <p:sldId xmlns:r="http://schemas.openxmlformats.org/officeDocument/2006/relationships" id="263" r:id="R7ab78f77ee814abf"/>
    <p:sldId xmlns:r="http://schemas.openxmlformats.org/officeDocument/2006/relationships" id="264" r:id="R6f559a204ec94307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54b3d69192344db" /><Relationship Type="http://schemas.openxmlformats.org/officeDocument/2006/relationships/slideMaster" Target="/ppt/slideMasters/slideMaster1.xml" Id="R1caa4a104870405c" /><Relationship Type="http://schemas.openxmlformats.org/officeDocument/2006/relationships/notesMaster" Target="/ppt/notesMasters/notesMaster1.xml" Id="R7b50ddca5c8f4677" /><Relationship Type="http://schemas.openxmlformats.org/officeDocument/2006/relationships/presProps" Target="/ppt/presProps.xml" Id="R19908298625e4ed6" /><Relationship Type="http://schemas.openxmlformats.org/officeDocument/2006/relationships/tableStyles" Target="/ppt/tableStyles.xml" Id="R356dd5f296694075" /><Relationship Type="http://schemas.openxmlformats.org/officeDocument/2006/relationships/slide" Target="/ppt/slides/slide1.xml" Id="R96d343395224486d" /><Relationship Type="http://schemas.openxmlformats.org/officeDocument/2006/relationships/slide" Target="/ppt/slides/slide2.xml" Id="R17a48e1140844e02" /><Relationship Type="http://schemas.openxmlformats.org/officeDocument/2006/relationships/slide" Target="/ppt/slides/slide3.xml" Id="R10d8e63c33e44b8c" /><Relationship Type="http://schemas.openxmlformats.org/officeDocument/2006/relationships/slide" Target="/ppt/slides/slide4.xml" Id="R574db378537a485f" /><Relationship Type="http://schemas.openxmlformats.org/officeDocument/2006/relationships/slide" Target="/ppt/slides/slide5.xml" Id="Rbaf493ee36634475" /><Relationship Type="http://schemas.openxmlformats.org/officeDocument/2006/relationships/slide" Target="/ppt/slides/slide6.xml" Id="R08a43c6207e849f1" /><Relationship Type="http://schemas.openxmlformats.org/officeDocument/2006/relationships/slide" Target="/ppt/slides/slide7.xml" Id="R5b065fb450da4eba" /><Relationship Type="http://schemas.openxmlformats.org/officeDocument/2006/relationships/slide" Target="/ppt/slides/slide8.xml" Id="R7ab78f77ee814abf" /><Relationship Type="http://schemas.openxmlformats.org/officeDocument/2006/relationships/slide" Target="/ppt/slides/slide9.xml" Id="R6f559a204ec94307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dc89da10cf64d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c11093b81764994" /><Relationship Type="http://schemas.openxmlformats.org/officeDocument/2006/relationships/notesMaster" Target="/ppt/notesMasters/notesMaster1.xml" Id="Rb58041cea163440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8f8e0f63461d4eb7" /><Relationship Type="http://schemas.openxmlformats.org/officeDocument/2006/relationships/notesMaster" Target="/ppt/notesMasters/notesMaster1.xml" Id="R6cc6bbdd16a843d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4d5db8412ea944f2" /><Relationship Type="http://schemas.openxmlformats.org/officeDocument/2006/relationships/notesMaster" Target="/ppt/notesMasters/notesMaster1.xml" Id="Ra3ea20875e5e49f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dc06f3dca7a4624" /><Relationship Type="http://schemas.openxmlformats.org/officeDocument/2006/relationships/notesMaster" Target="/ppt/notesMasters/notesMaster1.xml" Id="Rb6832efc1e344c7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5e5987b5a94d17" /><Relationship Type="http://schemas.openxmlformats.org/officeDocument/2006/relationships/notesMaster" Target="/ppt/notesMasters/notesMaster1.xml" Id="R8162ac861f894ed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71dc7af2a0e4f78" /><Relationship Type="http://schemas.openxmlformats.org/officeDocument/2006/relationships/notesMaster" Target="/ppt/notesMasters/notesMaster1.xml" Id="Re07e39df82fd443c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1acfa84d30c43f5" /><Relationship Type="http://schemas.openxmlformats.org/officeDocument/2006/relationships/notesMaster" Target="/ppt/notesMasters/notesMaster1.xml" Id="Rc2189c8893b04b4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3b8b9d532ae4952" /><Relationship Type="http://schemas.openxmlformats.org/officeDocument/2006/relationships/notesMaster" Target="/ppt/notesMasters/notesMaster1.xml" Id="R0f87801757f3443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95c3cf5bc0e41a2" /><Relationship Type="http://schemas.openxmlformats.org/officeDocument/2006/relationships/notesMaster" Target="/ppt/notesMasters/notesMaster1.xml" Id="Rd776534b844146f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3 min</a:t>
            </a:r>
          </a:p>
          <a:p xmlns:a="http://schemas.openxmlformats.org/drawingml/2006/main">
            <a:r>
              <a:t>Abra pela decisão prática: ninguém deve sair sem saber em qual trio está, quando apresenta e o que começa a preparar agora. O deck ocupa cerca de 45 minutos; reserve o restante para confirmar responsáveis e dúvidas.</a:t>
            </a:r>
          </a:p>
          <a:p xmlns:a="http://schemas.openxmlformats.org/drawingml/2006/main">
            <a:r>
              <a:t>Fontes do projeto: planejamento/fase-1-nivelamento-apresentacoes.md; planejamento/roadmap-benchmark-finetuning-2026-2027-resumo.md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 min</a:t>
            </a:r>
          </a:p>
          <a:p xmlns:a="http://schemas.openxmlformats.org/drawingml/2006/main">
            <a:r>
              <a:t>Apresente somente a estrutura atual. Evite reconstruir nomes antigos que não estão versionados no projeto. Reforce que estas quatro fases são a trilha operacional do subtime; o PDC institucional organiza o ano em três macroentregas. A sobreposição é intencional.</a:t>
            </a:r>
          </a:p>
          <a:p xmlns:a="http://schemas.openxmlformats.org/drawingml/2006/main">
            <a:r>
              <a:t>Fontes do projeto: planejamento/roadmap-benchmark-finetuning-2026-2027-resumo.md, seções 3–6; fontes/PDC_CEIA-UFG_2026-2027_final_assinado.pdf, plano de atividades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 min</a:t>
            </a:r>
          </a:p>
          <a:p xmlns:a="http://schemas.openxmlformats.org/drawingml/2006/main">
            <a:r>
              <a:t>Explique que o nivelamento não é uma sequência de aulas passivas. Cada ciclo precisa deixar algo observável e reaproveitável. Os papers são prospectados em paralelo e a passagem de fase depende do gate, não apenas do calendário.</a:t>
            </a:r>
          </a:p>
          <a:p xmlns:a="http://schemas.openxmlformats.org/drawingml/2006/main">
            <a:r>
              <a:t>Fontes do projeto: planejamento/fase-1-nivelamento-apresentacoes.md, seções 2, 4–6 e 12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5 min</a:t>
            </a:r>
          </a:p>
          <a:p xmlns:a="http://schemas.openxmlformats.org/drawingml/2006/main">
            <a:r>
              <a:t>Confirme a composição dos trios. A divisão interna entre pesquisa, artefato e narrativa fica a cargo do próprio trio, sem rotação obrigatória. Todos, porém, precisam dominar o conteúdo e participar da apresentação.</a:t>
            </a:r>
          </a:p>
          <a:p xmlns:a="http://schemas.openxmlformats.org/drawingml/2006/main">
            <a:r>
              <a:t>Fontes do projeto: planejamento/fase-1-nivelamento-apresentacoes.md, seções 1, 2 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9 min</a:t>
            </a:r>
          </a:p>
          <a:p xmlns:a="http://schemas.openxmlformats.org/drawingml/2006/main">
            <a:r>
              <a:t>Passe por toda a sequência, mas dê ênfase às duas primeiras semanas. O calendário define janelas, não dias exatos de reunião. Na trilha de papers, trate Regional TinyStories e BFCL como candidatos de partida já testados, não como decisão final antes do gate.</a:t>
            </a:r>
          </a:p>
          <a:p xmlns:a="http://schemas.openxmlformats.org/drawingml/2006/main">
            <a:r>
              <a:t>Fontes do projeto: planejamento/fase-1-nivelamento-apresentacoes.md, tabela da seção 2 e seção 4; planejamento/selecao-artigos-reproducao-inicial.md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 min</a:t>
            </a:r>
          </a:p>
          <a:p xmlns:a="http://schemas.openxmlformats.org/drawingml/2006/main">
            <a:r>
              <a:t>Aponte a liberdade de escolha do artefato: pode ser notebook, código, visualização, animação ou diagrama. O uso de IA é recomendado, desde que a equipe confira as fontes, entenda o material e consiga explicá-lo e modificá-lo.</a:t>
            </a:r>
          </a:p>
          <a:p xmlns:a="http://schemas.openxmlformats.org/drawingml/2006/main">
            <a:r>
              <a:t>Fontes do projeto: planejamento/fase-1-nivelamento-apresentacoes.md, seções 5, 7–11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7 min</a:t>
            </a:r>
          </a:p>
          <a:p xmlns:a="http://schemas.openxmlformats.org/drawingml/2006/main">
            <a:r>
              <a:t>Use esta semana apenas para demonstrar o padrão esperado. Não transforme o slide em uma aula de tokenização. O trio pode comparar PT-BR e inglês, mas isso é opcional. O essencial é que o grupo consiga acompanhar o fluxo completo e manipular o artefato.</a:t>
            </a:r>
          </a:p>
          <a:p xmlns:a="http://schemas.openxmlformats.org/drawingml/2006/main">
            <a:r>
              <a:t>Fontes do projeto: planejamento/fase-1-nivelamento-apresentacoes.md, Semana 1 e seção 7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6 min</a:t>
            </a:r>
          </a:p>
          <a:p xmlns:a="http://schemas.openxmlformats.org/drawingml/2006/main">
            <a:r>
              <a:t>O fluxo vale para cada apresentação. Lucca revisa, aprova e realiza o merge. Não explique Git Flow nem justifique o processo; apresente somente o procedimento. Avise que o link do repositório será confirmado após alinhamento com Brian.</a:t>
            </a:r>
          </a:p>
          <a:p xmlns:a="http://schemas.openxmlformats.org/drawingml/2006/main">
            <a:r>
              <a:t>Fontes do projeto: git-project/fase-1-nivelamento/README.md; git-project/fase-1-nivelamento/.github/pull_request_template.md; git-project/fase-1-nivelamento/.github/CODEOWNERS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Tempo sugerido: 8 min</a:t>
            </a:r>
          </a:p>
          <a:p xmlns:a="http://schemas.openxmlformats.org/drawingml/2006/main">
            <a:r>
              <a:t>Converta o plano em decisão. Registre, ainda na reunião, um responsável principal por pesquisa, artefato e narrativa em cada trio e o primeiro checkpoint. Feche confirmando que a responsabilidade continua coletiva e abra os minutos finais para dúvidas.</a:t>
            </a:r>
          </a:p>
          <a:p xmlns:a="http://schemas.openxmlformats.org/drawingml/2006/main">
            <a:r>
              <a:t>Fontes do projeto: planejamento/fase-1-nivelamento-apresentacoes.md, semanas 1–2 e seções 8–10; git-project/fase-1-nivelamento/README.md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10d1f8ec08842d9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65cef632ae0430f" /><Relationship Type="http://schemas.openxmlformats.org/officeDocument/2006/relationships/slideLayout" Target="/ppt/slideLayouts/slideLayout1.xml" Id="R405c0dc0555b4d3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05c0dc0555b4d3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62b6039d548430d" /><Relationship Type="http://schemas.openxmlformats.org/officeDocument/2006/relationships/notesSlide" Target="/ppt/notesSlides/notesSlide1.xml" Id="Rad6dde48739645e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8e87d8267b461e" /><Relationship Type="http://schemas.openxmlformats.org/officeDocument/2006/relationships/notesSlide" Target="/ppt/notesSlides/notesSlide2.xml" Id="R9a85851bfa95464d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fb69ca37145ab" /><Relationship Type="http://schemas.openxmlformats.org/officeDocument/2006/relationships/notesSlide" Target="/ppt/notesSlides/notesSlide3.xml" Id="Ref6f96b4d0fd4f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85ece1d30248be" /><Relationship Type="http://schemas.openxmlformats.org/officeDocument/2006/relationships/notesSlide" Target="/ppt/notesSlides/notesSlide4.xml" Id="R2c8902151abc4d3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bca47e91e04bbb" /><Relationship Type="http://schemas.openxmlformats.org/officeDocument/2006/relationships/notesSlide" Target="/ppt/notesSlides/notesSlide5.xml" Id="R71ec23f101204ec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4753fb4f949414f" /><Relationship Type="http://schemas.openxmlformats.org/officeDocument/2006/relationships/notesSlide" Target="/ppt/notesSlides/notesSlide6.xml" Id="R5746a3bca08f420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fd284a8b1143e2" /><Relationship Type="http://schemas.openxmlformats.org/officeDocument/2006/relationships/notesSlide" Target="/ppt/notesSlides/notesSlide7.xml" Id="Rf30743d1edcc446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dbe5db04ec4f1a" /><Relationship Type="http://schemas.openxmlformats.org/officeDocument/2006/relationships/notesSlide" Target="/ppt/notesSlides/notesSlide8.xml" Id="Rfe981139dd53434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afb707396f4be9" /><Relationship Type="http://schemas.openxmlformats.org/officeDocument/2006/relationships/notesSlide" Target="/ppt/notesSlides/notesSlide9.xml" Id="R1461c17e76b34ed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D4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4F2DEC-8E02-4F93-BFCF-949C85DA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3B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02B5617-64EC-4657-A913-08519D7A7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723900"/>
            <a:ext cx="4000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9D9D1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B9D9D1"/>
                </a:solidFill>
                <a:latin typeface="Avenir Next"/>
                <a:ea typeface="Avenir Next"/>
                <a:cs typeface="Avenir Next"/>
              </a:rPr>
              <a:t>PLANEJAMENTO DO TIME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0F6159E-033A-4490-B2D8-FC60B3962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352550"/>
            <a:ext cx="71437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1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1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Fase 1:</a:t>
            </a:r>
          </a:p>
          <a:p xmlns:a="http://schemas.openxmlformats.org/drawingml/2006/main">
            <a:pPr algn="l">
              <a:defRPr sz="51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51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nivelamento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E62B3D1-DF54-4944-ADED-043F1CDBD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276600"/>
            <a:ext cx="6286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DCEEE8"/>
                </a:solidFill>
                <a:latin typeface="Avenir Next"/>
                <a:ea typeface="Avenir Next"/>
                <a:cs typeface="Avenir Next"/>
              </a:defRPr>
            </a:pPr>
            <a:r>
              <a:rPr sz="2100" b="0" i="0">
                <a:solidFill>
                  <a:srgbClr val="DCEEE8"/>
                </a:solidFill>
                <a:latin typeface="Avenir Next"/>
                <a:ea typeface="Avenir Next"/>
                <a:cs typeface="Avenir Next"/>
              </a:rPr>
              <a:t>O plano das próximas oito semanas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1A417C1-BC72-4368-9DC9-22C4AE71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38600"/>
            <a:ext cx="8953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993B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E811F5F-BC5F-40BA-AAA3-26F118A35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333875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9DAD6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C9DAD6"/>
                </a:solidFill>
                <a:latin typeface="Avenir Next"/>
                <a:ea typeface="Avenir Next"/>
                <a:cs typeface="Avenir Next"/>
              </a:rPr>
              <a:t>10 de setembro de 2026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743DCE-D0EC-4BCB-83CF-AC4465B0E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047750"/>
            <a:ext cx="2381250" cy="1714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0650" b="1" i="0">
                <a:solidFill>
                  <a:srgbClr val="2B6C62"/>
                </a:solidFill>
                <a:latin typeface="Georgia"/>
                <a:ea typeface="Georgia"/>
                <a:cs typeface="Georgia"/>
              </a:defRPr>
            </a:pPr>
            <a:r>
              <a:rPr sz="10650" b="1" i="0">
                <a:solidFill>
                  <a:srgbClr val="2B6C62"/>
                </a:solidFill>
                <a:latin typeface="Georgia"/>
                <a:ea typeface="Georgia"/>
                <a:cs typeface="Georgia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9D946-7271-4198-837F-4EB3F6A0D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63050" y="27717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2325" b="0" i="0">
                <a:solidFill>
                  <a:srgbClr val="8FC5B9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8FC5B9"/>
                </a:solidFill>
                <a:latin typeface="Georgia"/>
                <a:ea typeface="Georgia"/>
                <a:cs typeface="Georgia"/>
              </a:rPr>
              <a:t>semanas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06C188E-CF60-4B00-90CB-0877062F9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743450"/>
            <a:ext cx="4191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Ao final da reunião: times, calendário, primeira entrega e fluxo de contribuição definidos.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42153AB-A0D8-44D7-A65C-FFA472397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9D1C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B9D1CB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A1C70-4C7C-43E4-84B2-6C432621E8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B9D1C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9D1CB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47585346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93EAF4-87C2-4392-89EA-98CF007DD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8B606E-B501-458E-B378-2407432C51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DF75A1-C440-45E7-A52E-6080F5700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Nossa trilha de trabalho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37A79D0-2D7C-479E-8EC9-749A60E94C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A nomenclatura mudou. Os objetivos e a progressão experimental permanecem.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197CF42-7DEB-42E5-A379-44A54296D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57350"/>
            <a:ext cx="2686050" cy="32575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155F55"/>
          </a:solidFill>
          <a:ln xmlns:a="http://schemas.openxmlformats.org/drawingml/2006/main" w="9525">
            <a:solidFill>
              <a:srgbClr val="155F55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143B3C-D5A4-4F00-93B5-F590FAE7A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51188-CDA5-4CDB-9875-B1FF393C1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384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CBE2DC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CBE2DC"/>
                </a:solidFill>
                <a:latin typeface="Avenir Next"/>
                <a:ea typeface="Avenir Next"/>
                <a:cs typeface="Avenir Next"/>
              </a:rPr>
              <a:t>10 SET. – 6 NOV. 2026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89BB09-ADA5-428D-846B-752070900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95600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Nivelamento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B2485-16B2-42F2-A703-7B0069AE7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94335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ECF6F3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ECF6F3"/>
                </a:solidFill>
                <a:latin typeface="Avenir Next"/>
                <a:ea typeface="Avenir Next"/>
                <a:cs typeface="Avenir Next"/>
              </a:rPr>
              <a:t>Base comum, apresentações e primeiros artefatos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F03998-BCEC-44A1-A1F5-471CBA3E50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1850" y="1657350"/>
            <a:ext cx="2686050" cy="32575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7EFF3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E1913D-9873-44D5-8B0E-1D848E794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4B7895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4B7895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8FC9F13-B40A-427E-B7EE-16CDDAB1D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4384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4B7895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4B7895"/>
                </a:solidFill>
                <a:latin typeface="Avenir Next"/>
                <a:ea typeface="Avenir Next"/>
                <a:cs typeface="Avenir Next"/>
              </a:rPr>
              <a:t>NOV. 2026 – FEV. 2027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AAE2A5-278A-48AA-83A2-388665225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2895600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Reprodução</a:t>
            </a:r>
          </a:p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de papers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64669C-C8A6-48CF-9127-5AFF0546B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394335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Reproduções críticas e base de evidências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38DC0EE-2FA1-4541-87F4-FD1AC39A5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1657350"/>
            <a:ext cx="2686050" cy="32575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F5E4DE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E5E1242-699F-40B9-A20C-7A2F9F027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D96F53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D96F53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239A8D-615E-45BD-9C5F-4B0C98216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4384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D96F53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D96F53"/>
                </a:solidFill>
                <a:latin typeface="Avenir Next"/>
                <a:ea typeface="Avenir Next"/>
                <a:cs typeface="Avenir Next"/>
              </a:rPr>
              <a:t>MAR. – JUN. 2027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0B09327-E679-46CF-AF44-A7EE51137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895600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Plataforma</a:t>
            </a:r>
          </a:p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experimental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368574-B53C-4118-9A91-38E7CF9F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94335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Harness, pipelines e integração agêntica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050457E-9C48-442A-84F3-3B3FE8393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1657350"/>
            <a:ext cx="2686050" cy="3257550"/>
          </a:xfrm>
          <a:prstGeom xmlns:a="http://schemas.openxmlformats.org/drawingml/2006/main" prst="roundRect">
            <a:avLst>
              <a:gd name="adj" fmla="val 6383"/>
            </a:avLst>
          </a:prstGeom>
          <a:solidFill xmlns:a="http://schemas.openxmlformats.org/drawingml/2006/main">
            <a:srgbClr val="ECE7F2"/>
          </a:solidFill>
          <a:ln xmlns:a="http://schemas.openxmlformats.org/drawingml/2006/main" w="9525">
            <a:solidFill>
              <a:srgbClr val="D8DDD6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F0FCC89-5CA6-435A-BBFC-2A6E22B560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1847850"/>
            <a:ext cx="5905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300" b="1" i="0">
                <a:solidFill>
                  <a:srgbClr val="755F9B"/>
                </a:solidFill>
                <a:latin typeface="Georgia"/>
                <a:ea typeface="Georgia"/>
                <a:cs typeface="Georgia"/>
              </a:defRPr>
            </a:pPr>
            <a:r>
              <a:rPr sz="3300" b="1" i="0">
                <a:solidFill>
                  <a:srgbClr val="755F9B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A556355-3252-425F-B29D-5DCE1CA9C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438400"/>
            <a:ext cx="2228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050" b="1" i="0">
                <a:solidFill>
                  <a:srgbClr val="755F9B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755F9B"/>
                </a:solidFill>
                <a:latin typeface="Avenir Next"/>
                <a:ea typeface="Avenir Next"/>
                <a:cs typeface="Avenir Next"/>
              </a:rPr>
              <a:t>JUL. – AGO. 2027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BD998E-B468-43C3-9614-C966DF549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2895600"/>
            <a:ext cx="22288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Consolidação e</a:t>
            </a:r>
          </a:p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validação final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286C40F-AC42-4736-A4BD-C5D6E94B45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3943350"/>
            <a:ext cx="222885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Reexecução, TRL 4, documentação e artigo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723263C-F391-4BE1-975B-1548A4845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076825"/>
            <a:ext cx="8572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Fase atual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461DEE-F739-4010-9B23-ED74B48D1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5048250"/>
            <a:ext cx="9572625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A reprodução começa a ser preparada durante o nivelamento. Os componentes da plataforma começam a nascer nas reproduções.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D6114-4336-422C-B3EA-89AA73280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912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84EDD90-6DD3-4090-9F47-841C80B93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10668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1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1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A trilha operacional do nosso time se mantém alinhada ao PDC e às entregas institucionais em TRL 4.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C9A33D3-B93C-41DD-8D1C-5C352F7EA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BC6AB53-F02C-492A-8300-330FB5C80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41002466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E9653E3-784A-4554-9F9D-BAE9C0EBFD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C8B9798-C7A9-4FE0-BB5C-1CFADAA4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B01A10-C367-40DC-9B9D-645050F34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O que acontece na Fase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8476A0-CE78-4403-A8A5-D213C7AB4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Nivelamento combina estudo, ensino entre pares e evidência prática.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79A880-4B28-4001-9C41-E265B5B64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2495550"/>
            <a:ext cx="9620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F163F9-FC33-423B-A522-A9BF2666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812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FFFDF8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214A8F-C1EA-4444-AC04-2B5A6CC44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8F3ECEB-4990-44C1-A43A-DFBCF0E2C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Estudar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29E113-18AB-4B80-8BC5-977F9DD9E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814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Fontes confiáveis e</a:t>
            </a:r>
          </a:p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pelo menos uma primária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17BB1C-7C21-4274-BB6A-C023A81DD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1812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95"/>
          </a:solidFill>
          <a:ln xmlns:a="http://schemas.openxmlformats.org/drawingml/2006/main" w="38100">
            <a:solidFill>
              <a:srgbClr val="FFFDF8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4EF87A3-0617-4337-AC55-4BFB8A3B6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828368-AAFC-4C3C-A27F-7C04A8C5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81375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Explicar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CD9830-4F60-4CDF-B706-2BC7BCBF3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5814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Narrativa didática que</a:t>
            </a:r>
          </a:p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todos consigam reconstruir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D13B313-BA39-4778-8FFE-06E6013DD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1812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6F53"/>
          </a:solidFill>
          <a:ln xmlns:a="http://schemas.openxmlformats.org/drawingml/2006/main" w="38100">
            <a:solidFill>
              <a:srgbClr val="FFFDF8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DB3433-7B62-49A3-8F1A-116A75DB8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B7DCAD-7598-4C1F-BBD6-9F9083F9BA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0775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Explorar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447F4E5-4AC2-4788-9608-071FB5690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5814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Exemplo, notebook, código,</a:t>
            </a:r>
          </a:p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diagrama ou demonstração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29B41-A8A3-402C-A555-25DE3B722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181225"/>
            <a:ext cx="666750" cy="666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3B"/>
          </a:solidFill>
          <a:ln xmlns:a="http://schemas.openxmlformats.org/drawingml/2006/main" w="38100">
            <a:solidFill>
              <a:srgbClr val="FFFDF8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E8DBAD-469E-411C-A042-0F26AB781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343150"/>
            <a:ext cx="66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E5E0FD9-B320-4B67-8285-4CCD41017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3105150"/>
            <a:ext cx="1333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17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Registrar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ABB31BF-953B-41CD-A9C4-E488C3152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0002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Slides, referências, artefato</a:t>
            </a:r>
          </a:p>
          <a:p xmlns:a="http://schemas.openxmlformats.org/drawingml/2006/main">
            <a:pPr algn="ctr">
              <a:def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e radar de papers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CA0974-9438-4ABB-BBF7-DFD013BFC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72025"/>
            <a:ext cx="10972800" cy="1238250"/>
          </a:xfrm>
          <a:prstGeom xmlns:a="http://schemas.openxmlformats.org/drawingml/2006/main" prst="roundRect">
            <a:avLst>
              <a:gd name="adj" fmla="val 12308"/>
            </a:avLst>
          </a:prstGeom>
          <a:solidFill xmlns:a="http://schemas.openxmlformats.org/drawingml/2006/main">
            <a:srgbClr val="0D453F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0C21EB-54D2-46D0-A35A-141D75BD7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9911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rPr>
              <a:t>Gate da Fase 1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A2E6F5-DADC-4073-B835-D02BD873F4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10200"/>
            <a:ext cx="2381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8 apresentações acessíveis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5DC4C4B-1EAA-4F9E-A278-0A5383A03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2825" y="5410200"/>
            <a:ext cx="300037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base conceitual compartilhada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44CE8D4-1776-45BB-812D-22E8C09D2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72275" y="5410200"/>
            <a:ext cx="333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papers finalistas com recorte e custo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FE14EA1-D168-47E2-BBAB-0208477FB1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0" y="5257800"/>
            <a:ext cx="1285875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primeira evidência de execução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11999A9-C1B6-4E64-8D7F-84475F4EF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E6EB3D-FEBA-4F7A-81E9-5189B8AA5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5422742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D649395-8B6B-414C-84DE-B78D6ED9D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5A4F77-0208-4983-81D4-4599C26D19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03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1232B2-5D04-4169-9C9A-D3596000F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Dois trios, uma base comum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BE089A2-0D4C-4AB8-9E41-F9D382255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Todos estudam os oito temas. O trio responsável transforma o estudo em ensino para o grupo.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0BB3013-B008-4792-A3DD-58769842A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52578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0D453F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85594D-0FE6-4435-ACB1-0D822DCB3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097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9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SEMANAS 1, 3, 5 E 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D49A98-1FC5-495D-802A-8EDE6119A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33625"/>
            <a:ext cx="4000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8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Treinamento e</a:t>
            </a:r>
          </a:p>
          <a:p xmlns:a="http://schemas.openxmlformats.org/drawingml/2006/main">
            <a:pPr algn="l">
              <a:defRPr sz="285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85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fine-tuning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485F9D2-BF79-47CF-B0A1-0DCDD9E47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480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rPr>
              <a:t>Gabriel</a:t>
            </a:r>
          </a:p>
          <a:p xmlns:a="http://schemas.openxmlformats.org/drawingml/2006/main">
            <a:pPr algn="l">
              <a:defRPr sz="202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rPr>
              <a:t>Jolie</a:t>
            </a:r>
          </a:p>
          <a:p xmlns:a="http://schemas.openxmlformats.org/drawingml/2006/main">
            <a:pPr algn="l">
              <a:defRPr sz="202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rPr>
              <a:t>Mateus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52BB68-80C2-43BA-8794-DB4728EA6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486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rPr>
              <a:t>Missão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01FEACE-2669-4894-93EA-FF08E9AAF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3800475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Explicar como o modelo aprende e é adaptado, avaliando se o treinamento produziu uma mudança real.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4A82497-BC25-496A-90E7-59120B52D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1562100"/>
            <a:ext cx="5257800" cy="3619500"/>
          </a:xfrm>
          <a:prstGeom xmlns:a="http://schemas.openxmlformats.org/drawingml/2006/main" prst="roundRect">
            <a:avLst>
              <a:gd name="adj" fmla="val 4737"/>
            </a:avLst>
          </a:prstGeom>
          <a:solidFill xmlns:a="http://schemas.openxmlformats.org/drawingml/2006/main">
            <a:srgbClr val="263F4D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F3BF12-7DF3-464D-8C40-8C7C8D7E97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1809750"/>
            <a:ext cx="209550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AB7D2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SEMANAS 2, 4, 6 E 8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4A525F-56AF-4C35-8219-1C085B3E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333625"/>
            <a:ext cx="4429125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Benchmarks e</a:t>
            </a:r>
          </a:p>
          <a:p xmlns:a="http://schemas.openxmlformats.org/drawingml/2006/main">
            <a:pPr algn="l">
              <a:defRPr sz="262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62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comportamento agêntico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E4A2C5-5183-4356-9209-60EFAF0E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448050"/>
            <a:ext cx="20955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D9E8F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D9E8F0"/>
                </a:solidFill>
                <a:latin typeface="Avenir Next"/>
                <a:ea typeface="Avenir Next"/>
                <a:cs typeface="Avenir Next"/>
              </a:rPr>
              <a:t>Ana</a:t>
            </a:r>
          </a:p>
          <a:p xmlns:a="http://schemas.openxmlformats.org/drawingml/2006/main">
            <a:pPr algn="l">
              <a:defRPr sz="2025" b="1" i="0">
                <a:solidFill>
                  <a:srgbClr val="D9E8F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D9E8F0"/>
                </a:solidFill>
                <a:latin typeface="Avenir Next"/>
                <a:ea typeface="Avenir Next"/>
                <a:cs typeface="Avenir Next"/>
              </a:rPr>
              <a:t>Elisa</a:t>
            </a:r>
          </a:p>
          <a:p xmlns:a="http://schemas.openxmlformats.org/drawingml/2006/main">
            <a:pPr algn="l">
              <a:defRPr sz="2025" b="1" i="0">
                <a:solidFill>
                  <a:srgbClr val="D9E8F0"/>
                </a:solidFill>
                <a:latin typeface="Avenir Next"/>
                <a:ea typeface="Avenir Next"/>
                <a:cs typeface="Avenir Next"/>
              </a:defRPr>
            </a:pPr>
            <a:r>
              <a:rPr sz="2025" b="1" i="0">
                <a:solidFill>
                  <a:srgbClr val="D9E8F0"/>
                </a:solidFill>
                <a:latin typeface="Avenir Next"/>
                <a:ea typeface="Avenir Next"/>
                <a:cs typeface="Avenir Next"/>
              </a:rPr>
              <a:t>Henrique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874915-059F-435D-8E95-49691539B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486150"/>
            <a:ext cx="762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9ECBE3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9ECBE3"/>
                </a:solidFill>
                <a:latin typeface="Avenir Next"/>
                <a:ea typeface="Avenir Next"/>
                <a:cs typeface="Avenir Next"/>
              </a:rPr>
              <a:t>Missão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9438CD1-D78F-4A08-B7DD-6139FB29E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00475"/>
            <a:ext cx="226695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Transformar capacidades em tarefas, métricas e evidências, avançando até tool-calling.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1A8E5A-0908-478A-B42F-DD227D928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5543550"/>
            <a:ext cx="8953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950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1950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A alternância deixa aproximadamente duas semanas entre as apresentações de cada trio.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4F548CD-07F3-4107-BFE6-F4234862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39AEB14-BF29-4E72-B943-8EF2FBAC0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64848293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DF9ABC7-FD22-4F1E-BF7D-04615EDD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E85033-2781-4D05-82B4-61551FA8FA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04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30AA79-4516-413F-A9D1-61BA776B8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Calendário das oito semanas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BB768A-5B5D-4EBC-9745-C5F200D9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Uma apresentação por semana, alternando os dois trios.</a:t>
            </a:r>
          </a:p>
        </p:txBody>
      </p:sp>
      <p:graphicFrame>
        <p:nvGraphicFramePr>
          <p:cNvPr id="15" name=""/>
          <p:cNvGraphicFramePr/>
          <p:nvPr/>
        </p:nvGraphicFramePr>
        <p:xfrm>
          <a:off xmlns:a="http://schemas.openxmlformats.org/drawingml/2006/main" x="609600" y="1428750"/>
          <a:ext xmlns:a="http://schemas.openxmlformats.org/drawingml/2006/main" cx="10972800" cy="4095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76300"/>
                <a:gridCol w="1714500"/>
                <a:gridCol w="1866900"/>
                <a:gridCol w="6515100"/>
              </a:tblGrid>
              <a:tr h="455083"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Semana</a:t>
                      </a:r>
                    </a:p>
                  </a:txBody>
                  <a:tcPr marL="114300" marR="114300" marT="66675" marB="66675" anchor="ctr">
                    <a:solidFill>
                      <a:srgbClr val="0D4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Período</a:t>
                      </a:r>
                    </a:p>
                  </a:txBody>
                  <a:tcPr marL="114300" marR="114300" marT="66675" marB="66675" anchor="ctr">
                    <a:solidFill>
                      <a:srgbClr val="0D4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Trio</a:t>
                      </a:r>
                    </a:p>
                  </a:txBody>
                  <a:tcPr marL="114300" marR="114300" marT="66675" marB="66675" anchor="ctr">
                    <a:solidFill>
                      <a:srgbClr val="0D453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75" b="1">
                          <a:solidFill>
                            <a:srgbClr val="FFFFFF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Tema</a:t>
                      </a:r>
                    </a:p>
                  </a:txBody>
                  <a:tcPr marL="114300" marR="114300" marT="66675" marB="66675" anchor="ctr">
                    <a:solidFill>
                      <a:srgbClr val="0D453F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</a:t>
                      </a:r>
                    </a:p>
                  </a:txBody>
                  <a:tcPr marL="114300" marR="114300" marT="66675" marB="66675" anchor="ctr">
                    <a:solidFill>
                      <a:srgbClr val="DC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14–18/09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Treinamento</a:t>
                      </a:r>
                    </a:p>
                  </a:txBody>
                  <a:tcPr marL="114300" marR="114300" marT="66675" marB="66675" anchor="ctr"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Do texto à previsão do próximo token</a:t>
                      </a:r>
                    </a:p>
                  </a:txBody>
                  <a:tcPr marL="114300" marR="114300" marT="66675" marB="66675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21–25/09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Benchmarks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Como um LLM gera respostas e segue instruções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3</a:t>
                      </a:r>
                    </a:p>
                  </a:txBody>
                  <a:tcPr marL="114300" marR="114300" marT="66675" marB="66675" anchor="ctr">
                    <a:solidFill>
                      <a:srgbClr val="DC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28/09–02/10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Treinamento</a:t>
                      </a:r>
                    </a:p>
                  </a:txBody>
                  <a:tcPr marL="114300" marR="114300" marT="66675" marB="66675" anchor="ctr"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Como um modelo aprende no pretraining</a:t>
                      </a:r>
                    </a:p>
                  </a:txBody>
                  <a:tcPr marL="114300" marR="114300" marT="66675" marB="66675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4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05–09/10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Benchmarks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Fundamentos de avaliação de modelos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5</a:t>
                      </a:r>
                    </a:p>
                  </a:txBody>
                  <a:tcPr marL="114300" marR="114300" marT="66675" marB="66675" anchor="ctr">
                    <a:solidFill>
                      <a:srgbClr val="DC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12–16/10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Treinamento</a:t>
                      </a:r>
                    </a:p>
                  </a:txBody>
                  <a:tcPr marL="114300" marR="114300" marT="66675" marB="66675" anchor="ctr"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SFT e instruction tuning</a:t>
                      </a:r>
                    </a:p>
                  </a:txBody>
                  <a:tcPr marL="114300" marR="114300" marT="66675" marB="66675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6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19–23/10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Benchmarks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Desenho experimental e reprodutibilidade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7</a:t>
                      </a:r>
                    </a:p>
                  </a:txBody>
                  <a:tcPr marL="114300" marR="114300" marT="66675" marB="66675" anchor="ctr">
                    <a:solidFill>
                      <a:srgbClr val="DCEEE8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26–30/10</a:t>
                      </a:r>
                    </a:p>
                  </a:txBody>
                  <a:tcPr marL="114300" marR="114300" marT="66675" marB="66675" anchor="ctr"/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155F5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Treinamento</a:t>
                      </a:r>
                    </a:p>
                  </a:txBody>
                  <a:tcPr marL="114300" marR="114300" marT="66675" marB="66675" anchor="ctr">
                    <a:solidFill>
                      <a:srgbClr val="EDF6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PEFT, LoRA e QLoRA</a:t>
                      </a:r>
                    </a:p>
                  </a:txBody>
                  <a:tcPr marL="114300" marR="114300" marT="66675" marB="66675" anchor="ctr"/>
                </a:tc>
              </a:tr>
              <a:tr h="455083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8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02–06/11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4B7895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Benchmarks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>
                          <a:solidFill>
                            <a:srgbClr val="152926"/>
                          </a:solidFill>
                          <a:latin typeface="Avenir Next"/>
                          <a:ea typeface="Avenir Next"/>
                          <a:cs typeface="Avenir Next"/>
                        </a:rPr>
                        <a:t>Tool-calling e benchmarks agênticos</a:t>
                      </a:r>
                    </a:p>
                  </a:txBody>
                  <a:tcPr marL="114300" marR="114300" marT="66675" marB="66675" anchor="ctr">
                    <a:solidFill>
                      <a:srgbClr val="FBFAF6"/>
                    </a:solidFill>
                  </a:tcPr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294862-3A3D-4276-AFC0-E7C496C6D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72150"/>
            <a:ext cx="10972800" cy="41910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F6E8C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75C272-A22B-4FBC-89D6-AE4DE4D31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867400"/>
            <a:ext cx="17621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6E4E1E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6E4E1E"/>
                </a:solidFill>
                <a:latin typeface="Avenir Next"/>
                <a:ea typeface="Avenir Next"/>
                <a:cs typeface="Avenir Next"/>
              </a:rPr>
              <a:t>Papers em paralelo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F383E35-2490-41EF-B51B-623C1550A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5848350"/>
            <a:ext cx="862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6E4E1E"/>
                </a:solidFill>
                <a:latin typeface="Avenir Next"/>
                <a:ea typeface="Avenir Next"/>
                <a:cs typeface="Avenir Next"/>
              </a:defRPr>
            </a:pPr>
            <a:r>
              <a:rPr sz="1200" b="0" i="0">
                <a:solidFill>
                  <a:srgbClr val="6E4E1E"/>
                </a:solidFill>
                <a:latin typeface="Avenir Next"/>
                <a:ea typeface="Avenir Next"/>
                <a:cs typeface="Avenir Next"/>
              </a:rPr>
              <a:t>S2: primeiros candidatos   S4: lista inicial   S6: triagem de viabilidade   S8: principal + alternativa por frente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A665B24-BD7A-4492-956C-BC60F2F50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3CC77D8-BD8A-4A25-8B5A-B43200556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425871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925940-AFF3-4A57-AC44-5EB44EFDA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01F47E3-EFCA-4B9B-B76A-C1BF057EE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05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3C94B0-10C0-4E4F-9659-D9C1FD920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Formato de cada apresentação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45E86-3988-4DE0-9A92-0F3004F87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Há liberdade na forma. O compromisso é tornar o conteúdo claro, verificável e reaproveitável.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C749CD-DA3E-4D0C-8DF8-F3B4C4432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619250"/>
            <a:ext cx="14287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155F55"/>
                </a:solidFill>
                <a:latin typeface="Georgia"/>
                <a:ea typeface="Georgia"/>
                <a:cs typeface="Georgia"/>
              </a:defRPr>
            </a:pPr>
            <a:r>
              <a:rPr sz="5700" b="1" i="0">
                <a:solidFill>
                  <a:srgbClr val="155F55"/>
                </a:solidFill>
                <a:latin typeface="Georgia"/>
                <a:ea typeface="Georgia"/>
                <a:cs typeface="Georgia"/>
              </a:rPr>
              <a:t>50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6DD2B40-E759-4AC4-BE92-20EE9E432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000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min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DE808-06CA-4B97-B6D1-7652F4ED9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543175"/>
            <a:ext cx="1714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apresentação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E66B60-4EE2-4E43-88A0-E959696DC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1752600"/>
            <a:ext cx="19050" cy="1047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76465B-B949-465E-97FA-82467941BF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619250"/>
            <a:ext cx="13525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5700" b="1" i="0">
                <a:solidFill>
                  <a:srgbClr val="4B7895"/>
                </a:solidFill>
                <a:latin typeface="Georgia"/>
                <a:ea typeface="Georgia"/>
                <a:cs typeface="Georgia"/>
              </a:defRPr>
            </a:pPr>
            <a:r>
              <a:rPr sz="5700" b="1" i="0">
                <a:solidFill>
                  <a:srgbClr val="4B7895"/>
                </a:solidFill>
                <a:latin typeface="Georgia"/>
                <a:ea typeface="Georgia"/>
                <a:cs typeface="Georgia"/>
              </a:rPr>
              <a:t>10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BF0F78E-DF10-41B1-9D20-8B8D55C8C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000250"/>
            <a:ext cx="523875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4B7895"/>
                </a:solidFill>
                <a:latin typeface="Avenir Next"/>
                <a:ea typeface="Avenir Next"/>
                <a:cs typeface="Avenir Next"/>
              </a:defRPr>
            </a:pPr>
            <a:r>
              <a:rPr sz="1650" b="1" i="0">
                <a:solidFill>
                  <a:srgbClr val="4B7895"/>
                </a:solidFill>
                <a:latin typeface="Avenir Next"/>
                <a:ea typeface="Avenir Next"/>
                <a:cs typeface="Avenir Next"/>
              </a:rPr>
              <a:t>min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20564-AD8A-4249-B5B5-F98363F27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543175"/>
            <a:ext cx="1428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perguntas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93F078-010E-459B-8852-5ABF77F47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1581150"/>
            <a:ext cx="285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3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Pacote de entrega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8B2F1E5-3B06-4D61-ACBC-618B473FE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0200" y="2114550"/>
            <a:ext cx="5810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Slideshow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Fontes, com uma fonte primária quando aplicável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Um artefato didático adequado ao tema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7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Atualização breve do radar de papers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E6E4A4B-F470-42FE-8F26-1744E7CCA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790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7D9F93-896C-4A56-83CB-CB941AC88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7FB4A2-806C-48DD-B80B-E53F306E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419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63D420-C41D-4303-83C7-9CFA784BD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149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Pergunta e</a:t>
            </a:r>
          </a:p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motivação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E834EF-03A3-4286-837E-FE28DA39E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524375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DBFFF-52D7-4886-AF29-CB32E2A655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58DA970-F6F4-43BA-84EF-90E1549B0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4419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5A81145-3104-4F08-A3D3-64745A989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9149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Intuição e</a:t>
            </a:r>
          </a:p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mapa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94FA7CF-C5D6-4873-A568-49E335F26F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4524375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6A2CDE-49FD-46CD-9372-FF3CBD194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BC68F85-B6EC-4DB1-8E19-FAA6F3B56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19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3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49A4B-BD1E-4AE9-B726-A3B806795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Explicação</a:t>
            </a:r>
          </a:p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técnica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93E3178-B512-4BD8-8C29-F8DBC68FA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38700" y="4524375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C3EF347-1C69-4F38-B4C4-B36A14087D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95"/>
          </a:solidFill>
          <a:ln xmlns:a="http://schemas.openxmlformats.org/drawingml/2006/main" w="0">
            <a:noFill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F2D5F44-46BF-436D-BBE0-58D524246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419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4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4894EF3-A43A-4795-81D3-4645DEC649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1700" y="49149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Visualização</a:t>
            </a:r>
          </a:p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e artefato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A7494D-3E75-4BEE-8272-64D6EE27A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8450" y="4524375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55C4A62-B7A2-4C50-8874-94EA0C41F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95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FB2A48F-9EF0-40EF-A197-9591C5D4F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4419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A48D6F8-9491-4FF2-A418-AC010B981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91450" y="49149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Literatura</a:t>
            </a:r>
          </a:p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e projeto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8006D7A-198D-47FE-A667-A6A8BDB0B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524375"/>
            <a:ext cx="1000125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D6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E821AB8-54F3-4DE4-BCFC-D663B19A7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305300"/>
            <a:ext cx="457200" cy="457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B7895"/>
          </a:solidFill>
          <a:ln xmlns:a="http://schemas.openxmlformats.org/drawingml/2006/main" w="0">
            <a:noFill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4EDB990-D2A0-4C1E-9724-361414D6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44196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20C192A4-4C90-40BA-BC6C-805EFB0B53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914900"/>
            <a:ext cx="14097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Síntese e</a:t>
            </a:r>
          </a:p>
          <a:p xmlns:a="http://schemas.openxmlformats.org/drawingml/2006/main">
            <a:pPr algn="l">
              <a:def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limites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7506A6A8-CB6B-43AB-B33A-21EFB7E35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876925"/>
            <a:ext cx="104394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O trio que não apresenta revisa: cada integrante chega com uma pergunta de compreensão e uma sobre implicações experimentais.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9B8E91D-60E7-43BB-B9E4-427466EF9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0712144C-9D40-4162-AFFC-206CE10B6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62544710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D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6B2E77D-DFC4-4229-8788-5F19710DB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145CEC-4D02-44B3-9623-6D413614A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06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12560BA-5148-4317-99B3-183ED02F9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Exemplo de entrega: Semana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48711B-9719-491D-A7EC-0CB02E634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Do texto à previsão do próximo token, por Gabriel, Jolie e Mateus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FAE85D-CDED-456F-89C6-9321F3665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Pergunta orientadora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651997D-1E62-4BD1-92D1-ACEC017F0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66900"/>
            <a:ext cx="62865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7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47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Como uma frase se transforma nos números processados por um LLM e volta a ser texto?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505A02-C818-4F1E-9122-311D30DDD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86100"/>
            <a:ext cx="6610350" cy="2247900"/>
          </a:xfrm>
          <a:prstGeom xmlns:a="http://schemas.openxmlformats.org/drawingml/2006/main" prst="roundRect">
            <a:avLst>
              <a:gd name="adj" fmla="val 7627"/>
            </a:avLst>
          </a:prstGeom>
          <a:solidFill xmlns:a="http://schemas.openxmlformats.org/drawingml/2006/main">
            <a:srgbClr val="DCEEE8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15D1F4-0EE4-4FFE-BD96-15764AC0A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324225"/>
            <a:ext cx="3714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100" b="0" i="0">
                <a:solidFill>
                  <a:srgbClr val="0D453F"/>
                </a:solidFill>
                <a:latin typeface="Georgia"/>
                <a:ea typeface="Georgia"/>
                <a:cs typeface="Georgia"/>
              </a:defRPr>
            </a:pPr>
            <a:r>
              <a:rPr sz="2100" b="0" i="0">
                <a:solidFill>
                  <a:srgbClr val="0D453F"/>
                </a:solidFill>
                <a:latin typeface="Georgia"/>
                <a:ea typeface="Georgia"/>
                <a:cs typeface="Georgia"/>
              </a:rPr>
              <a:t>Uma frase atravessando o LLM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0BD407-105D-47AB-8F55-7D4F45CEB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000500"/>
            <a:ext cx="933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FC9C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60A3C0-C30E-44FD-91EA-6668C8FCBA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095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texto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B22632-23C7-4A4A-8708-4493D31DB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19275" y="42672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06D2864-0CE6-41EB-A3F1-FC3AE2A81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4000500"/>
            <a:ext cx="933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FC9C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718F732-646B-41D8-98A7-1EFD1BDB6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095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tokens + IDs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C4A46A0-8423-49BD-9733-DF4EED74E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28925" y="42672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0075754-3102-4FED-9113-D22F3BAAE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4000500"/>
            <a:ext cx="933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FC9C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49D778-6C3A-43C5-B1A3-3DEC3142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4095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embeddings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4D614B8-C951-434C-A369-266CCCB8B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575" y="42672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38B128A-1FC5-48C8-8F31-67E99E49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4000500"/>
            <a:ext cx="933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FC9C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1963366-E0E3-4107-ACE6-6A186FD69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4095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decoder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903FEB4-F42B-4524-B163-AA6A78C83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42672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A22B672-9465-41A7-AC40-1A93D840E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14900" y="4000500"/>
            <a:ext cx="933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FFFDF8"/>
          </a:solidFill>
          <a:ln xmlns:a="http://schemas.openxmlformats.org/drawingml/2006/main" w="9525">
            <a:solidFill>
              <a:srgbClr val="AFC9C2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74D3C9-675D-4C1F-96E6-39BF533F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095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logits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726381-AC57-4DCA-B76B-407EBABF8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7875" y="4267200"/>
            <a:ext cx="571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8E122C-F2C7-48CB-981A-160D69CD3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000500"/>
            <a:ext cx="933450" cy="552450"/>
          </a:xfrm>
          <a:prstGeom xmlns:a="http://schemas.openxmlformats.org/drawingml/2006/main" prst="roundRect">
            <a:avLst>
              <a:gd name="adj" fmla="val 17241"/>
            </a:avLst>
          </a:prstGeom>
          <a:solidFill xmlns:a="http://schemas.openxmlformats.org/drawingml/2006/main">
            <a:srgbClr val="155F55"/>
          </a:solidFill>
          <a:ln xmlns:a="http://schemas.openxmlformats.org/drawingml/2006/main" w="9525">
            <a:solidFill>
              <a:srgbClr val="155F55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AC241CA-FDA3-41B7-951B-A86DB1554C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095750"/>
            <a:ext cx="857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próximo token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BE92923-84BF-4CA1-9A43-EBA3B76A5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762500"/>
            <a:ext cx="6000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0D453F"/>
                </a:solidFill>
                <a:latin typeface="Avenir Next"/>
                <a:ea typeface="Avenir Next"/>
                <a:cs typeface="Avenir Next"/>
              </a:defRPr>
            </a:pPr>
            <a:r>
              <a:rPr sz="1275" b="0" i="0">
                <a:solidFill>
                  <a:srgbClr val="0D453F"/>
                </a:solidFill>
                <a:latin typeface="Avenir Next"/>
                <a:ea typeface="Avenir Next"/>
                <a:cs typeface="Avenir Next"/>
              </a:rPr>
              <a:t>Artefato sugerido: notebook ou visual que mostre tokenização de uma frase em PT-BR, IDs e os cinco próximos tokens mais prováveis.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279542-022B-48BF-82F9-F48EFEAC0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1581150"/>
            <a:ext cx="3429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250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250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O que torna a entrega boa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9F1B15B-2187-49E7-B46C-5E1E6AEB2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190750"/>
            <a:ext cx="3524250" cy="2076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Parte de uma pergunta clara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Explica a intuição antes dos detalhes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Torna o mecanismo observável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Conecta tokenização a custo, contexto e PT-BR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Declara simplificações e dúvidas abertas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DC54A7-9C6C-4F92-B684-58AEBF10E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53350" y="4638675"/>
            <a:ext cx="3543300" cy="6858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6E8CE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AD9EA22-9EAE-4F67-889C-104BE7F41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762500"/>
            <a:ext cx="31623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6E4E1E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6E4E1E"/>
                </a:solidFill>
                <a:latin typeface="Avenir Next"/>
                <a:ea typeface="Avenir Next"/>
                <a:cs typeface="Avenir Next"/>
              </a:rPr>
              <a:t>O exemplo não exige cobrir todos os tópicos: exige uma narrativa coerente e um artefato que ajude o grupo a entender.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9623399-85CF-4D60-9BA6-8B71E8464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045A99B-4D5A-426E-BF55-EA22903F7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65086444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D453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2D6FB79-AFAC-4A4A-8A0B-936D0DFBF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57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BAD3BDA-85D2-42E2-BF66-5F7E17FE8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61950"/>
            <a:ext cx="9334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Como os artefatos entram no GitHub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CB90B9B-B17C-49E0-BA44-B3BF46493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933450"/>
            <a:ext cx="8763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D1CB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B9D1CB"/>
                </a:solidFill>
                <a:latin typeface="Avenir Next"/>
                <a:ea typeface="Avenir Next"/>
                <a:cs typeface="Avenir Next"/>
              </a:rPr>
              <a:t>Repositório da Fase 1. Endereço e organização final a confirmar com Brian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783DFDD-19E3-4EF0-B452-017012216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743200"/>
            <a:ext cx="9886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8766F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D25B84-4B31-4F6B-8B5D-FAE98595E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EC23DC-34FA-4BCF-901B-AE9A2DD96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CAEA21B-06EE-46A1-8AB7-8C78B097C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Atualizar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main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72680A-71B3-44DA-A604-4E8CDDF2C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1B18E74-B58C-4EDA-AEAF-FFAD19D7B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6C431B3-A98F-46EA-BDE9-1E0DD2CDA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Criar branch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da semana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52F3CE7-60F5-4D12-9633-84D27E3A2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655BDA7-4A4F-411B-B141-3AD2967C6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6609967-0D3F-4BDC-8034-85555E47F1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Trabalhar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na pasta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527CDF3-3D4E-49FA-8C52-4194E7242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FFD7F6-527E-49A4-9DD8-1E0EF16A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4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7CC82-0B9B-43A8-8907-C35A66CF3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Commit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 push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CC23FE1-4348-4CBC-82D0-8E2E7D9A1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1EEDDDE-7B1E-4C28-A9FE-5B65162EC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5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A602E8E-E193-40B3-81CF-9F0CB45C02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Abrir PR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para main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5F0B483-63A4-44D7-8D9D-52736E2A0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09CC314-2B17-47D4-9837-C8514D911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DBA56BB-297E-40DE-80C5-DB5BEE9DF0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Ajustar na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mesma branch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203F74F-F083-4C83-9F80-FDD57F763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371725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9993B"/>
          </a:solidFill>
          <a:ln xmlns:a="http://schemas.openxmlformats.org/drawingml/2006/main" w="38100">
            <a:solidFill>
              <a:srgbClr val="0D453F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6770F3C-1AF4-4040-B955-0459C9D6B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571750"/>
            <a:ext cx="7810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2025" b="1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2025" b="1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7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727866B-B725-4CDC-8A25-D2F145895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63150" y="3371850"/>
            <a:ext cx="131445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Aprovação</a:t>
            </a:r>
          </a:p>
          <a:p xmlns:a="http://schemas.openxmlformats.org/drawingml/2006/main">
            <a:pPr algn="ctr">
              <a:def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e merge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B1BC97-EA30-4392-9C58-CBB81F28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457700"/>
            <a:ext cx="10972800" cy="1276350"/>
          </a:xfrm>
          <a:prstGeom xmlns:a="http://schemas.openxmlformats.org/drawingml/2006/main" prst="roundRect">
            <a:avLst>
              <a:gd name="adj" fmla="val 11940"/>
            </a:avLst>
          </a:prstGeom>
          <a:solidFill xmlns:a="http://schemas.openxmlformats.org/drawingml/2006/main">
            <a:srgbClr val="102F2B"/>
          </a:solidFill>
          <a:ln xmlns:a="http://schemas.openxmlformats.org/drawingml/2006/main" w="9525">
            <a:solidFill>
              <a:srgbClr val="3B665F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EC3AA52-A710-4F74-90CE-FF03D54F1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695825"/>
            <a:ext cx="16954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rPr>
              <a:t>Padrão da branch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06A60E-84AA-4208-AFDF-0819162D5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038725"/>
            <a:ext cx="319087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defRPr>
            </a:pPr>
            <a:r>
              <a:rPr sz="1575" b="1" i="0">
                <a:solidFill>
                  <a:srgbClr val="FFFFFF"/>
                </a:solidFill>
                <a:latin typeface="Courier New"/>
                <a:ea typeface="Courier New"/>
                <a:cs typeface="Courier New"/>
              </a:rPr>
              <a:t>nome/semana-NN-assunto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9DA0639-4951-4A3C-A230-0DAA74E77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4695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rPr>
              <a:t>No PR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4C8EDDA-665A-4FBE-A2D4-238614194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5038725"/>
            <a:ext cx="3333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35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descrever o material e como visualizar ou executar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14D6179-96C5-4B3B-85D1-C038A8B1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695825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defRPr>
            </a:pPr>
            <a:r>
              <a:rPr sz="1125" b="1" i="0">
                <a:solidFill>
                  <a:srgbClr val="8DE0CA"/>
                </a:solidFill>
                <a:latin typeface="Avenir Next"/>
                <a:ea typeface="Avenir Next"/>
                <a:cs typeface="Avenir Next"/>
              </a:rPr>
              <a:t>Regras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83547F6-B8AA-47C8-A1A6-7F916E5D7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5000625"/>
            <a:ext cx="2857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275" b="1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Sem commit direto na main. Sem tokens, senhas, datasets, modelos ou checkpoints grandes.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B78DB00-7963-4A0B-80CE-E46D3CD85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B9D1CB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B9D1CB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0E48439D-B832-4D52-ABB6-DD3C4CA8B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B9D1CB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B9D1CB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25850093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4ED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FBAF685-71B6-446E-A5D4-D0D5B4C0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0050"/>
            <a:ext cx="5715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BDB5AF-C130-41B9-B41B-A23D246BC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38150"/>
            <a:ext cx="495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155F55"/>
                </a:solidFill>
                <a:latin typeface="Avenir Next"/>
                <a:ea typeface="Avenir Next"/>
                <a:cs typeface="Avenir Next"/>
              </a:rPr>
              <a:t>08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ACB75C-BC59-4076-A550-261D3F9D8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3850"/>
            <a:ext cx="10144125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322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O trabalho começa nesta reunião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4949B23-AEF0-4EB4-A8B4-49BACE4CB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5350"/>
            <a:ext cx="9906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A próxima entrega já acontece na semana de 14–18 de setembro.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E9555F-FE8E-49F6-B533-ABF202F181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62100"/>
            <a:ext cx="6915150" cy="4019550"/>
          </a:xfrm>
          <a:prstGeom xmlns:a="http://schemas.openxmlformats.org/drawingml/2006/main" prst="roundRect">
            <a:avLst>
              <a:gd name="adj" fmla="val 4265"/>
            </a:avLst>
          </a:prstGeom>
          <a:solidFill xmlns:a="http://schemas.openxmlformats.org/drawingml/2006/main">
            <a:srgbClr val="155F55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4E5F08-7BAE-4655-8BA9-9597136ABD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828800"/>
            <a:ext cx="2038350" cy="3048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D9993B"/>
          </a:solidFill>
          <a:ln xmlns:a="http://schemas.openxmlformats.org/drawingml/2006/main" w="0">
            <a:noFill/>
          </a:ln>
        </p:spPr>
        <p:txBody>
          <a:bodyPr xmlns:a="http://schemas.openxmlformats.org/drawingml/2006/main" wrap="square" lIns="76200" tIns="9525" rIns="76200" bIns="9525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050" b="1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PRÓXIMA APRESENTAÇÃO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705392A-AFAF-45D9-99F1-DD886FF60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24100"/>
            <a:ext cx="5524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700" b="0" i="0">
                <a:solidFill>
                  <a:srgbClr val="FFFFFF"/>
                </a:solidFill>
                <a:latin typeface="Georgia"/>
                <a:ea typeface="Georgia"/>
                <a:cs typeface="Georgia"/>
              </a:defRPr>
            </a:pPr>
            <a:r>
              <a:rPr sz="2700" b="0" i="0">
                <a:solidFill>
                  <a:srgbClr val="FFFFFF"/>
                </a:solidFill>
                <a:latin typeface="Georgia"/>
                <a:ea typeface="Georgia"/>
                <a:cs typeface="Georgia"/>
              </a:rPr>
              <a:t>Gabriel, Jolie e Mateus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C187E6E-D6AB-43C2-B404-CCD527643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95600"/>
            <a:ext cx="590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57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defRPr>
            </a:pPr>
            <a:r>
              <a:rPr sz="1575" b="1" i="0">
                <a:solidFill>
                  <a:srgbClr val="DCEEE8"/>
                </a:solidFill>
                <a:latin typeface="Avenir Next"/>
                <a:ea typeface="Avenir Next"/>
                <a:cs typeface="Avenir Next"/>
              </a:rPr>
              <a:t>Semana 1: Do texto à previsão do próximo token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BC80605-027F-4B61-8D37-3B420E32E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95675"/>
            <a:ext cx="6096000" cy="167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Definir responsáveis principais por pesquisa, artefato e narrativa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Preparar slideshow, fontes e uma demonstração simples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Atualizar o radar de papers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Criar uma branch e entregar tudo em um único PR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defRPr>
            </a:pPr>
            <a:r>
              <a:rPr sz="1500" b="0" i="0">
                <a:solidFill>
                  <a:srgbClr val="FFFFFF"/>
                </a:solidFill>
                <a:latin typeface="Avenir Next"/>
                <a:ea typeface="Avenir Next"/>
                <a:cs typeface="Avenir Next"/>
              </a:rPr>
              <a:t>Revisar e ensaiar para concluir em até 50 minutos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F3F945A-0F85-432D-AFC3-AF2EF1BC0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1562100"/>
            <a:ext cx="3733800" cy="2457450"/>
          </a:xfrm>
          <a:prstGeom xmlns:a="http://schemas.openxmlformats.org/drawingml/2006/main" prst="roundRect">
            <a:avLst>
              <a:gd name="adj" fmla="val 6977"/>
            </a:avLst>
          </a:prstGeom>
          <a:solidFill xmlns:a="http://schemas.openxmlformats.org/drawingml/2006/main">
            <a:srgbClr val="E7EFF3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64C156-7AF1-4090-A5A7-AFF3B7279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38325"/>
            <a:ext cx="3143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025" b="0" i="0">
                <a:solidFill>
                  <a:srgbClr val="4B7895"/>
                </a:solidFill>
                <a:latin typeface="Georgia"/>
                <a:ea typeface="Georgia"/>
                <a:cs typeface="Georgia"/>
              </a:defRPr>
            </a:pPr>
            <a:r>
              <a:rPr sz="2025" b="0" i="0">
                <a:solidFill>
                  <a:srgbClr val="4B7895"/>
                </a:solidFill>
                <a:latin typeface="Georgia"/>
                <a:ea typeface="Georgia"/>
                <a:cs typeface="Georgia"/>
              </a:rPr>
              <a:t>Ana, Elisa e Henrique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278F61-D44E-4301-9664-047AB7439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33625"/>
            <a:ext cx="1714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4B7895"/>
                </a:solidFill>
                <a:latin typeface="Avenir Next"/>
                <a:ea typeface="Avenir Next"/>
                <a:cs typeface="Avenir Next"/>
              </a:defRPr>
            </a:pPr>
            <a:r>
              <a:rPr sz="1200" b="1" i="0">
                <a:solidFill>
                  <a:srgbClr val="4B7895"/>
                </a:solidFill>
                <a:latin typeface="Avenir Next"/>
                <a:ea typeface="Avenir Next"/>
                <a:cs typeface="Avenir Next"/>
              </a:rPr>
              <a:t>Na Semana 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39C8951-5D4B-4F00-A371-607591A3E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705100"/>
            <a:ext cx="30480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42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Consumir o material mínimo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42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Levar duas perguntas por pessoa</a:t>
            </a:r>
          </a:p>
          <a:p xmlns:a="http://schemas.openxmlformats.org/drawingml/2006/main">
            <a:pPr marL="215900" indent="-101600" algn="l">
              <a:spcAft>
                <a:spcPts val="800"/>
              </a:spcAft>
              <a:buChar char="•"/>
              <a:defRPr sz="142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defRPr>
            </a:pPr>
            <a:r>
              <a:rPr sz="1425" b="0" i="0">
                <a:solidFill>
                  <a:srgbClr val="152926"/>
                </a:solidFill>
                <a:latin typeface="Avenir Next"/>
                <a:ea typeface="Avenir Next"/>
                <a:cs typeface="Avenir Next"/>
              </a:rPr>
              <a:t>Iniciar a preparação da Semana 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935C8-9288-46AE-96FE-55D172202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4229100"/>
            <a:ext cx="3733800" cy="1352550"/>
          </a:xfrm>
          <a:prstGeom xmlns:a="http://schemas.openxmlformats.org/drawingml/2006/main" prst="roundRect">
            <a:avLst>
              <a:gd name="adj" fmla="val 12676"/>
            </a:avLst>
          </a:prstGeom>
          <a:solidFill xmlns:a="http://schemas.openxmlformats.org/drawingml/2006/main">
            <a:srgbClr val="F6E8C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F7A527-5905-4210-A0F5-5BCAF4CD3A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467225"/>
            <a:ext cx="295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6E4E1E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6E4E1E"/>
                </a:solidFill>
                <a:latin typeface="Georgia"/>
                <a:ea typeface="Georgia"/>
                <a:cs typeface="Georgia"/>
              </a:rPr>
              <a:t>Antes de encerrar hoje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10B306-01DF-4F28-8DBA-E7A0D9354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4914900"/>
            <a:ext cx="30099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6E4E1E"/>
                </a:solidFill>
                <a:latin typeface="Avenir Next"/>
                <a:ea typeface="Avenir Next"/>
                <a:cs typeface="Avenir Next"/>
              </a:defRPr>
            </a:pPr>
            <a:r>
              <a:rPr sz="1350" b="1" i="0">
                <a:solidFill>
                  <a:srgbClr val="6E4E1E"/>
                </a:solidFill>
                <a:latin typeface="Avenir Next"/>
                <a:ea typeface="Avenir Next"/>
                <a:cs typeface="Avenir Next"/>
              </a:rPr>
              <a:t>Confirmar os responsáveis internos e combinar o primeiro checkpoint de cada trio.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8FB807-5435-4AD0-BC29-5FB6B581D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5924550"/>
            <a:ext cx="101346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875" b="0" i="0">
                <a:solidFill>
                  <a:srgbClr val="152926"/>
                </a:solidFill>
                <a:latin typeface="Georgia"/>
                <a:ea typeface="Georgia"/>
                <a:cs typeface="Georgia"/>
              </a:defRPr>
            </a:pPr>
            <a:r>
              <a:rPr sz="1875" b="0" i="0">
                <a:solidFill>
                  <a:srgbClr val="152926"/>
                </a:solidFill>
                <a:latin typeface="Georgia"/>
                <a:ea typeface="Georgia"/>
                <a:cs typeface="Georgia"/>
              </a:rPr>
              <a:t>Pergunta de fechamento: quem assume cada frente e quando o trio se reúne pela primeira vez?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74233EB-E9B8-4116-A1A2-6DC60A714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3143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00" b="0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CEIA-UFG / Time de SLMs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00CE78-6B80-470B-B4A3-134423EAF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96050"/>
            <a:ext cx="438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defRPr>
            </a:pPr>
            <a:r>
              <a:rPr sz="975" b="1" i="0">
                <a:solidFill>
                  <a:srgbClr val="5F706D"/>
                </a:solidFill>
                <a:latin typeface="Avenir Next"/>
                <a:ea typeface="Avenir Next"/>
                <a:cs typeface="Avenir Nex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42159916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2026-09-09T21:43:52.7560000Z</dcterms:created>
  <dcterms:modified xsi:type="dcterms:W3CDTF">2026-09-09T21:43:52.7560000Z</dcterms:modified>
</coreProperties>
</file>