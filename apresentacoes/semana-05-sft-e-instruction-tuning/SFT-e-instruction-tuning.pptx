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FBAB76-F08C-4BF7-AD8D-538174606A3E}">
  <a:tblStyle styleId="{83FBAB76-F08C-4BF7-AD8D-538174606A3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Abertura (1 min). O par de respostas embaixo é o fio condutor do seminário. É o MESMO modelo, um mini-GPT que treinamos para esta apresentação. À esquerda, antes do ajuste: diante da pergunta, ele continua uma lista de quiz. À direita, depois de 300 passos de SFT: responde em uma frase e para. Detalhe importante: a Noruega nunca apareceu nos exemplos de ajuste. O modelo sabia que Oslo é a capital desde o pré-treino; o SFT só ensinou a responder. A pergunta da semana é exatamente essa diferença.</a:t>
            </a:r>
            <a:endParaRPr/>
          </a:p>
        </p:txBody>
      </p:sp>
      <p:sp>
        <p:nvSpPr>
          <p:cNvPr id="57" name="Google Shape;5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Roteiro (30 s). Mesma estrutura das semanas anteriores. A parte 3 concentra o conteúdo mínimo, e todos os números dela vêm de um ajuste que rodamos de verdade, descrito no slide 'Nosso laboratório'.</a:t>
            </a:r>
            <a:endParaRPr/>
          </a:p>
        </p:txBody>
      </p:sp>
      <p:sp>
        <p:nvSpPr>
          <p:cNvPr id="82" name="Google Shape;8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Troca de apresentador, se houver. Uma frase: nesta seção só enquadramos o problema.</a:t>
            </a:r>
            <a:endParaRPr/>
          </a:p>
        </p:txBody>
      </p:sp>
      <p:sp>
        <p:nvSpPr>
          <p:cNvPr id="119" name="Google Shape;11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pergunta (1 min). Ler em voz alta. Cada cartão antecipa uma parte da resposta, e cada um vem com um número do nosso experimento: o modelo aprende a parar (cartão 1), responde sobre o que só viu no pré-treino (96%, cartão 2) e pode esquecer ou inventar (cartão 3). Não detalhar agora; a seção 3 mostra de onde sai cada número.</a:t>
            </a:r>
            <a:endParaRPr/>
          </a:p>
        </p:txBody>
      </p:sp>
      <p:sp>
        <p:nvSpPr>
          <p:cNvPr id="130" name="Google Shape;13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fenômeno (1,5 min). À esquerda, o exemplo que a OpenAI usou para apresentar o InstructGPT: o GPT-3, sem ajuste, recebeu um pedido e devolveu mais pedidos, como se estivesse numa lista. À direita, o nosso modelo base faz exatamente o mesmo: no corpus dele havia listas de quiz, então uma pergunta vira o começo de uma lista. O detalhe que importa está embaixo: se pedirmos para completar 'A capital do Peru é', ele acerta. Ele sabe o fato; só não sabe que deveria responder.</a:t>
            </a:r>
            <a:endParaRPr/>
          </a:p>
        </p:txBody>
      </p:sp>
      <p:sp>
        <p:nvSpPr>
          <p:cNvPr id="161" name="Google Shape;16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Escala (1,5 min). Quatro números da literatura, todos conferidos nas fontes. A mensagem é a desproporção: o ajuste custa pouco e muda muito o comportamento. O LIMA é o caso extremo, com mil exemplos escolhidos a dedo. Cuidado com a leitura do LIMA: 43% é a fração de comparações em que avaliadores acharam a resposta equivalente ou melhor que a do GPT-4, não uma nota. No nosso laboratório a proporção é parecida: o ajuste é uma fração pequena do treino total.</a:t>
            </a:r>
            <a:endParaRPr/>
          </a:p>
        </p:txBody>
      </p:sp>
      <p:sp>
        <p:nvSpPr>
          <p:cNvPr id="192" name="Google Shape;19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Seção curta e conceitual: o mapa e as definições que a seção 3 vai usar.</a:t>
            </a:r>
            <a:endParaRPr/>
          </a:p>
        </p:txBody>
      </p:sp>
      <p:sp>
        <p:nvSpPr>
          <p:cNvPr id="219" name="Google Shape;21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Mapa (1,5 min). Ler da esquerda para a direita mudando só a coluna 'sinal': texto bruto, texto do domínio, demonstrações, comparações, verificador. A ordem é a mais comum, mas não é fixa: o Llama 3 alterna SFT e DPO em seis rodadas, e o DeepSeek-R1-Zero aplicou RL direto no modelo base, sem SFT. RLHF e RLVR aparecem aqui só para posicionar; não vamos aprofundar.</a:t>
            </a:r>
            <a:endParaRPr/>
          </a:p>
        </p:txBody>
      </p:sp>
      <p:sp>
        <p:nvSpPr>
          <p:cNvPr id="230" name="Google Shape;23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Intuição (1,5 min). Analogia: alguém que leu muito chega no primeiro dia num balcão de atendimento. Já sabe as respostas; aprende o formato do trabalho, o papel e quando parar de falar. Os dois balões de baixo são do MESMO modelo base: completando a frase, ele diz Oslo; perguntado, ele continua o quiz. A hipótese do LIMA (Zhou et al., 2023) é exatamente essa leitura. Frisar que é uma hipótese: nosso experimento vai mostrar o caso a favor (países fora do ajuste) e os limites (alucinação, conhecimento novo).</a:t>
            </a:r>
            <a:endParaRPr/>
          </a:p>
        </p:txBody>
      </p:sp>
      <p:sp>
        <p:nvSpPr>
          <p:cNvPr id="281" name="Google Shape;28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Definição (2 min). Este é o ponto que faltava na lista de conteúdo mínimo. SFT é o método: treino supervisionado com respostas-alvo. Instruction tuning é usar esse método com dados de instruções de muitas tarefas, para generalizar a instruções novas. Chat tuning é o mesmo, com conversas e papéis. O FLAN (2021) mostrou o efeito: ajustado em 62 datasets reescritos como instruções, um modelo de 137B superou o GPT-3 175B em zero-shot em 20 de 25 datasets de tarefas que não estavam no ajuste.</a:t>
            </a:r>
            <a:endParaRPr/>
          </a:p>
        </p:txBody>
      </p:sp>
      <p:sp>
        <p:nvSpPr>
          <p:cNvPr id="305" name="Google Shape;30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Linha do tempo (1,5 min). A pergunta de fundo é: de onde vêm os pares instrução-resposta? Primeiro, de datasets acadêmicos reescritos com templates (FLAN, T0). Depois, escritos por pessoas (InstructGPT). Depois, gerados por modelos maiores (Self-Instruct, Alpaca). Depois, curados com cuidado (LIMA, Llama 2). O destaque âmbar é a virada de 2023: o Llama 2 relata que poucas anotações de alta qualidade superaram milhões de exemplos de terceiros. Isso volta no slide de qualidade.</a:t>
            </a:r>
            <a:endParaRPr/>
          </a:p>
        </p:txBody>
      </p:sp>
      <p:sp>
        <p:nvSpPr>
          <p:cNvPr id="330" name="Google Shape;33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Início do conteúdo mínimo. Todos os números de 'nosso modelo' vêm do notebook ou de variações de uma linha dele.</a:t>
            </a:r>
            <a:endParaRPr/>
          </a:p>
        </p:txBody>
      </p:sp>
      <p:sp>
        <p:nvSpPr>
          <p:cNvPr id="337" name="Google Shape;33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Laboratório (2 min). Explicar uma vez e depois só citar. Um mundo de 42 países com três fatos cada, escrito de várias formas (verbetes) e com listas de quiz sem respostas, que explicam o comportamento do modelo base. Dez países aparecem no texto sem a capital: servem para medir alucinação. O modelo é um decoder como o da semana 2, minúsculo, escrito em numpy. O ponto metodológico: os 17 países de fora nunca aparecem nos exemplos de ajuste, então acertar sobre eles só é possível usando o que veio do pré-treino. Os 4 de 32 trechos de texto de pré-treino em cada lote do SFT (replay) são explicados no slide de esquecimento.</a:t>
            </a:r>
            <a:endParaRPr/>
          </a:p>
        </p:txBody>
      </p:sp>
      <p:sp>
        <p:nvSpPr>
          <p:cNvPr id="348" name="Google Shape;34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Três treinos (2 min). Primeiro item do conteúdo mínimo. Ler a tabela pela linha 'onde a perda conta': no pré-treino e no continuado, todo token é alvo; no SFT, em geral só a resposta. A linha da taxa mostra por que o SFT é 'delicado': o Llama 2 usou 2e-5 no SFT contra 3e-4 de pico no pré-treino. No pré-treino continuado, Ibrahim et al. (2024) mostram que re-aquecer e re-decair a taxa e misturar dados antigos (replay) iguala re-treinar do zero. No nosso mundo: o pré-treino continuado ensinou os fatos dos 6 países novos (17% → 100% completando frases), mas responder perguntas sobre eles só chegou a 56%, contra 96% para os países do pré-treino original. Isso ecoa Allen-Zhu e Li (2023): saber um fato em texto não garante conseguir extraí-lo num formato novo.</a:t>
            </a:r>
            <a:endParaRPr/>
          </a:p>
        </p:txBody>
      </p:sp>
      <p:sp>
        <p:nvSpPr>
          <p:cNvPr id="380" name="Google Shape;38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Pares (1,5 min). À esquerda, o formato de tarefa popularizado pelo Alpaca: instrução, entrada opcional e saída. É um exemplo ilustrativo de formato, não de um dataset real. À direita, um exemplo real dos nossos dados, no formato de mensagens com papéis, que é o usado pelas APIs e pelos chat templates. Os chips de baixo lembram que instruction tuning mistura muitas tarefas; a recusa segura também é aprendida assim, por exemplos.</a:t>
            </a:r>
            <a:endParaRPr/>
          </a:p>
        </p:txBody>
      </p:sp>
      <p:sp>
        <p:nvSpPr>
          <p:cNvPr id="393" name="Google Shape;39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Multi-turno (1,5 min). Este é um exemplo real dos nossos dados. A segunda pergunta, 'E a capital?', não diz de que país: o modelo precisa ler o turno 1. Por isso o histórico inteiro entra no contexto a cada turno, e conversas longas ocupam a janela. Resultado: 95% de acerto no segundo turno com países de fora do ajuste. Nos dados, metade das conversas tem dois turnos; com poucas conversas de dois turnos o acerto cai bastante (aparece no slide de quantidade).</a:t>
            </a:r>
            <a:endParaRPr/>
          </a:p>
        </p:txBody>
      </p:sp>
      <p:sp>
        <p:nvSpPr>
          <p:cNvPr id="432" name="Google Shape;43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Templates (2 min). À esquerda, o que um programa manda: uma lista de mensagens. No meio, o que o nosso modelo realmente lê: o formato ChatML, o mesmo do Qwen, com os tokens especiais em âmbar. A linha final '&lt;|im_start|&gt;assistant' é o que add_generation_prompt acrescenta para o modelo começar a responder. À direita, a mesma ideia no Llama 3, com outros tokens. Mensagem: o template é parte do modelo. O próximo slide mostra o que acontece quando ele muda.</a:t>
            </a:r>
            <a:endParaRPr/>
          </a:p>
        </p:txBody>
      </p:sp>
      <p:sp>
        <p:nvSpPr>
          <p:cNvPr id="463" name="Google Shape;46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Contrato (1,5 min). Acerto exato = resposta inteira igual à esperada e terminada no token de fim. Com o template do treino: 96%. Só tirar a mensagem system já derruba para 72%. Sem os tokens especiais, o conteúdo até aparece ('Oslo'), mas começa com uma quebra de linha e só para em 33% dos casos: acerto exato 0%. Só com a pergunta, o modelo volta a se comportar como o modelo base e continua o quiz. Na prática, esse é um bug comum: avaliar ou servir um modelo com o template errado.</a:t>
            </a:r>
            <a:endParaRPr/>
          </a:p>
        </p:txBody>
      </p:sp>
      <p:sp>
        <p:nvSpPr>
          <p:cNvPr id="489" name="Google Shape;48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Máscara (2,5 min). A tira é a conversa de dois turnos do slide anterior, token a token, na ordem em que o modelo lê. Teal é alvo: entra na perda. Cinza e âmbar são contexto: o modelo lê, mas não é cobrado por prever. Repare que o &lt;|im_end|&gt; depois de cada resposta é teal: o modelo precisa aprender a terminar (próximo slide). A fórmula é a entropia cruzada da semana 3, com a soma restrita às posições-alvo. Correção importante: mascarar não significa que o prompt não recebe gradiente. A resposta é calculada a partir do prompt, então o gradiente da perda da resposta passa por ele. O que some é só a perda nas posições do prompt.</a:t>
            </a:r>
            <a:endParaRPr/>
          </a:p>
        </p:txBody>
      </p:sp>
      <p:sp>
        <p:nvSpPr>
          <p:cNvPr id="517" name="Google Shape;51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Fim de turno (1,5 min). Um detalhe de implementação que derruba tudo. Com o &lt;|im_end|&gt; fora dos alvos, o modelo nunca é cobrado por prever o fim da resposta. Resultado real: ele escreve 'A capital da Noruega é Oslo.' e segue, inventando o próximo documento ('A capital da Venezuela é Bangkok'). Nenhuma resposta para: 0%. O conteúdo estava certo, mas o acerto exato vai a zero porque a resposta nunca termina. Em LLMs reais, o mesmo bug aparece como um modelo que não para de falar ou que escreve o próximo turno do usuário.</a:t>
            </a:r>
            <a:endParaRPr/>
          </a:p>
        </p:txBody>
      </p:sp>
      <p:sp>
        <p:nvSpPr>
          <p:cNvPr id="658" name="Google Shape;65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Mascarar ou não (1,5 min). O padrão mais comum é mascarar o prompt, como no Llama 2. No nosso mundo isso foi melhor nas três medidas e nas três sementes (96% contra 90% nas formas vistas). Mas a literatura recente mostra que depende: Shi et al. (2024) acharam ganhos ao pôr perda nas instruções quando elas são longas e as respostas curtas, ou quando há poucos exemplos; Huerta-Enochian e Ko (2024) acharam que um peso pequeno no prompt ajuda em respostas curtas. Mensagem: é um hiperparâmetro, não um dogma.</a:t>
            </a:r>
            <a:endParaRPr/>
          </a:p>
        </p:txBody>
      </p:sp>
      <p:sp>
        <p:nvSpPr>
          <p:cNvPr id="694" name="Google Shape;69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Qualidade e quantidade (2 min). Esquerda: trocamos de propósito 25% ou 50% das respostas por fatos de outro país. Barras cinza: países que estavam no ajuste; o modelo continua acertando boa parte deles porque decorou os exemplos certos. Barras teal: países de fora, que dependem de o modelo usar o próprio conhecimento. Com 50% de erro, cai para 60%: dados errados ensinam que a resposta não precisa bater com o que o modelo sabe. Direita: o formato (parar) aparece com só 16 conversas, como sugere o LIMA; acertar sobre países novos exige mais exemplos, e o ganho satura entre 200 e 2.400.</a:t>
            </a:r>
            <a:endParaRPr/>
          </a:p>
        </p:txBody>
      </p:sp>
      <p:sp>
        <p:nvSpPr>
          <p:cNvPr id="710" name="Google Shape;71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6" name="Google Shape;72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Diversidade (2 min). Esquerda: treinamos com uma única forma de perguntar ('Qual é a capital do X?') ou com cinco. Testamos em duas formas que nenhum dos dois viu, como 'X tem qual capital?'. Média de 3 sementes: 48% contra 85% (sementes: 48%, 50%, 46% contra 90%, 85%, 78%). Direita: com o mesmo número de conversas, cobrir 3 países em vez de 25 derruba o acerto nos países de fora para 47%. É a versão em miniatura do resultado do FLAN e do Flan-PaLM: variedade de tarefas e de formatos é o que permite generalizar.</a:t>
            </a:r>
            <a:endParaRPr/>
          </a:p>
        </p:txBody>
      </p:sp>
      <p:sp>
        <p:nvSpPr>
          <p:cNvPr id="727" name="Google Shape;72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Balanceamento (1,5 min). Mesmo total de conversas; só a proporção mudou. A tarefa dominante (capital) continua perfeita; as raras pioram, e piora mais ainda a generalização para formas novas de pedido. Na prática, misturas de instruções controlam o peso de cada fonte. O FLAN limitou cada dataset; a Flan Collection mostrou que pesos escolhidos com cuidado superam pesos iguais (MMLU 48,1 contra 47,3). Balancear não é igualar: é decidir quanto cada tipo de exemplo deve pesar.</a:t>
            </a:r>
            <a:endParaRPr/>
          </a:p>
        </p:txBody>
      </p:sp>
      <p:sp>
        <p:nvSpPr>
          <p:cNvPr id="744" name="Google Shape;74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9" name="Google Shape;75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Esquecimento (2,5 min). As três curvas medem a perda num texto de pré-treino reservado, ao longo do ajuste. Vermelho: taxa 1e-3 sem replay. A perda sobe de 0,61 para 4,09, o modelo passa a completar só 80% dos fatos e o acerto fora do ajuste cai para 31% ('A capital da Noruega é Estocolmo'). Âmbar: só baixar a taxa para 3e-4 já ajuda (2,13). Teal: mesma taxa alta, mas com 4 trechos de texto de pré-treino em cada lote de 32: a perda volta para 0,62 e o acerto fica em 96%. O termo vem de McCloskey e Cohen (1989); em LLMs, Luo et al. (2023) observaram esquecimento de 1B a 7B, mais forte nos maiores dessa faixa.</a:t>
            </a:r>
            <a:endParaRPr/>
          </a:p>
        </p:txBody>
      </p:sp>
      <p:sp>
        <p:nvSpPr>
          <p:cNvPr id="760" name="Google Shape;76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5" name="Google Shape;77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Avaliação (2 min). A tabela é o 'antes e depois' completo do nosso ajuste. Linhas de cima: o que o SFT ensinou (o base não para nunca e acerta 0%). Linhas de baixo: o que o pré-treino tinha e pode perder. A última coluna mostra por que medir as duas coisas: o SFT sem replay acerta 100% nos países do ajuste, o que parece ótimo, mas perdeu conhecimento e generaliza mal. Em LLMs reais, o equivalente é medir seguimento de instruções (IFEval), conhecimento retido (benchmarks antes e depois), preferência humana ou por juiz automático, e garantir que os itens de teste não estão nos dados de ajuste.</a:t>
            </a:r>
            <a:endParaRPr/>
          </a:p>
        </p:txBody>
      </p:sp>
      <p:sp>
        <p:nvSpPr>
          <p:cNvPr id="776" name="Google Shape;77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4" name="Google Shape;79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Alucinação (2 min). Os balões são respostas reais do modelo ajustado para países cuja capital ele nunca viu. Todas no formato perfeito, todas inventadas: Lima para a Mongólia, Ottawa para o Nepal. Repare na Bolívia: 'a capital da Bolívia é um país da América do Sul', o formato aprendido preenchido com o que estava à mão. Tentamos ensinar a dizer 'não sei' com exemplos para 5 países: funcionou só nesses 5 (100%), não nos outros (4%). É a motivação das etapas seguintes do mapa: preferências e recompensas verificáveis olham para a qualidade da resposta, não só para a imitação.</a:t>
            </a:r>
            <a:endParaRPr/>
          </a:p>
        </p:txBody>
      </p:sp>
      <p:sp>
        <p:nvSpPr>
          <p:cNvPr id="795" name="Google Shape;79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" name="Google Shape;82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RLHF e RLVR (1,5 min). Só posicionar, sem aprofundar. O SFT imita: precisa de uma resposta-alvo pronta, e o modelo fica limitado ao que os exemplos mostram. RLHF aprende com comparações humanas entre respostas, via modelo de recompensa e PPO (InstructGPT), ou direto nos pares com DPO. RLVR troca a preferência humana por um verificador automático: só ganha recompensa a resposta que confere (no Tülu 3, matemática e instruções com restrições checáveis). O caso da alucinação do slide anterior é exatamente o tipo de falha que essas etapas tentam atacar.</a:t>
            </a:r>
            <a:endParaRPr/>
          </a:p>
        </p:txBody>
      </p:sp>
      <p:sp>
        <p:nvSpPr>
          <p:cNvPr id="828" name="Google Shape;82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8" name="Google Shape;83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Seção curta: mostrar de onde vêm as ideias e por que este tema é da nossa equipe.</a:t>
            </a:r>
            <a:endParaRPr/>
          </a:p>
        </p:txBody>
      </p:sp>
      <p:sp>
        <p:nvSpPr>
          <p:cNvPr id="839" name="Google Shape;839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9" name="Google Shape;84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Literatura (1-2 min). Não ler tudo. Destacar três: FLAN (a ideia de instruction tuning), InstructGPT (a receita SFT + RLHF que virou padrão) e LIMA (qualidade acima de quantidade). Os de baixo explicam os dois custos que medimos: esquecimento e alucinação.</a:t>
            </a:r>
            <a:endParaRPr/>
          </a:p>
        </p:txBody>
      </p:sp>
      <p:sp>
        <p:nvSpPr>
          <p:cNvPr id="850" name="Google Shape;850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1" name="Google Shape;90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Receita (1,5 min). Cada item é um slide da seção 3 transformado em regra prática. Destacar o 5: avaliar só a tarefa nova foi o que tornou o SFT sem replay 'bom' na tabela de avaliação, com 100% nos países do ajuste, enquanto ele tinha perdido conhecimento.</a:t>
            </a:r>
            <a:endParaRPr/>
          </a:p>
        </p:txBody>
      </p:sp>
      <p:sp>
        <p:nvSpPr>
          <p:cNvPr id="902" name="Google Shape;902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8" name="Google Shape;93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Fechamento. Retomar a pergunta orientadora em voz alta antes de virar o slide.</a:t>
            </a:r>
            <a:endParaRPr/>
          </a:p>
        </p:txBody>
      </p:sp>
      <p:sp>
        <p:nvSpPr>
          <p:cNvPr id="939" name="Google Shape;939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9" name="Google Shape;94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Síntese (1,5 min). Ler os seis passos como uma única resposta à pergunta. Os números entre parênteses vêm todos do nosso ajuste. O passo 3 é a ideia central do LIMA; o passo 5 é o motivo do mapa de pós-treinamento continuar depois do SFT.</a:t>
            </a:r>
            <a:endParaRPr/>
          </a:p>
        </p:txBody>
      </p:sp>
      <p:sp>
        <p:nvSpPr>
          <p:cNvPr id="950" name="Google Shape;950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2" name="Google Shape;98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Encerramento. A conversa é real: o modelo ajustado responde 'Lima' para a capital da Mongólia, no formato perfeito. É um bom gancho para perguntas: o que falta para ele dizer 'não sei'? Preencher os nomes da equipe.</a:t>
            </a:r>
            <a:endParaRPr/>
          </a:p>
        </p:txBody>
      </p:sp>
      <p:sp>
        <p:nvSpPr>
          <p:cNvPr id="983" name="Google Shape;983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>
  <p:cSld name="CAPA">
    <p:bg>
      <p:bgPr>
        <a:solidFill>
          <a:srgbClr val="0F1C2E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777240" y="1188720"/>
            <a:ext cx="75895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  <a:defRPr b="1" i="0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TEIRO">
  <p:cSld name="ROTEIRO">
    <p:bg>
      <p:bgPr>
        <a:solidFill>
          <a:srgbClr val="FFFFFF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777240" y="402336"/>
            <a:ext cx="1063721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ROTEIRO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  <a:defRPr b="1" i="0" sz="31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3"/>
          <p:cNvSpPr/>
          <p:nvPr/>
        </p:nvSpPr>
        <p:spPr>
          <a:xfrm>
            <a:off x="777240" y="6327648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SFT e instruction tuning  ·  Semana 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OR">
  <p:cSld name="DIVISOR">
    <p:bg>
      <p:bgPr>
        <a:solidFill>
          <a:srgbClr val="0F1C2E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2377440" y="2011680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  <a:defRPr b="1" i="0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UDO_1">
  <p:cSld name="CONTEUDO_1">
    <p:bg>
      <p:bgPr>
        <a:solidFill>
          <a:srgbClr val="FFFFF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777240" y="402336"/>
            <a:ext cx="1063721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1 · PERGUNTA E MOTIVAÇÃO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  <a:defRPr b="1" i="0" sz="31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" name="Google Shape;24;p5"/>
          <p:cNvSpPr/>
          <p:nvPr/>
        </p:nvSpPr>
        <p:spPr>
          <a:xfrm>
            <a:off x="777240" y="6327648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SFT e instruction tuning  ·  Semana 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UDO_2">
  <p:cSld name="CONTEUDO_2"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777240" y="402336"/>
            <a:ext cx="1063721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2 · INTUIÇÃO E MAPA CONCEITUAL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  <a:defRPr b="1" i="0" sz="31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6"/>
          <p:cNvSpPr/>
          <p:nvPr/>
        </p:nvSpPr>
        <p:spPr>
          <a:xfrm>
            <a:off x="777240" y="6327648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SFT e instruction tuning  ·  Semana 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UDO_3">
  <p:cSld name="CONTEUDO_3"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/>
          <p:nvPr/>
        </p:nvSpPr>
        <p:spPr>
          <a:xfrm>
            <a:off x="777240" y="402336"/>
            <a:ext cx="1063721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3 · EXPLICAÇÃO TÉCNICA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  <a:defRPr b="1" i="0" sz="31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7"/>
          <p:cNvSpPr/>
          <p:nvPr/>
        </p:nvSpPr>
        <p:spPr>
          <a:xfrm>
            <a:off x="777240" y="6327648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SFT e instruction tuning  ·  Semana 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UDO_4">
  <p:cSld name="CONTEUDO_4"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/>
          <p:nvPr/>
        </p:nvSpPr>
        <p:spPr>
          <a:xfrm>
            <a:off x="777240" y="402336"/>
            <a:ext cx="1063721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4 · VISUALIZAÇÃO E ARTEFATO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8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  <a:defRPr b="1" i="0" sz="31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9" name="Google Shape;39;p8"/>
          <p:cNvSpPr/>
          <p:nvPr/>
        </p:nvSpPr>
        <p:spPr>
          <a:xfrm>
            <a:off x="777240" y="6327648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SFT e instruction tuning  ·  Semana 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UDO_5">
  <p:cSld name="CONTEUDO_5"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777240" y="402336"/>
            <a:ext cx="1063721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5 · LITERATURA E PROJETO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9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  <a:defRPr b="1" i="0" sz="31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4" name="Google Shape;44;p9"/>
          <p:cNvSpPr/>
          <p:nvPr/>
        </p:nvSpPr>
        <p:spPr>
          <a:xfrm>
            <a:off x="777240" y="6327648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SFT e instruction tuning  ·  Semana 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UDO_6">
  <p:cSld name="CONTEUDO_6"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/>
          <p:nvPr/>
        </p:nvSpPr>
        <p:spPr>
          <a:xfrm>
            <a:off x="777240" y="402336"/>
            <a:ext cx="1063721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6 · SÍNTESE E LIMITES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0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  <a:defRPr b="1" i="0" sz="31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9" name="Google Shape;49;p10"/>
          <p:cNvSpPr/>
          <p:nvPr/>
        </p:nvSpPr>
        <p:spPr>
          <a:xfrm>
            <a:off x="777240" y="6327648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SFT e instruction tuning  ·  Semana 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CHAMENTO">
  <p:cSld name="FECHAMENTO">
    <p:bg>
      <p:bgPr>
        <a:solidFill>
          <a:srgbClr val="0F1C2E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777240" y="100584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  <a:defRPr b="1" i="0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777240" y="1188720"/>
            <a:ext cx="75895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 modelo que completa ao modelo que responde</a:t>
            </a:r>
            <a:endParaRPr sz="4000"/>
          </a:p>
        </p:txBody>
      </p:sp>
      <p:sp>
        <p:nvSpPr>
          <p:cNvPr id="60" name="Google Shape;60;p13"/>
          <p:cNvSpPr txBox="1"/>
          <p:nvPr/>
        </p:nvSpPr>
        <p:spPr>
          <a:xfrm>
            <a:off x="777240" y="7772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3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08A3C"/>
                </a:solidFill>
                <a:latin typeface="Calibri"/>
                <a:ea typeface="Calibri"/>
                <a:cs typeface="Calibri"/>
                <a:sym typeface="Calibri"/>
              </a:rPr>
              <a:t>SEMINÁRIO  ·  SEMANA 4  ·  EQUIPE DE TREINAMENTO E FINE-TUNING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777240" y="2606040"/>
            <a:ext cx="7680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AFC0D1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AFC0D1"/>
                </a:solidFill>
                <a:latin typeface="Calibri"/>
                <a:ea typeface="Calibri"/>
                <a:cs typeface="Calibri"/>
                <a:sym typeface="Calibri"/>
              </a:rPr>
              <a:t>SFT e instruction tuning: o que muda quando um modelo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AFC0D1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AFC0D1"/>
                </a:solidFill>
                <a:latin typeface="Calibri"/>
                <a:ea typeface="Calibri"/>
                <a:cs typeface="Calibri"/>
                <a:sym typeface="Calibri"/>
              </a:rPr>
              <a:t>pré-treinado é ajustado para responder instruções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777240" y="36393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4A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94A9"/>
                </a:solidFill>
                <a:latin typeface="Calibri"/>
                <a:ea typeface="Calibri"/>
                <a:cs typeface="Calibri"/>
                <a:sym typeface="Calibri"/>
              </a:rPr>
              <a:t>o mesmo pedido, ao nosso modelo, antes e depois do ajuste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777240" y="3950208"/>
            <a:ext cx="7680960" cy="658368"/>
          </a:xfrm>
          <a:prstGeom prst="roundRect">
            <a:avLst>
              <a:gd fmla="val 11111" name="adj"/>
            </a:avLst>
          </a:prstGeom>
          <a:solidFill>
            <a:srgbClr val="1B3149"/>
          </a:solidFill>
          <a:ln cap="flat" cmpd="sng" w="15225">
            <a:solidFill>
              <a:srgbClr val="355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941832" y="4005072"/>
            <a:ext cx="73517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CE6F0"/>
                </a:solidFill>
                <a:latin typeface="Calibri"/>
                <a:ea typeface="Calibri"/>
                <a:cs typeface="Calibri"/>
                <a:sym typeface="Calibri"/>
              </a:rPr>
              <a:t>PEDIDO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941832" y="4242816"/>
            <a:ext cx="73517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0"/>
              </a:lnSpc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EEF3F8"/>
                </a:solidFill>
                <a:latin typeface="Consolas"/>
                <a:ea typeface="Consolas"/>
                <a:cs typeface="Consolas"/>
                <a:sym typeface="Consolas"/>
              </a:rPr>
              <a:t>Qual é a capital da Noruega?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777240" y="4718304"/>
            <a:ext cx="3657600" cy="932688"/>
          </a:xfrm>
          <a:prstGeom prst="roundRect">
            <a:avLst>
              <a:gd fmla="val 7843" name="adj"/>
            </a:avLst>
          </a:prstGeom>
          <a:solidFill>
            <a:srgbClr val="1B3149"/>
          </a:solidFill>
          <a:ln cap="flat" cmpd="sng" w="15225">
            <a:solidFill>
              <a:srgbClr val="355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941832" y="4773168"/>
            <a:ext cx="332841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CE6F0"/>
                </a:solidFill>
                <a:latin typeface="Calibri"/>
                <a:ea typeface="Calibri"/>
                <a:cs typeface="Calibri"/>
                <a:sym typeface="Calibri"/>
              </a:rPr>
              <a:t>MODELO BASE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941832" y="5010912"/>
            <a:ext cx="33284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3"/>
              </a:lnSpc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EEF3F8"/>
                </a:solidFill>
                <a:latin typeface="Consolas"/>
                <a:ea typeface="Consolas"/>
                <a:cs typeface="Consolas"/>
                <a:sym typeface="Consolas"/>
              </a:rPr>
              <a:t>3. Qual é a língua mais falada da Coreia do Sul?  4. Qual é a …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4663440" y="4718304"/>
            <a:ext cx="3794760" cy="932688"/>
          </a:xfrm>
          <a:prstGeom prst="roundRect">
            <a:avLst>
              <a:gd fmla="val 7843" name="adj"/>
            </a:avLst>
          </a:prstGeom>
          <a:solidFill>
            <a:srgbClr val="1B3149"/>
          </a:solidFill>
          <a:ln cap="flat" cmpd="sng" w="15225">
            <a:solidFill>
              <a:srgbClr val="355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3"/>
          <p:cNvSpPr txBox="1"/>
          <p:nvPr/>
        </p:nvSpPr>
        <p:spPr>
          <a:xfrm>
            <a:off x="4828032" y="4773168"/>
            <a:ext cx="34655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CE6F0"/>
                </a:solidFill>
                <a:latin typeface="Calibri"/>
                <a:ea typeface="Calibri"/>
                <a:cs typeface="Calibri"/>
                <a:sym typeface="Calibri"/>
              </a:rPr>
              <a:t>DEPOIS DO SFT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4828032" y="5010912"/>
            <a:ext cx="3465576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0"/>
              </a:lnSpc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EEF3F8"/>
                </a:solidFill>
                <a:latin typeface="Consolas"/>
                <a:ea typeface="Consolas"/>
                <a:cs typeface="Consolas"/>
                <a:sym typeface="Consolas"/>
              </a:rPr>
              <a:t>A capital da Noruega é Oslo.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777240" y="5733288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4A9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7F94A9"/>
                </a:solidFill>
                <a:latin typeface="Calibri"/>
                <a:ea typeface="Calibri"/>
                <a:cs typeface="Calibri"/>
                <a:sym typeface="Calibri"/>
              </a:rPr>
              <a:t>texto gerado de verdade: a Noruega nunca apareceu nos exemplos de ajuste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p13"/>
          <p:cNvCxnSpPr/>
          <p:nvPr/>
        </p:nvCxnSpPr>
        <p:spPr>
          <a:xfrm>
            <a:off x="8732520" y="1188720"/>
            <a:ext cx="0" cy="4480560"/>
          </a:xfrm>
          <a:prstGeom prst="straightConnector1">
            <a:avLst/>
          </a:prstGeom>
          <a:noFill/>
          <a:ln cap="flat" cmpd="sng" w="12700">
            <a:solidFill>
              <a:srgbClr val="3550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3"/>
          <p:cNvSpPr txBox="1"/>
          <p:nvPr/>
        </p:nvSpPr>
        <p:spPr>
          <a:xfrm>
            <a:off x="9098280" y="118872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08A3C"/>
                </a:solidFill>
                <a:latin typeface="Calibri"/>
                <a:ea typeface="Calibri"/>
                <a:cs typeface="Calibri"/>
                <a:sym typeface="Calibri"/>
              </a:rPr>
              <a:t>A pergunta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9098280" y="1536192"/>
            <a:ext cx="237744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AFC0D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FC0D1"/>
                </a:solidFill>
                <a:latin typeface="Calibri"/>
                <a:ea typeface="Calibri"/>
                <a:cs typeface="Calibri"/>
                <a:sym typeface="Calibri"/>
              </a:rPr>
              <a:t>Um modelo pré-treinado sabe muita coisa, mas não responde: continua o texto. O que muda quando ele é ajustado com exemplos de pedidos e respostas?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9098280" y="3456432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08A3C"/>
                </a:solidFill>
                <a:latin typeface="Calibri"/>
                <a:ea typeface="Calibri"/>
                <a:cs typeface="Calibri"/>
                <a:sym typeface="Calibri"/>
              </a:rPr>
              <a:t>Conteúdo da seção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9098280" y="3785616"/>
            <a:ext cx="23774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8FA3B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8FA3B7"/>
                </a:solidFill>
                <a:latin typeface="Calibri"/>
                <a:ea typeface="Calibri"/>
                <a:cs typeface="Calibri"/>
                <a:sym typeface="Calibri"/>
              </a:rPr>
              <a:t>pré-treino, continuado e SFT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9130"/>
              </a:lnSpc>
              <a:spcBef>
                <a:spcPts val="300"/>
              </a:spcBef>
              <a:spcAft>
                <a:spcPts val="0"/>
              </a:spcAft>
              <a:buClr>
                <a:srgbClr val="8FA3B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8FA3B7"/>
                </a:solidFill>
                <a:latin typeface="Calibri"/>
                <a:ea typeface="Calibri"/>
                <a:cs typeface="Calibri"/>
                <a:sym typeface="Calibri"/>
              </a:rPr>
              <a:t>pares e conversas multi-turno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9130"/>
              </a:lnSpc>
              <a:spcBef>
                <a:spcPts val="300"/>
              </a:spcBef>
              <a:spcAft>
                <a:spcPts val="0"/>
              </a:spcAft>
              <a:buClr>
                <a:srgbClr val="8FA3B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8FA3B7"/>
                </a:solidFill>
                <a:latin typeface="Calibri"/>
                <a:ea typeface="Calibri"/>
                <a:cs typeface="Calibri"/>
                <a:sym typeface="Calibri"/>
              </a:rPr>
              <a:t>formato e chat templates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9130"/>
              </a:lnSpc>
              <a:spcBef>
                <a:spcPts val="300"/>
              </a:spcBef>
              <a:spcAft>
                <a:spcPts val="0"/>
              </a:spcAft>
              <a:buClr>
                <a:srgbClr val="8FA3B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8FA3B7"/>
                </a:solidFill>
                <a:latin typeface="Calibri"/>
                <a:ea typeface="Calibri"/>
                <a:cs typeface="Calibri"/>
                <a:sym typeface="Calibri"/>
              </a:rPr>
              <a:t>máscara da perda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9130"/>
              </a:lnSpc>
              <a:spcBef>
                <a:spcPts val="300"/>
              </a:spcBef>
              <a:spcAft>
                <a:spcPts val="0"/>
              </a:spcAft>
              <a:buClr>
                <a:srgbClr val="8FA3B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8FA3B7"/>
                </a:solidFill>
                <a:latin typeface="Calibri"/>
                <a:ea typeface="Calibri"/>
                <a:cs typeface="Calibri"/>
                <a:sym typeface="Calibri"/>
              </a:rPr>
              <a:t>qualidade, diversidade, balanceamento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9130"/>
              </a:lnSpc>
              <a:spcBef>
                <a:spcPts val="300"/>
              </a:spcBef>
              <a:spcAft>
                <a:spcPts val="0"/>
              </a:spcAft>
              <a:buClr>
                <a:srgbClr val="8FA3B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8FA3B7"/>
                </a:solidFill>
                <a:latin typeface="Calibri"/>
                <a:ea typeface="Calibri"/>
                <a:cs typeface="Calibri"/>
                <a:sym typeface="Calibri"/>
              </a:rPr>
              <a:t>esquecimento e avaliação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9130"/>
              </a:lnSpc>
              <a:spcBef>
                <a:spcPts val="300"/>
              </a:spcBef>
              <a:spcAft>
                <a:spcPts val="0"/>
              </a:spcAft>
              <a:buClr>
                <a:srgbClr val="8FA3B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8FA3B7"/>
                </a:solidFill>
                <a:latin typeface="Calibri"/>
                <a:ea typeface="Calibri"/>
                <a:cs typeface="Calibri"/>
                <a:sym typeface="Calibri"/>
              </a:rPr>
              <a:t>RLHF e RLVR no mapa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777240" y="61447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8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788D"/>
                </a:solidFill>
                <a:latin typeface="Calibri"/>
                <a:ea typeface="Calibri"/>
                <a:cs typeface="Calibri"/>
                <a:sym typeface="Calibri"/>
              </a:rPr>
              <a:t>Universidade Federal de Goiás  ·  Inteligência Artificial  · 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Estrutura da apresentação</a:t>
            </a:r>
            <a:endParaRPr sz="3100"/>
          </a:p>
        </p:txBody>
      </p:sp>
      <p:sp>
        <p:nvSpPr>
          <p:cNvPr id="85" name="Google Shape;85;p14"/>
          <p:cNvSpPr/>
          <p:nvPr/>
        </p:nvSpPr>
        <p:spPr>
          <a:xfrm>
            <a:off x="777240" y="1517904"/>
            <a:ext cx="10637215" cy="713232"/>
          </a:xfrm>
          <a:prstGeom prst="roundRect">
            <a:avLst>
              <a:gd fmla="val 10256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1051560" y="1691640"/>
            <a:ext cx="365760" cy="365760"/>
          </a:xfrm>
          <a:prstGeom prst="ellipse">
            <a:avLst/>
          </a:prstGeom>
          <a:solidFill>
            <a:srgbClr val="0F1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1051560" y="1691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1645920" y="160934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750"/>
              <a:buFont typeface="Cambria"/>
              <a:buNone/>
            </a:pPr>
            <a:r>
              <a:rPr b="1" i="0" lang="en-US" sz="175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Pergunta e motivação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1645920" y="1911096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Por que um modelo que sabe muito ainda não responde.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777240" y="2304288"/>
            <a:ext cx="10637215" cy="713232"/>
          </a:xfrm>
          <a:prstGeom prst="roundRect">
            <a:avLst>
              <a:gd fmla="val 10256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1051560" y="2478024"/>
            <a:ext cx="365760" cy="365760"/>
          </a:xfrm>
          <a:prstGeom prst="ellipse">
            <a:avLst/>
          </a:prstGeom>
          <a:solidFill>
            <a:srgbClr val="0F1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1051560" y="24780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645920" y="2395728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750"/>
              <a:buFont typeface="Cambria"/>
              <a:buNone/>
            </a:pPr>
            <a:r>
              <a:rPr b="1" i="0" lang="en-US" sz="175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Intuição e mapa conceitual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645920" y="269748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Onde o SFT entra no pós-treinamento e o que é instruction tuning.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777240" y="3090672"/>
            <a:ext cx="10637215" cy="713232"/>
          </a:xfrm>
          <a:prstGeom prst="roundRect">
            <a:avLst>
              <a:gd fmla="val 10256" name="adj"/>
            </a:avLst>
          </a:prstGeom>
          <a:solidFill>
            <a:srgbClr val="FBEFE1"/>
          </a:solidFill>
          <a:ln cap="flat" cmpd="sng" w="15225">
            <a:solidFill>
              <a:srgbClr val="E08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1051560" y="3264408"/>
            <a:ext cx="365760" cy="365760"/>
          </a:xfrm>
          <a:prstGeom prst="ellipse">
            <a:avLst/>
          </a:prstGeom>
          <a:solidFill>
            <a:srgbClr val="E08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51560" y="32644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645920" y="3182112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750"/>
              <a:buFont typeface="Cambria"/>
              <a:buNone/>
            </a:pPr>
            <a:r>
              <a:rPr b="1" i="0" lang="en-US" sz="175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Explicação técnica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645920" y="3483864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Dados, formato, perda e efeitos colaterais, medidos num ajuste real.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777240" y="3877056"/>
            <a:ext cx="10637215" cy="713232"/>
          </a:xfrm>
          <a:prstGeom prst="roundRect">
            <a:avLst>
              <a:gd fmla="val 10256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1051560" y="4050792"/>
            <a:ext cx="365760" cy="365760"/>
          </a:xfrm>
          <a:prstGeom prst="ellipse">
            <a:avLst/>
          </a:prstGeom>
          <a:solidFill>
            <a:srgbClr val="0F1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51560" y="40507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645920" y="3968496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750"/>
              <a:buFont typeface="Cambria"/>
              <a:buNone/>
            </a:pPr>
            <a:r>
              <a:rPr b="1" i="0" lang="en-US" sz="175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Visualização e artefato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645920" y="4270248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Um mini-GPT pré-treinado e ajustado, passo a passo, num notebook.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777240" y="4663440"/>
            <a:ext cx="10637215" cy="713232"/>
          </a:xfrm>
          <a:prstGeom prst="roundRect">
            <a:avLst>
              <a:gd fmla="val 10256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1051560" y="4837176"/>
            <a:ext cx="365760" cy="365760"/>
          </a:xfrm>
          <a:prstGeom prst="ellipse">
            <a:avLst/>
          </a:prstGeom>
          <a:solidFill>
            <a:srgbClr val="0F1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51560" y="483717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1645920" y="4754880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750"/>
              <a:buFont typeface="Cambria"/>
              <a:buNone/>
            </a:pPr>
            <a:r>
              <a:rPr b="1" i="0" lang="en-US" sz="175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Literatura e projeto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1645920" y="505663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Os artigos que definiram a receita e o que levamos para o projeto.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777240" y="5449824"/>
            <a:ext cx="10637215" cy="713232"/>
          </a:xfrm>
          <a:prstGeom prst="roundRect">
            <a:avLst>
              <a:gd fmla="val 10256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1051560" y="5623560"/>
            <a:ext cx="365760" cy="365760"/>
          </a:xfrm>
          <a:prstGeom prst="ellipse">
            <a:avLst/>
          </a:prstGeom>
          <a:solidFill>
            <a:srgbClr val="0F1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051560" y="56235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1645920" y="55412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750"/>
              <a:buFont typeface="Cambria"/>
              <a:buNone/>
            </a:pPr>
            <a:r>
              <a:rPr b="1" i="0" lang="en-US" sz="175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Síntese e limites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1645920" y="5843016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O que o SFT entrega e o que ele não resolve.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/>
        </p:nvSpPr>
        <p:spPr>
          <a:xfrm>
            <a:off x="777240" y="1783080"/>
            <a:ext cx="14630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3C"/>
              </a:buClr>
              <a:buSzPts val="9600"/>
              <a:buFont typeface="Cambria"/>
              <a:buNone/>
            </a:pPr>
            <a:r>
              <a:rPr b="1" i="0" lang="en-US" sz="9600" u="none" cap="none" strike="noStrike">
                <a:solidFill>
                  <a:srgbClr val="E08A3C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>
            <p:ph type="title"/>
          </p:nvPr>
        </p:nvSpPr>
        <p:spPr>
          <a:xfrm>
            <a:off x="2377440" y="2011680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Pergunta e motivação</a:t>
            </a:r>
            <a:endParaRPr sz="3600"/>
          </a:p>
        </p:txBody>
      </p:sp>
      <p:sp>
        <p:nvSpPr>
          <p:cNvPr id="123" name="Google Shape;123;p15"/>
          <p:cNvSpPr txBox="1"/>
          <p:nvPr/>
        </p:nvSpPr>
        <p:spPr>
          <a:xfrm>
            <a:off x="2404872" y="2761488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AC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9BACB"/>
                </a:solidFill>
                <a:latin typeface="Calibri"/>
                <a:ea typeface="Calibri"/>
                <a:cs typeface="Calibri"/>
                <a:sym typeface="Calibri"/>
              </a:rPr>
              <a:t>Por que um modelo que sabe muito ainda não responde.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15"/>
          <p:cNvCxnSpPr/>
          <p:nvPr/>
        </p:nvCxnSpPr>
        <p:spPr>
          <a:xfrm>
            <a:off x="8732520" y="1691640"/>
            <a:ext cx="0" cy="3566160"/>
          </a:xfrm>
          <a:prstGeom prst="straightConnector1">
            <a:avLst/>
          </a:prstGeom>
          <a:noFill/>
          <a:ln cap="flat" cmpd="sng" w="12700">
            <a:solidFill>
              <a:srgbClr val="3550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15"/>
          <p:cNvSpPr txBox="1"/>
          <p:nvPr/>
        </p:nvSpPr>
        <p:spPr>
          <a:xfrm>
            <a:off x="9098280" y="1691640"/>
            <a:ext cx="23774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C3D2D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3D2DF"/>
                </a:solidFill>
                <a:latin typeface="Calibri"/>
                <a:ea typeface="Calibri"/>
                <a:cs typeface="Calibri"/>
                <a:sym typeface="Calibri"/>
              </a:rPr>
              <a:t>A pergunta orientadora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4000"/>
              </a:lnSpc>
              <a:spcBef>
                <a:spcPts val="600"/>
              </a:spcBef>
              <a:spcAft>
                <a:spcPts val="0"/>
              </a:spcAft>
              <a:buClr>
                <a:srgbClr val="C3D2D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3D2DF"/>
                </a:solidFill>
                <a:latin typeface="Calibri"/>
                <a:ea typeface="Calibri"/>
                <a:cs typeface="Calibri"/>
                <a:sym typeface="Calibri"/>
              </a:rPr>
              <a:t>O mesmo pedido, dois modelos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4000"/>
              </a:lnSpc>
              <a:spcBef>
                <a:spcPts val="600"/>
              </a:spcBef>
              <a:spcAft>
                <a:spcPts val="0"/>
              </a:spcAft>
              <a:buClr>
                <a:srgbClr val="C3D2D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3D2DF"/>
                </a:solidFill>
                <a:latin typeface="Calibri"/>
                <a:ea typeface="Calibri"/>
                <a:cs typeface="Calibri"/>
                <a:sym typeface="Calibri"/>
              </a:rPr>
              <a:t>Pouco dado, grande mudança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5C70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A pergunta orientadora</a:t>
            </a:r>
            <a:endParaRPr sz="3100"/>
          </a:p>
        </p:txBody>
      </p:sp>
      <p:sp>
        <p:nvSpPr>
          <p:cNvPr id="133" name="Google Shape;133;p16"/>
          <p:cNvSpPr/>
          <p:nvPr/>
        </p:nvSpPr>
        <p:spPr>
          <a:xfrm>
            <a:off x="777240" y="1463040"/>
            <a:ext cx="10637215" cy="1188720"/>
          </a:xfrm>
          <a:prstGeom prst="roundRect">
            <a:avLst>
              <a:gd fmla="val 6154" name="adj"/>
            </a:avLst>
          </a:prstGeom>
          <a:solidFill>
            <a:srgbClr val="0F1C2E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234440" y="1463040"/>
            <a:ext cx="9722815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 que muda quando um modelo pré-treinado é ajustado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para responder instruções?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777240" y="2880360"/>
            <a:ext cx="3362858" cy="2834640"/>
          </a:xfrm>
          <a:prstGeom prst="roundRect">
            <a:avLst>
              <a:gd fmla="val 2581" name="adj"/>
            </a:avLst>
          </a:prstGeom>
          <a:solidFill>
            <a:srgbClr val="FBEFE1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1051560" y="3127248"/>
            <a:ext cx="402336" cy="402336"/>
          </a:xfrm>
          <a:prstGeom prst="ellipse">
            <a:avLst/>
          </a:prstGeom>
          <a:solidFill>
            <a:srgbClr val="E08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51560" y="312724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1581912" y="3054096"/>
            <a:ext cx="235701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Muda: o comportamento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1051560" y="3730752"/>
            <a:ext cx="281421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o modelo passa a responder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1051560" y="4059936"/>
            <a:ext cx="281421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Ele trata o texto como um pedido, responde no papel de assistente, no formato combinado, e sabe quando parar.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1051560" y="5248656"/>
            <a:ext cx="281421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&lt;|im_end|&gt; no fim da resposta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4414418" y="2880360"/>
            <a:ext cx="3362858" cy="2834640"/>
          </a:xfrm>
          <a:prstGeom prst="roundRect">
            <a:avLst>
              <a:gd fmla="val 2581" name="adj"/>
            </a:avLst>
          </a:prstGeom>
          <a:solidFill>
            <a:srgbClr val="E1F0ED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4688738" y="3127248"/>
            <a:ext cx="402336" cy="402336"/>
          </a:xfrm>
          <a:prstGeom prst="ellipse">
            <a:avLst/>
          </a:prstGeom>
          <a:solidFill>
            <a:srgbClr val="17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688738" y="312724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5219090" y="3054096"/>
            <a:ext cx="235701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Quase não muda: o que ele sabe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4688738" y="3730752"/>
            <a:ext cx="281421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E5F55"/>
                </a:solidFill>
                <a:latin typeface="Calibri"/>
                <a:ea typeface="Calibri"/>
                <a:cs typeface="Calibri"/>
                <a:sym typeface="Calibri"/>
              </a:rPr>
              <a:t>o conhecimento vem antes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4688738" y="4059936"/>
            <a:ext cx="281421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No nosso teste, o modelo ajustado respondeu sobre países que nunca apareceram nos exemplos de ajuste.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4688738" y="5248656"/>
            <a:ext cx="281421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0E5F55"/>
                </a:solidFill>
                <a:latin typeface="Consolas"/>
                <a:ea typeface="Consolas"/>
                <a:cs typeface="Consolas"/>
                <a:sym typeface="Consolas"/>
              </a:rPr>
              <a:t>96% de acerto fora do ajuste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8051597" y="2880360"/>
            <a:ext cx="3362858" cy="2834640"/>
          </a:xfrm>
          <a:prstGeom prst="roundRect">
            <a:avLst>
              <a:gd fmla="val 2581" name="adj"/>
            </a:avLst>
          </a:prstGeom>
          <a:solidFill>
            <a:srgbClr val="F8E3E0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8325917" y="3127248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8325917" y="312724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8856269" y="3054096"/>
            <a:ext cx="235701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Pode piorar: o que não foi revisado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8325917" y="3730752"/>
            <a:ext cx="281421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o ajuste tem custo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8325917" y="4059936"/>
            <a:ext cx="281421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Um ajuste agressivo apaga parte do pré-treino, e o modelo responde com confiança até quando não sabe.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8325917" y="5248656"/>
            <a:ext cx="281421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esquecimento · alucinação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777240" y="5870448"/>
            <a:ext cx="1063721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As três respostas organizam a seção 3 e voltam na síntese.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O mesmo pedido, dois modelos</a:t>
            </a:r>
            <a:endParaRPr sz="3100"/>
          </a:p>
        </p:txBody>
      </p:sp>
      <p:sp>
        <p:nvSpPr>
          <p:cNvPr id="164" name="Google Shape;164;p17"/>
          <p:cNvSpPr txBox="1"/>
          <p:nvPr/>
        </p:nvSpPr>
        <p:spPr>
          <a:xfrm>
            <a:off x="777240" y="1335024"/>
            <a:ext cx="106372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Um modelo base não decide responder: ele continua o texto mais provável.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777240" y="1828800"/>
            <a:ext cx="51357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GPT-3, em 2022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777240" y="2240280"/>
            <a:ext cx="5135728" cy="841248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52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941832" y="2295144"/>
            <a:ext cx="48065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PEDIDO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941832" y="2532888"/>
            <a:ext cx="4806544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Explain the moon landing to a 6 year old in a few sentences.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777240" y="3172968"/>
            <a:ext cx="5135728" cy="1188720"/>
          </a:xfrm>
          <a:prstGeom prst="roundRect">
            <a:avLst>
              <a:gd fmla="val 6154" name="adj"/>
            </a:avLst>
          </a:prstGeom>
          <a:solidFill>
            <a:srgbClr val="FBEFE1"/>
          </a:solidFill>
          <a:ln cap="flat" cmpd="sng" w="15225">
            <a:solidFill>
              <a:srgbClr val="E08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941832" y="3227832"/>
            <a:ext cx="48065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GPT-3 (MODELO BASE)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941832" y="3465576"/>
            <a:ext cx="4806544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Continuou com pedidos parecidos: explicar a gravidade, a relatividade, o big bang e a evolução a uma criança de 6 anos.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777240" y="4453128"/>
            <a:ext cx="5135728" cy="868680"/>
          </a:xfrm>
          <a:prstGeom prst="roundRect">
            <a:avLst>
              <a:gd fmla="val 8421" name="adj"/>
            </a:avLst>
          </a:prstGeom>
          <a:solidFill>
            <a:srgbClr val="E1F0ED"/>
          </a:solidFill>
          <a:ln cap="flat" cmpd="sng" w="152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941832" y="4507992"/>
            <a:ext cx="48065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E5F55"/>
                </a:solidFill>
                <a:latin typeface="Calibri"/>
                <a:ea typeface="Calibri"/>
                <a:cs typeface="Calibri"/>
                <a:sym typeface="Calibri"/>
              </a:rPr>
              <a:t>INSTRUCTGPT (DEPOIS DO AJUSTE)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941832" y="4745736"/>
            <a:ext cx="4806544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Respondeu: pessoas foram à Lua, tiraram fotos e as mandaram para a Terra.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6278728" y="1828800"/>
            <a:ext cx="51357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O nosso modelo base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6278728" y="2240280"/>
            <a:ext cx="5135728" cy="841248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52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443320" y="2295144"/>
            <a:ext cx="48065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PEDIDO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6443320" y="2532888"/>
            <a:ext cx="4806544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Qual é a capital do Peru?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6278728" y="3172968"/>
            <a:ext cx="5135728" cy="1188720"/>
          </a:xfrm>
          <a:prstGeom prst="roundRect">
            <a:avLst>
              <a:gd fmla="val 6154" name="adj"/>
            </a:avLst>
          </a:prstGeom>
          <a:solidFill>
            <a:srgbClr val="FBEFE1"/>
          </a:solidFill>
          <a:ln cap="flat" cmpd="sng" w="15225">
            <a:solidFill>
              <a:srgbClr val="E08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6443320" y="3227832"/>
            <a:ext cx="48065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MODELO BASE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6443320" y="3465576"/>
            <a:ext cx="4806544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3. Qual é a capital da Noruega?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4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4. Qual é a língua mais falada da Coreia do Sul?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6278728" y="4453128"/>
            <a:ext cx="5135728" cy="868680"/>
          </a:xfrm>
          <a:prstGeom prst="roundRect">
            <a:avLst>
              <a:gd fmla="val 8421" name="adj"/>
            </a:avLst>
          </a:prstGeom>
          <a:solidFill>
            <a:srgbClr val="E1F0ED"/>
          </a:solidFill>
          <a:ln cap="flat" cmpd="sng" w="152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6443320" y="4507992"/>
            <a:ext cx="48065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E5F55"/>
                </a:solidFill>
                <a:latin typeface="Calibri"/>
                <a:ea typeface="Calibri"/>
                <a:cs typeface="Calibri"/>
                <a:sym typeface="Calibri"/>
              </a:rPr>
              <a:t>O MESMO MODELO, COMPLETANDO UMA FRASE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6443320" y="4745736"/>
            <a:ext cx="4806544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A capital do Peru é Lima.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777240" y="5486400"/>
            <a:ext cx="10637215" cy="457200"/>
          </a:xfrm>
          <a:prstGeom prst="roundRect">
            <a:avLst>
              <a:gd fmla="val 16000" name="adj"/>
            </a:avLst>
          </a:prstGeom>
          <a:solidFill>
            <a:srgbClr val="0F1C2E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1051560" y="5486400"/>
            <a:ext cx="10088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conhecimento já está lá. O que falta é o comportamento de responder, e ele precisa ser ensinado.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777240" y="6016752"/>
            <a:ext cx="1063721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Esquerda: OpenAI (2022), Aligning language models to follow instructions (paráfrase do exemplo). Direita: saída real do nosso modelo base.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Pouco dado, grande mudança</a:t>
            </a:r>
            <a:endParaRPr sz="3100"/>
          </a:p>
        </p:txBody>
      </p:sp>
      <p:sp>
        <p:nvSpPr>
          <p:cNvPr id="195" name="Google Shape;195;p18"/>
          <p:cNvSpPr txBox="1"/>
          <p:nvPr/>
        </p:nvSpPr>
        <p:spPr>
          <a:xfrm>
            <a:off x="777240" y="1335024"/>
            <a:ext cx="106372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Perto do pré-treino, o ajuste por instruções é barato. O efeito no comportamento não é.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777240" y="1828800"/>
            <a:ext cx="2453564" cy="2514600"/>
          </a:xfrm>
          <a:prstGeom prst="roundRect">
            <a:avLst>
              <a:gd fmla="val 2981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1005840" y="1993392"/>
            <a:ext cx="19963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A55A18"/>
                </a:solidFill>
                <a:latin typeface="Cambria"/>
                <a:ea typeface="Cambria"/>
                <a:cs typeface="Cambria"/>
                <a:sym typeface="Cambria"/>
              </a:rPr>
              <a:t>&lt; 2%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1005840" y="2788920"/>
            <a:ext cx="199636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da computação e dos dados do pré-treino foram usados no ajuste do InstructGPT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1005840" y="3959352"/>
            <a:ext cx="19963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OpenAI, 2022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3505124" y="1828800"/>
            <a:ext cx="2453564" cy="2514600"/>
          </a:xfrm>
          <a:prstGeom prst="roundRect">
            <a:avLst>
              <a:gd fmla="val 2981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3733724" y="1993392"/>
            <a:ext cx="19963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0E5F55"/>
                </a:solidFill>
                <a:latin typeface="Cambria"/>
                <a:ea typeface="Cambria"/>
                <a:cs typeface="Cambria"/>
                <a:sym typeface="Cambria"/>
              </a:rPr>
              <a:t>100×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3733724" y="2788920"/>
            <a:ext cx="199636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menos parâmetros: o InstructGPT de 1,3 bilhão foi preferido pelas pessoas ao GPT-3 de 175 bilhões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3733724" y="3959352"/>
            <a:ext cx="19963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Ouyang et al., 2022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6233008" y="1828800"/>
            <a:ext cx="2453564" cy="2514600"/>
          </a:xfrm>
          <a:prstGeom prst="roundRect">
            <a:avLst>
              <a:gd fmla="val 2981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6461608" y="1993392"/>
            <a:ext cx="19963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A55A18"/>
                </a:solidFill>
                <a:latin typeface="Cambria"/>
                <a:ea typeface="Cambria"/>
                <a:cs typeface="Cambria"/>
                <a:sym typeface="Cambria"/>
              </a:rPr>
              <a:t>1.000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6461608" y="2788920"/>
            <a:ext cx="199636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exemplos curados: o LIMA (65B) ficou empatado ou melhor que o GPT-4 em 43% das comparações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6461608" y="3959352"/>
            <a:ext cx="19963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Zhou et al., 2023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8960891" y="1828800"/>
            <a:ext cx="2453564" cy="2514600"/>
          </a:xfrm>
          <a:prstGeom prst="roundRect">
            <a:avLst>
              <a:gd fmla="val 2981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9189491" y="1993392"/>
            <a:ext cx="19963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0E5F55"/>
                </a:solidFill>
                <a:latin typeface="Cambria"/>
                <a:ea typeface="Cambria"/>
                <a:cs typeface="Cambria"/>
                <a:sym typeface="Cambria"/>
              </a:rPr>
              <a:t>27.540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9189491" y="2788920"/>
            <a:ext cx="199636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anotações de SFT no Llama 2, depois de 2 trilhões de tokens de pré-treino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9189491" y="3959352"/>
            <a:ext cx="19963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Touvron et al., 2023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777240" y="4617720"/>
            <a:ext cx="10637215" cy="1143000"/>
          </a:xfrm>
          <a:prstGeom prst="roundRect">
            <a:avLst>
              <a:gd fmla="val 6400" name="adj"/>
            </a:avLst>
          </a:prstGeom>
          <a:solidFill>
            <a:srgbClr val="E1F0ED"/>
          </a:solidFill>
          <a:ln cap="flat" cmpd="sng" w="152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1097280" y="472744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E5F55"/>
                </a:solidFill>
                <a:latin typeface="Calibri"/>
                <a:ea typeface="Calibri"/>
                <a:cs typeface="Calibri"/>
                <a:sym typeface="Calibri"/>
              </a:rPr>
              <a:t>No nosso laboratório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1097280" y="5029200"/>
            <a:ext cx="9997135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600 conversas e 15 segundos de ajuste em CPU levaram o modelo de 0% para 96% de respostas certas sobre países que ficaram de fora dos exemplos. O pré-treino do mesmo modelo levou 42 s e 39.797 tokens de texto.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 txBox="1"/>
          <p:nvPr/>
        </p:nvSpPr>
        <p:spPr>
          <a:xfrm>
            <a:off x="777240" y="1783080"/>
            <a:ext cx="14630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3C"/>
              </a:buClr>
              <a:buSzPts val="9600"/>
              <a:buFont typeface="Cambria"/>
              <a:buNone/>
            </a:pPr>
            <a:r>
              <a:rPr b="1" i="0" lang="en-US" sz="9600" u="none" cap="none" strike="noStrike">
                <a:solidFill>
                  <a:srgbClr val="E08A3C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 txBox="1"/>
          <p:nvPr>
            <p:ph type="title"/>
          </p:nvPr>
        </p:nvSpPr>
        <p:spPr>
          <a:xfrm>
            <a:off x="2377440" y="2011680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Intuição e mapa conceitual</a:t>
            </a:r>
            <a:endParaRPr sz="3600"/>
          </a:p>
        </p:txBody>
      </p:sp>
      <p:sp>
        <p:nvSpPr>
          <p:cNvPr id="223" name="Google Shape;223;p19"/>
          <p:cNvSpPr txBox="1"/>
          <p:nvPr/>
        </p:nvSpPr>
        <p:spPr>
          <a:xfrm>
            <a:off x="2404872" y="2761488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AC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9BACB"/>
                </a:solidFill>
                <a:latin typeface="Calibri"/>
                <a:ea typeface="Calibri"/>
                <a:cs typeface="Calibri"/>
                <a:sym typeface="Calibri"/>
              </a:rPr>
              <a:t>Onde o SFT entra e o que é, afinal, instruction tuning.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19"/>
          <p:cNvCxnSpPr/>
          <p:nvPr/>
        </p:nvCxnSpPr>
        <p:spPr>
          <a:xfrm>
            <a:off x="8732520" y="1691640"/>
            <a:ext cx="0" cy="3566160"/>
          </a:xfrm>
          <a:prstGeom prst="straightConnector1">
            <a:avLst/>
          </a:prstGeom>
          <a:noFill/>
          <a:ln cap="flat" cmpd="sng" w="12700">
            <a:solidFill>
              <a:srgbClr val="3550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19"/>
          <p:cNvSpPr txBox="1"/>
          <p:nvPr/>
        </p:nvSpPr>
        <p:spPr>
          <a:xfrm>
            <a:off x="9098280" y="1691640"/>
            <a:ext cx="23774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C3D2D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3D2DF"/>
                </a:solidFill>
                <a:latin typeface="Calibri"/>
                <a:ea typeface="Calibri"/>
                <a:cs typeface="Calibri"/>
                <a:sym typeface="Calibri"/>
              </a:rPr>
              <a:t>O mapa do pós-treinamento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4000"/>
              </a:lnSpc>
              <a:spcBef>
                <a:spcPts val="600"/>
              </a:spcBef>
              <a:spcAft>
                <a:spcPts val="0"/>
              </a:spcAft>
              <a:buClr>
                <a:srgbClr val="C3D2D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3D2DF"/>
                </a:solidFill>
                <a:latin typeface="Calibri"/>
                <a:ea typeface="Calibri"/>
                <a:cs typeface="Calibri"/>
                <a:sym typeface="Calibri"/>
              </a:rPr>
              <a:t>Conhecimento × comportamento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4000"/>
              </a:lnSpc>
              <a:spcBef>
                <a:spcPts val="600"/>
              </a:spcBef>
              <a:spcAft>
                <a:spcPts val="0"/>
              </a:spcAft>
              <a:buClr>
                <a:srgbClr val="C3D2D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3D2DF"/>
                </a:solidFill>
                <a:latin typeface="Calibri"/>
                <a:ea typeface="Calibri"/>
                <a:cs typeface="Calibri"/>
                <a:sym typeface="Calibri"/>
              </a:rPr>
              <a:t>Instruction tuning, definido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4000"/>
              </a:lnSpc>
              <a:spcBef>
                <a:spcPts val="600"/>
              </a:spcBef>
              <a:spcAft>
                <a:spcPts val="0"/>
              </a:spcAft>
              <a:buClr>
                <a:srgbClr val="C3D2D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3D2DF"/>
                </a:solidFill>
                <a:latin typeface="Calibri"/>
                <a:ea typeface="Calibri"/>
                <a:cs typeface="Calibri"/>
                <a:sym typeface="Calibri"/>
              </a:rPr>
              <a:t>De onde vêm os dados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5C70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O mapa do pós-treinamento</a:t>
            </a:r>
            <a:endParaRPr sz="3100"/>
          </a:p>
        </p:txBody>
      </p:sp>
      <p:sp>
        <p:nvSpPr>
          <p:cNvPr id="233" name="Google Shape;233;p20"/>
          <p:cNvSpPr txBox="1"/>
          <p:nvPr/>
        </p:nvSpPr>
        <p:spPr>
          <a:xfrm>
            <a:off x="777240" y="1335024"/>
            <a:ext cx="106372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O mesmo modelo passa por etapas com sinais diferentes. Hoje: a etapa destacada.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777240" y="1874520"/>
            <a:ext cx="1893357" cy="2926080"/>
          </a:xfrm>
          <a:prstGeom prst="roundRect">
            <a:avLst>
              <a:gd fmla="val 3864" name="adj"/>
            </a:avLst>
          </a:prstGeom>
          <a:solidFill>
            <a:srgbClr val="EFF3F7"/>
          </a:solidFill>
          <a:ln cap="flat" cmpd="sng" w="152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914400" y="1984248"/>
            <a:ext cx="1619037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Pré-treino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914400" y="2679192"/>
            <a:ext cx="1619037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SINAL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914400" y="2880360"/>
            <a:ext cx="161903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texto bruto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914400" y="3172968"/>
            <a:ext cx="1619037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prever o próximo token em trilhões de tokens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914400" y="4050792"/>
            <a:ext cx="1619037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MUDA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914400" y="4251960"/>
            <a:ext cx="16190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0E5F55"/>
                </a:solidFill>
                <a:latin typeface="Calibri"/>
                <a:ea typeface="Calibri"/>
                <a:cs typeface="Calibri"/>
                <a:sym typeface="Calibri"/>
              </a:rPr>
              <a:t>língua e conhecimento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20"/>
          <p:cNvCxnSpPr/>
          <p:nvPr/>
        </p:nvCxnSpPr>
        <p:spPr>
          <a:xfrm>
            <a:off x="2707173" y="3337560"/>
            <a:ext cx="219456" cy="0"/>
          </a:xfrm>
          <a:prstGeom prst="straightConnector1">
            <a:avLst/>
          </a:prstGeom>
          <a:noFill/>
          <a:ln cap="flat" cmpd="sng" w="20300">
            <a:solidFill>
              <a:srgbClr val="8494A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2" name="Google Shape;242;p20"/>
          <p:cNvSpPr/>
          <p:nvPr/>
        </p:nvSpPr>
        <p:spPr>
          <a:xfrm>
            <a:off x="2963205" y="1874520"/>
            <a:ext cx="1893357" cy="2926080"/>
          </a:xfrm>
          <a:prstGeom prst="roundRect">
            <a:avLst>
              <a:gd fmla="val 3864" name="adj"/>
            </a:avLst>
          </a:prstGeom>
          <a:solidFill>
            <a:srgbClr val="EFF3F7"/>
          </a:solidFill>
          <a:ln cap="flat" cmpd="sng" w="152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3100365" y="1984248"/>
            <a:ext cx="1619037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Pré-treino continuado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3100365" y="2679192"/>
            <a:ext cx="1619037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SINAL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3100365" y="2880360"/>
            <a:ext cx="161903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texto de um domínio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3100365" y="3172968"/>
            <a:ext cx="1619037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o mesmo objetivo, com dados novos (opcional)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3100365" y="4050792"/>
            <a:ext cx="1619037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MUDA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3100365" y="4251960"/>
            <a:ext cx="16190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0E5F55"/>
                </a:solidFill>
                <a:latin typeface="Calibri"/>
                <a:ea typeface="Calibri"/>
                <a:cs typeface="Calibri"/>
                <a:sym typeface="Calibri"/>
              </a:rPr>
              <a:t>conhecimento do domínio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" name="Google Shape;249;p20"/>
          <p:cNvCxnSpPr/>
          <p:nvPr/>
        </p:nvCxnSpPr>
        <p:spPr>
          <a:xfrm>
            <a:off x="4893137" y="3337560"/>
            <a:ext cx="219456" cy="0"/>
          </a:xfrm>
          <a:prstGeom prst="straightConnector1">
            <a:avLst/>
          </a:prstGeom>
          <a:noFill/>
          <a:ln cap="flat" cmpd="sng" w="20300">
            <a:solidFill>
              <a:srgbClr val="8494A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0" name="Google Shape;250;p20"/>
          <p:cNvSpPr/>
          <p:nvPr/>
        </p:nvSpPr>
        <p:spPr>
          <a:xfrm>
            <a:off x="5149169" y="1874520"/>
            <a:ext cx="1893357" cy="2926080"/>
          </a:xfrm>
          <a:prstGeom prst="roundRect">
            <a:avLst>
              <a:gd fmla="val 3864" name="adj"/>
            </a:avLst>
          </a:prstGeom>
          <a:solidFill>
            <a:srgbClr val="FBEFE1"/>
          </a:solidFill>
          <a:ln cap="flat" cmpd="sng" w="15225">
            <a:solidFill>
              <a:srgbClr val="E08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5286329" y="1984248"/>
            <a:ext cx="1619037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A55A18"/>
                </a:solidFill>
                <a:latin typeface="Cambria"/>
                <a:ea typeface="Cambria"/>
                <a:cs typeface="Cambria"/>
                <a:sym typeface="Cambria"/>
              </a:rPr>
              <a:t>SFT / instruction tuning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5286329" y="2679192"/>
            <a:ext cx="1619037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SINAL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5286329" y="2880360"/>
            <a:ext cx="161903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demonstrações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5286329" y="3172968"/>
            <a:ext cx="1619037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pedido → resposta-alvo, perda na resposta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5286329" y="4050792"/>
            <a:ext cx="1619037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MUDA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5286329" y="4251960"/>
            <a:ext cx="16190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formato, papel, quando parar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20"/>
          <p:cNvCxnSpPr/>
          <p:nvPr/>
        </p:nvCxnSpPr>
        <p:spPr>
          <a:xfrm>
            <a:off x="7079102" y="3337560"/>
            <a:ext cx="219456" cy="0"/>
          </a:xfrm>
          <a:prstGeom prst="straightConnector1">
            <a:avLst/>
          </a:prstGeom>
          <a:noFill/>
          <a:ln cap="flat" cmpd="sng" w="20300">
            <a:solidFill>
              <a:srgbClr val="8494A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8" name="Google Shape;258;p20"/>
          <p:cNvSpPr/>
          <p:nvPr/>
        </p:nvSpPr>
        <p:spPr>
          <a:xfrm>
            <a:off x="7335134" y="1874520"/>
            <a:ext cx="1893357" cy="2926080"/>
          </a:xfrm>
          <a:prstGeom prst="roundRect">
            <a:avLst>
              <a:gd fmla="val 3864" name="adj"/>
            </a:avLst>
          </a:prstGeom>
          <a:solidFill>
            <a:srgbClr val="EFF3F7"/>
          </a:solidFill>
          <a:ln cap="flat" cmpd="sng" w="152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7472294" y="1984248"/>
            <a:ext cx="1619037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Preferências (RLHF, DPO)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7472294" y="2679192"/>
            <a:ext cx="1619037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SINAL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7472294" y="2880360"/>
            <a:ext cx="161903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comparações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7472294" y="3172968"/>
            <a:ext cx="1619037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a resposta A é melhor que a 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7472294" y="4050792"/>
            <a:ext cx="1619037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MUDA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7472294" y="4251960"/>
            <a:ext cx="16190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0E5F55"/>
                </a:solidFill>
                <a:latin typeface="Calibri"/>
                <a:ea typeface="Calibri"/>
                <a:cs typeface="Calibri"/>
                <a:sym typeface="Calibri"/>
              </a:rPr>
              <a:t>o que as pessoas preferem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p20"/>
          <p:cNvCxnSpPr/>
          <p:nvPr/>
        </p:nvCxnSpPr>
        <p:spPr>
          <a:xfrm>
            <a:off x="9265067" y="3337560"/>
            <a:ext cx="219456" cy="0"/>
          </a:xfrm>
          <a:prstGeom prst="straightConnector1">
            <a:avLst/>
          </a:prstGeom>
          <a:noFill/>
          <a:ln cap="flat" cmpd="sng" w="20300">
            <a:solidFill>
              <a:srgbClr val="8494A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6" name="Google Shape;266;p20"/>
          <p:cNvSpPr/>
          <p:nvPr/>
        </p:nvSpPr>
        <p:spPr>
          <a:xfrm>
            <a:off x="9521099" y="1874520"/>
            <a:ext cx="1893357" cy="2926080"/>
          </a:xfrm>
          <a:prstGeom prst="roundRect">
            <a:avLst>
              <a:gd fmla="val 3864" name="adj"/>
            </a:avLst>
          </a:prstGeom>
          <a:solidFill>
            <a:srgbClr val="EFF3F7"/>
          </a:solidFill>
          <a:ln cap="flat" cmpd="sng" w="152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9658259" y="1984248"/>
            <a:ext cx="1619037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RLVR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9658259" y="2679192"/>
            <a:ext cx="1619037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SINAL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9658259" y="2880360"/>
            <a:ext cx="161903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verificador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9658259" y="3172968"/>
            <a:ext cx="1619037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recompensa só se a resposta for conferida como certa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9658259" y="4050792"/>
            <a:ext cx="1619037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MUDA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9658259" y="4251960"/>
            <a:ext cx="16190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0E5F55"/>
                </a:solidFill>
                <a:latin typeface="Calibri"/>
                <a:ea typeface="Calibri"/>
                <a:cs typeface="Calibri"/>
                <a:sym typeface="Calibri"/>
              </a:rPr>
              <a:t>acerto onde dá para checar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5149169" y="1581912"/>
            <a:ext cx="1893357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hoje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7335134" y="1581912"/>
            <a:ext cx="4079321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só a posição no mapa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777240" y="5029200"/>
            <a:ext cx="10637215" cy="868680"/>
          </a:xfrm>
          <a:prstGeom prst="roundRect">
            <a:avLst>
              <a:gd fmla="val 8421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1051560" y="5029200"/>
            <a:ext cx="1008857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Receitas reais:  </a:t>
            </a: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InstructGPT: SFT → modelo de recompensa → PPO.  Llama 3: seis rodadas de SFT + DPO.  Tülu 3: SFT → DPO → RLVR.  DeepSeek-R1-Zero: RL direto no modelo base, com recompensas por regras.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1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Conhecimento × comportamento</a:t>
            </a:r>
            <a:endParaRPr sz="3100"/>
          </a:p>
        </p:txBody>
      </p:sp>
      <p:sp>
        <p:nvSpPr>
          <p:cNvPr id="284" name="Google Shape;284;p21"/>
          <p:cNvSpPr txBox="1"/>
          <p:nvPr/>
        </p:nvSpPr>
        <p:spPr>
          <a:xfrm>
            <a:off x="777240" y="1335024"/>
            <a:ext cx="106372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Uma intuição útil: o pré-treino ensina o que o modelo sabe; o SFT ensina como ele se comporta.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777240" y="1828800"/>
            <a:ext cx="4572000" cy="2926080"/>
          </a:xfrm>
          <a:prstGeom prst="roundRect">
            <a:avLst>
              <a:gd fmla="val 2500" name="adj"/>
            </a:avLst>
          </a:prstGeom>
          <a:solidFill>
            <a:srgbClr val="E1F0ED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1051560" y="1965960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E5F55"/>
                </a:solidFill>
                <a:latin typeface="Cambria"/>
                <a:ea typeface="Cambria"/>
                <a:cs typeface="Cambria"/>
                <a:sym typeface="Cambria"/>
              </a:rPr>
              <a:t>O que o pré-treino deixa pronto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1051560" y="2395728"/>
            <a:ext cx="4023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fatos, vocabulário, gramática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740"/>
              </a:lnSpc>
              <a:spcBef>
                <a:spcPts val="60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estilos de texto: verbete, lista, quiz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740"/>
              </a:lnSpc>
              <a:spcBef>
                <a:spcPts val="60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a continuação mais provável de qualquer começo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1051560" y="3703320"/>
            <a:ext cx="4023360" cy="868680"/>
          </a:xfrm>
          <a:prstGeom prst="roundRect">
            <a:avLst>
              <a:gd fmla="val 8421" name="adj"/>
            </a:avLst>
          </a:prstGeom>
          <a:solidFill>
            <a:srgbClr val="E1F0ED"/>
          </a:solidFill>
          <a:ln cap="flat" cmpd="sng" w="152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1"/>
          <p:cNvSpPr txBox="1"/>
          <p:nvPr/>
        </p:nvSpPr>
        <p:spPr>
          <a:xfrm>
            <a:off x="1216152" y="3758184"/>
            <a:ext cx="36941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E5F55"/>
                </a:solidFill>
                <a:latin typeface="Calibri"/>
                <a:ea typeface="Calibri"/>
                <a:cs typeface="Calibri"/>
                <a:sym typeface="Calibri"/>
              </a:rPr>
              <a:t>MODELO BASE, COMPLETANDO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1216152" y="3995928"/>
            <a:ext cx="3694176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A capital da Noruega é Oslo.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6842455" y="1828800"/>
            <a:ext cx="4572000" cy="2926080"/>
          </a:xfrm>
          <a:prstGeom prst="roundRect">
            <a:avLst>
              <a:gd fmla="val 2500" name="adj"/>
            </a:avLst>
          </a:prstGeom>
          <a:solidFill>
            <a:srgbClr val="FBEFE1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7116775" y="1965960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A55A18"/>
                </a:solidFill>
                <a:latin typeface="Cambria"/>
                <a:ea typeface="Cambria"/>
                <a:cs typeface="Cambria"/>
                <a:sym typeface="Cambria"/>
              </a:rPr>
              <a:t>O que ainda falta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7116775" y="2395728"/>
            <a:ext cx="4023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tratar o texto como um pedido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740"/>
              </a:lnSpc>
              <a:spcBef>
                <a:spcPts val="60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responder no papel de assistente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740"/>
              </a:lnSpc>
              <a:spcBef>
                <a:spcPts val="60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seguir o formato e parar no fim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7116775" y="3703320"/>
            <a:ext cx="4023360" cy="868680"/>
          </a:xfrm>
          <a:prstGeom prst="roundRect">
            <a:avLst>
              <a:gd fmla="val 8421" name="adj"/>
            </a:avLst>
          </a:prstGeom>
          <a:solidFill>
            <a:srgbClr val="FBEFE1"/>
          </a:solidFill>
          <a:ln cap="flat" cmpd="sng" w="15225">
            <a:solidFill>
              <a:srgbClr val="E08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7281367" y="3758184"/>
            <a:ext cx="36941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MODELO BASE, PERGUNTADO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7281367" y="3995928"/>
            <a:ext cx="3694176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3. Qual é a língua mais falada da Coreia do Sul?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21"/>
          <p:cNvCxnSpPr/>
          <p:nvPr/>
        </p:nvCxnSpPr>
        <p:spPr>
          <a:xfrm>
            <a:off x="5532120" y="3291840"/>
            <a:ext cx="1127455" cy="0"/>
          </a:xfrm>
          <a:prstGeom prst="straightConnector1">
            <a:avLst/>
          </a:prstGeom>
          <a:noFill/>
          <a:ln cap="flat" cmpd="sng" w="27925">
            <a:solidFill>
              <a:srgbClr val="E08A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8" name="Google Shape;298;p21"/>
          <p:cNvSpPr txBox="1"/>
          <p:nvPr/>
        </p:nvSpPr>
        <p:spPr>
          <a:xfrm>
            <a:off x="5349240" y="2926080"/>
            <a:ext cx="14932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A55A18"/>
                </a:solidFill>
                <a:latin typeface="Cambria"/>
                <a:ea typeface="Cambria"/>
                <a:cs typeface="Cambria"/>
                <a:sym typeface="Cambria"/>
              </a:rPr>
              <a:t>SFT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777240" y="4983480"/>
            <a:ext cx="10637215" cy="960120"/>
          </a:xfrm>
          <a:prstGeom prst="roundRect">
            <a:avLst>
              <a:gd fmla="val 7619" name="adj"/>
            </a:avLst>
          </a:prstGeom>
          <a:solidFill>
            <a:srgbClr val="0F1C2E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1"/>
          <p:cNvSpPr txBox="1"/>
          <p:nvPr/>
        </p:nvSpPr>
        <p:spPr>
          <a:xfrm>
            <a:off x="1097280" y="4983480"/>
            <a:ext cx="9997135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E08A3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E08A3C"/>
                </a:solidFill>
                <a:latin typeface="Calibri"/>
                <a:ea typeface="Calibri"/>
                <a:cs typeface="Calibri"/>
                <a:sym typeface="Calibri"/>
              </a:rPr>
              <a:t>Hipótese do alinhamento superficial (LIMA): </a:t>
            </a:r>
            <a:r>
              <a:rPr b="0" i="0" lang="en-US" sz="1350" u="none" cap="none" strike="noStrike">
                <a:solidFill>
                  <a:srgbClr val="DCE6F0"/>
                </a:solidFill>
                <a:latin typeface="Calibri"/>
                <a:ea typeface="Calibri"/>
                <a:cs typeface="Calibri"/>
                <a:sym typeface="Calibri"/>
              </a:rPr>
              <a:t>o conhecimento vem quase todo do pré-treino; o ajuste ensina qual formato usar. É uma hipótese,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2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Instruction tuning, definido</a:t>
            </a:r>
            <a:endParaRPr sz="3100"/>
          </a:p>
        </p:txBody>
      </p:sp>
      <p:sp>
        <p:nvSpPr>
          <p:cNvPr id="308" name="Google Shape;308;p22"/>
          <p:cNvSpPr/>
          <p:nvPr/>
        </p:nvSpPr>
        <p:spPr>
          <a:xfrm>
            <a:off x="777240" y="1463040"/>
            <a:ext cx="10637215" cy="868680"/>
          </a:xfrm>
          <a:prstGeom prst="roundRect">
            <a:avLst>
              <a:gd fmla="val 8421" name="adj"/>
            </a:avLst>
          </a:prstGeom>
          <a:solidFill>
            <a:srgbClr val="0F1C2E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2"/>
          <p:cNvSpPr txBox="1"/>
          <p:nvPr/>
        </p:nvSpPr>
        <p:spPr>
          <a:xfrm>
            <a:off x="1097280" y="1463040"/>
            <a:ext cx="999713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483"/>
              </a:lnSpc>
              <a:spcBef>
                <a:spcPts val="0"/>
              </a:spcBef>
              <a:spcAft>
                <a:spcPts val="0"/>
              </a:spcAft>
              <a:buClr>
                <a:srgbClr val="E08A3C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E08A3C"/>
                </a:solidFill>
                <a:latin typeface="Calibri"/>
                <a:ea typeface="Calibri"/>
                <a:cs typeface="Calibri"/>
                <a:sym typeface="Calibri"/>
              </a:rPr>
              <a:t>Instruction tuning: </a:t>
            </a:r>
            <a:r>
              <a:rPr b="0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treino supervisionado adicional em pares (instrução, resposta), para que o modelo siga instruções, inclusive de tarefas que nunca viu.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777240" y="2560320"/>
            <a:ext cx="5760720" cy="3246120"/>
          </a:xfrm>
          <a:prstGeom prst="roundRect">
            <a:avLst>
              <a:gd fmla="val 2254" name="adj"/>
            </a:avLst>
          </a:prstGeom>
          <a:solidFill>
            <a:srgbClr val="EFF3F7"/>
          </a:solidFill>
          <a:ln cap="flat" cmpd="sng" w="152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2"/>
          <p:cNvSpPr txBox="1"/>
          <p:nvPr/>
        </p:nvSpPr>
        <p:spPr>
          <a:xfrm>
            <a:off x="1005840" y="2670048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SFT: o método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 txBox="1"/>
          <p:nvPr/>
        </p:nvSpPr>
        <p:spPr>
          <a:xfrm>
            <a:off x="1005840" y="2962656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imitar respostas-alvo com entropia cruzada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1051560" y="3337560"/>
            <a:ext cx="5212080" cy="2286000"/>
          </a:xfrm>
          <a:prstGeom prst="roundRect">
            <a:avLst>
              <a:gd fmla="val 3200" name="adj"/>
            </a:avLst>
          </a:prstGeom>
          <a:solidFill>
            <a:srgbClr val="FBEFE1"/>
          </a:solidFill>
          <a:ln cap="flat" cmpd="sng" w="15225">
            <a:solidFill>
              <a:srgbClr val="E08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1280160" y="3447288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A55A18"/>
                </a:solidFill>
                <a:latin typeface="Cambria"/>
                <a:ea typeface="Cambria"/>
                <a:cs typeface="Cambria"/>
                <a:sym typeface="Cambria"/>
              </a:rPr>
              <a:t>Instruction tuning: os dados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 txBox="1"/>
          <p:nvPr/>
        </p:nvSpPr>
        <p:spPr>
          <a:xfrm>
            <a:off x="1280160" y="3739896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instruções em linguagem natural, de muitas tarefas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1325880" y="4114800"/>
            <a:ext cx="4663440" cy="1325880"/>
          </a:xfrm>
          <a:prstGeom prst="roundRect">
            <a:avLst>
              <a:gd fmla="val 5517" name="adj"/>
            </a:avLst>
          </a:prstGeom>
          <a:solidFill>
            <a:srgbClr val="E1F0ED"/>
          </a:solidFill>
          <a:ln cap="flat" cmpd="sng" w="152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2"/>
          <p:cNvSpPr txBox="1"/>
          <p:nvPr/>
        </p:nvSpPr>
        <p:spPr>
          <a:xfrm>
            <a:off x="1554480" y="4224528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E5F55"/>
                </a:solidFill>
                <a:latin typeface="Cambria"/>
                <a:ea typeface="Cambria"/>
                <a:cs typeface="Cambria"/>
                <a:sym typeface="Cambria"/>
              </a:rPr>
              <a:t>Chat tuning: o formato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 txBox="1"/>
          <p:nvPr/>
        </p:nvSpPr>
        <p:spPr>
          <a:xfrm>
            <a:off x="1554480" y="4517136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conversas multi-turno, com papéis (system, user, assistant)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 txBox="1"/>
          <p:nvPr/>
        </p:nvSpPr>
        <p:spPr>
          <a:xfrm>
            <a:off x="1554480" y="4846320"/>
            <a:ext cx="4206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E5F55"/>
                </a:solidFill>
                <a:latin typeface="Consolas"/>
                <a:ea typeface="Consolas"/>
                <a:cs typeface="Consolas"/>
                <a:sym typeface="Consolas"/>
              </a:rPr>
              <a:t>user: Qual é a capital da Noruega?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E5F55"/>
                </a:solidFill>
                <a:latin typeface="Consolas"/>
                <a:ea typeface="Consolas"/>
                <a:cs typeface="Consolas"/>
                <a:sym typeface="Consolas"/>
              </a:rPr>
              <a:t>assistant: A capital da Noruega é Oslo.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 txBox="1"/>
          <p:nvPr/>
        </p:nvSpPr>
        <p:spPr>
          <a:xfrm>
            <a:off x="6858000" y="2560320"/>
            <a:ext cx="45564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A mesma máquina, dados diferentes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 txBox="1"/>
          <p:nvPr/>
        </p:nvSpPr>
        <p:spPr>
          <a:xfrm>
            <a:off x="6858000" y="2889504"/>
            <a:ext cx="455645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SFT de uma tarefa só (classificar sentimento) não é instruction tuning. Misturar 'resuma', 'traduza', 'classifique', 'responda' é. Pôr isso em conversas é chat tuning.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 txBox="1"/>
          <p:nvPr/>
        </p:nvSpPr>
        <p:spPr>
          <a:xfrm>
            <a:off x="6858000" y="3931920"/>
            <a:ext cx="45564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E5F55"/>
                </a:solidFill>
                <a:latin typeface="Calibri"/>
                <a:ea typeface="Calibri"/>
                <a:cs typeface="Calibri"/>
                <a:sym typeface="Calibri"/>
              </a:rPr>
              <a:t>O objetivo é generalizar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 txBox="1"/>
          <p:nvPr/>
        </p:nvSpPr>
        <p:spPr>
          <a:xfrm>
            <a:off x="6858000" y="4261104"/>
            <a:ext cx="455645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No FLAN, um modelo de 137B ajustado em 62 datasets superou o GPT-3 175B zero-shot em 20 de 25 datasets de tarefas que ele não viu no ajuste.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2"/>
          <p:cNvSpPr txBox="1"/>
          <p:nvPr/>
        </p:nvSpPr>
        <p:spPr>
          <a:xfrm>
            <a:off x="6858000" y="5257800"/>
            <a:ext cx="45564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Em LLMs, quando se diz 'SFT', quase sempre é isto.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2"/>
          <p:cNvSpPr txBox="1"/>
          <p:nvPr/>
        </p:nvSpPr>
        <p:spPr>
          <a:xfrm>
            <a:off x="777240" y="5943600"/>
            <a:ext cx="1063721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Definição: Zhang et al. (2023), survey de instruction tuning (paráfrase). FLAN: Wei et al. (2021).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2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3"/>
          <p:cNvSpPr txBox="1"/>
          <p:nvPr>
            <p:ph type="title"/>
          </p:nvPr>
        </p:nvSpPr>
        <p:spPr>
          <a:xfrm>
            <a:off x="777240" y="676656"/>
            <a:ext cx="10637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lang="en-US"/>
              <a:t>RLHF</a:t>
            </a:r>
            <a:endParaRPr sz="3100"/>
          </a:p>
        </p:txBody>
      </p:sp>
      <p:pic>
        <p:nvPicPr>
          <p:cNvPr id="333" name="Google Shape;3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900" y="1383325"/>
            <a:ext cx="11001448" cy="525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"/>
          <p:cNvSpPr txBox="1"/>
          <p:nvPr/>
        </p:nvSpPr>
        <p:spPr>
          <a:xfrm>
            <a:off x="777240" y="1783080"/>
            <a:ext cx="14630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3C"/>
              </a:buClr>
              <a:buSzPts val="9600"/>
              <a:buFont typeface="Cambria"/>
              <a:buNone/>
            </a:pPr>
            <a:r>
              <a:rPr b="1" i="0" lang="en-US" sz="9600" u="none" cap="none" strike="noStrike">
                <a:solidFill>
                  <a:srgbClr val="E08A3C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4"/>
          <p:cNvSpPr txBox="1"/>
          <p:nvPr>
            <p:ph type="title"/>
          </p:nvPr>
        </p:nvSpPr>
        <p:spPr>
          <a:xfrm>
            <a:off x="2377440" y="2011680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Explicação técnica</a:t>
            </a:r>
            <a:endParaRPr sz="3600"/>
          </a:p>
        </p:txBody>
      </p:sp>
      <p:sp>
        <p:nvSpPr>
          <p:cNvPr id="341" name="Google Shape;341;p24"/>
          <p:cNvSpPr txBox="1"/>
          <p:nvPr/>
        </p:nvSpPr>
        <p:spPr>
          <a:xfrm>
            <a:off x="2404872" y="2761488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AC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9BACB"/>
                </a:solidFill>
                <a:latin typeface="Calibri"/>
                <a:ea typeface="Calibri"/>
                <a:cs typeface="Calibri"/>
                <a:sym typeface="Calibri"/>
              </a:rPr>
              <a:t>Dados, formato, perda e efeitos colaterais, medidos num ajuste real.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" name="Google Shape;342;p24"/>
          <p:cNvCxnSpPr/>
          <p:nvPr/>
        </p:nvCxnSpPr>
        <p:spPr>
          <a:xfrm>
            <a:off x="8732520" y="1691640"/>
            <a:ext cx="0" cy="3566160"/>
          </a:xfrm>
          <a:prstGeom prst="straightConnector1">
            <a:avLst/>
          </a:prstGeom>
          <a:noFill/>
          <a:ln cap="flat" cmpd="sng" w="12700">
            <a:solidFill>
              <a:srgbClr val="3550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24"/>
          <p:cNvSpPr txBox="1"/>
          <p:nvPr/>
        </p:nvSpPr>
        <p:spPr>
          <a:xfrm>
            <a:off x="9098280" y="1691640"/>
            <a:ext cx="23774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C3D2D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3D2DF"/>
                </a:solidFill>
                <a:latin typeface="Calibri"/>
                <a:ea typeface="Calibri"/>
                <a:cs typeface="Calibri"/>
                <a:sym typeface="Calibri"/>
              </a:rPr>
              <a:t>Nosso laboratório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4000"/>
              </a:lnSpc>
              <a:spcBef>
                <a:spcPts val="600"/>
              </a:spcBef>
              <a:spcAft>
                <a:spcPts val="0"/>
              </a:spcAft>
              <a:buClr>
                <a:srgbClr val="C3D2D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3D2DF"/>
                </a:solidFill>
                <a:latin typeface="Calibri"/>
                <a:ea typeface="Calibri"/>
                <a:cs typeface="Calibri"/>
                <a:sym typeface="Calibri"/>
              </a:rPr>
              <a:t>Pré-treino, continuado e SFT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4000"/>
              </a:lnSpc>
              <a:spcBef>
                <a:spcPts val="600"/>
              </a:spcBef>
              <a:spcAft>
                <a:spcPts val="0"/>
              </a:spcAft>
              <a:buClr>
                <a:srgbClr val="C3D2D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3D2DF"/>
                </a:solidFill>
                <a:latin typeface="Calibri"/>
                <a:ea typeface="Calibri"/>
                <a:cs typeface="Calibri"/>
                <a:sym typeface="Calibri"/>
              </a:rPr>
              <a:t>Pares e conversas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4000"/>
              </a:lnSpc>
              <a:spcBef>
                <a:spcPts val="600"/>
              </a:spcBef>
              <a:spcAft>
                <a:spcPts val="0"/>
              </a:spcAft>
              <a:buClr>
                <a:srgbClr val="C3D2D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3D2DF"/>
                </a:solidFill>
                <a:latin typeface="Calibri"/>
                <a:ea typeface="Calibri"/>
                <a:cs typeface="Calibri"/>
                <a:sym typeface="Calibri"/>
              </a:rPr>
              <a:t>Chat templates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4000"/>
              </a:lnSpc>
              <a:spcBef>
                <a:spcPts val="600"/>
              </a:spcBef>
              <a:spcAft>
                <a:spcPts val="0"/>
              </a:spcAft>
              <a:buClr>
                <a:srgbClr val="C3D2D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3D2DF"/>
                </a:solidFill>
                <a:latin typeface="Calibri"/>
                <a:ea typeface="Calibri"/>
                <a:cs typeface="Calibri"/>
                <a:sym typeface="Calibri"/>
              </a:rPr>
              <a:t>Máscara da perda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4000"/>
              </a:lnSpc>
              <a:spcBef>
                <a:spcPts val="600"/>
              </a:spcBef>
              <a:spcAft>
                <a:spcPts val="0"/>
              </a:spcAft>
              <a:buClr>
                <a:srgbClr val="C3D2D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3D2DF"/>
                </a:solidFill>
                <a:latin typeface="Calibri"/>
                <a:ea typeface="Calibri"/>
                <a:cs typeface="Calibri"/>
                <a:sym typeface="Calibri"/>
              </a:rPr>
              <a:t>Qualidade, diversidade, balanceamento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4000"/>
              </a:lnSpc>
              <a:spcBef>
                <a:spcPts val="600"/>
              </a:spcBef>
              <a:spcAft>
                <a:spcPts val="0"/>
              </a:spcAft>
              <a:buClr>
                <a:srgbClr val="C3D2D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3D2DF"/>
                </a:solidFill>
                <a:latin typeface="Calibri"/>
                <a:ea typeface="Calibri"/>
                <a:cs typeface="Calibri"/>
                <a:sym typeface="Calibri"/>
              </a:rPr>
              <a:t>Esquecimento e avaliação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4000"/>
              </a:lnSpc>
              <a:spcBef>
                <a:spcPts val="600"/>
              </a:spcBef>
              <a:spcAft>
                <a:spcPts val="0"/>
              </a:spcAft>
              <a:buClr>
                <a:srgbClr val="C3D2D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3D2DF"/>
                </a:solidFill>
                <a:latin typeface="Calibri"/>
                <a:ea typeface="Calibri"/>
                <a:cs typeface="Calibri"/>
                <a:sym typeface="Calibri"/>
              </a:rPr>
              <a:t>RLHF e RLVR no mapa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4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5C70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Nosso laboratório</a:t>
            </a:r>
            <a:endParaRPr sz="3100"/>
          </a:p>
        </p:txBody>
      </p:sp>
      <p:sp>
        <p:nvSpPr>
          <p:cNvPr id="351" name="Google Shape;351;p25"/>
          <p:cNvSpPr txBox="1"/>
          <p:nvPr/>
        </p:nvSpPr>
        <p:spPr>
          <a:xfrm>
            <a:off x="777240" y="1335024"/>
            <a:ext cx="106372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Um mundo sintético: sabemos o que o modelo viu em cada etapa. Os 17 países de teste só aparecem no pré-treino.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5"/>
          <p:cNvSpPr/>
          <p:nvPr/>
        </p:nvSpPr>
        <p:spPr>
          <a:xfrm>
            <a:off x="777240" y="1828800"/>
            <a:ext cx="3301898" cy="2606040"/>
          </a:xfrm>
          <a:prstGeom prst="roundRect">
            <a:avLst>
              <a:gd fmla="val 2807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5"/>
          <p:cNvSpPr/>
          <p:nvPr/>
        </p:nvSpPr>
        <p:spPr>
          <a:xfrm>
            <a:off x="1005840" y="1993392"/>
            <a:ext cx="402336" cy="402336"/>
          </a:xfrm>
          <a:prstGeom prst="ellipse">
            <a:avLst/>
          </a:prstGeom>
          <a:solidFill>
            <a:srgbClr val="E08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5"/>
          <p:cNvSpPr txBox="1"/>
          <p:nvPr/>
        </p:nvSpPr>
        <p:spPr>
          <a:xfrm>
            <a:off x="1005840" y="199339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5"/>
          <p:cNvSpPr txBox="1"/>
          <p:nvPr/>
        </p:nvSpPr>
        <p:spPr>
          <a:xfrm>
            <a:off x="1527048" y="1993392"/>
            <a:ext cx="238749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O mundo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5"/>
          <p:cNvSpPr txBox="1"/>
          <p:nvPr/>
        </p:nvSpPr>
        <p:spPr>
          <a:xfrm>
            <a:off x="1033272" y="2560320"/>
            <a:ext cx="2844698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42 países: capital, língua e continente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10 países sem capital no texto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1.248 verbetes e 240 listas de quiz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39.797 tokens de treino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7" name="Google Shape;357;p25"/>
          <p:cNvCxnSpPr/>
          <p:nvPr/>
        </p:nvCxnSpPr>
        <p:spPr>
          <a:xfrm>
            <a:off x="4134002" y="3127248"/>
            <a:ext cx="256032" cy="0"/>
          </a:xfrm>
          <a:prstGeom prst="straightConnector1">
            <a:avLst/>
          </a:prstGeom>
          <a:noFill/>
          <a:ln cap="flat" cmpd="sng" w="22850">
            <a:solidFill>
              <a:srgbClr val="8494A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8" name="Google Shape;358;p25"/>
          <p:cNvSpPr/>
          <p:nvPr/>
        </p:nvSpPr>
        <p:spPr>
          <a:xfrm>
            <a:off x="4444898" y="1828800"/>
            <a:ext cx="3301898" cy="2606040"/>
          </a:xfrm>
          <a:prstGeom prst="roundRect">
            <a:avLst>
              <a:gd fmla="val 2807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5"/>
          <p:cNvSpPr/>
          <p:nvPr/>
        </p:nvSpPr>
        <p:spPr>
          <a:xfrm>
            <a:off x="4673498" y="1993392"/>
            <a:ext cx="402336" cy="402336"/>
          </a:xfrm>
          <a:prstGeom prst="ellipse">
            <a:avLst/>
          </a:prstGeom>
          <a:solidFill>
            <a:srgbClr val="0F1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5"/>
          <p:cNvSpPr txBox="1"/>
          <p:nvPr/>
        </p:nvSpPr>
        <p:spPr>
          <a:xfrm>
            <a:off x="4673498" y="199339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5"/>
          <p:cNvSpPr txBox="1"/>
          <p:nvPr/>
        </p:nvSpPr>
        <p:spPr>
          <a:xfrm>
            <a:off x="5194706" y="1993392"/>
            <a:ext cx="238749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Pré-treino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5"/>
          <p:cNvSpPr txBox="1"/>
          <p:nvPr/>
        </p:nvSpPr>
        <p:spPr>
          <a:xfrm>
            <a:off x="4700930" y="2560320"/>
            <a:ext cx="2844698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mini-GPT: 2 camadas, 132.352 parâmetros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cada palavra é um token (220 no total)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800 passos, 42 s em CPU, numpy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completa 100% dos fatos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" name="Google Shape;363;p25"/>
          <p:cNvCxnSpPr/>
          <p:nvPr/>
        </p:nvCxnSpPr>
        <p:spPr>
          <a:xfrm>
            <a:off x="7801661" y="3127248"/>
            <a:ext cx="256032" cy="0"/>
          </a:xfrm>
          <a:prstGeom prst="straightConnector1">
            <a:avLst/>
          </a:prstGeom>
          <a:noFill/>
          <a:ln cap="flat" cmpd="sng" w="22850">
            <a:solidFill>
              <a:srgbClr val="8494A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4" name="Google Shape;364;p25"/>
          <p:cNvSpPr/>
          <p:nvPr/>
        </p:nvSpPr>
        <p:spPr>
          <a:xfrm>
            <a:off x="8112557" y="1828800"/>
            <a:ext cx="3301898" cy="2606040"/>
          </a:xfrm>
          <a:prstGeom prst="roundRect">
            <a:avLst>
              <a:gd fmla="val 2807" name="adj"/>
            </a:avLst>
          </a:prstGeom>
          <a:solidFill>
            <a:srgbClr val="E1F0ED"/>
          </a:solidFill>
          <a:ln cap="flat" cmpd="sng" w="152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5"/>
          <p:cNvSpPr/>
          <p:nvPr/>
        </p:nvSpPr>
        <p:spPr>
          <a:xfrm>
            <a:off x="8341157" y="1993392"/>
            <a:ext cx="402336" cy="402336"/>
          </a:xfrm>
          <a:prstGeom prst="ellipse">
            <a:avLst/>
          </a:prstGeom>
          <a:solidFill>
            <a:srgbClr val="17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5"/>
          <p:cNvSpPr txBox="1"/>
          <p:nvPr/>
        </p:nvSpPr>
        <p:spPr>
          <a:xfrm>
            <a:off x="8341157" y="199339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5"/>
          <p:cNvSpPr txBox="1"/>
          <p:nvPr/>
        </p:nvSpPr>
        <p:spPr>
          <a:xfrm>
            <a:off x="8862365" y="1993392"/>
            <a:ext cx="238749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SFT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5"/>
          <p:cNvSpPr txBox="1"/>
          <p:nvPr/>
        </p:nvSpPr>
        <p:spPr>
          <a:xfrm>
            <a:off x="8368589" y="2560320"/>
            <a:ext cx="2844698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600 conversas sobre 25 países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17 países ficam de fora, para teste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300 passos, 15 s; perda só na resposta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4 de 32 linhas do lote: texto do pré-treino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5"/>
          <p:cNvSpPr/>
          <p:nvPr/>
        </p:nvSpPr>
        <p:spPr>
          <a:xfrm>
            <a:off x="777240" y="4663440"/>
            <a:ext cx="5577840" cy="1143000"/>
          </a:xfrm>
          <a:prstGeom prst="roundRect">
            <a:avLst>
              <a:gd fmla="val 6400" name="adj"/>
            </a:avLst>
          </a:prstGeom>
          <a:solidFill>
            <a:srgbClr val="EFF3F7"/>
          </a:solidFill>
          <a:ln cap="flat" cmpd="sng" w="152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5"/>
          <p:cNvSpPr txBox="1"/>
          <p:nvPr/>
        </p:nvSpPr>
        <p:spPr>
          <a:xfrm>
            <a:off x="941832" y="4718304"/>
            <a:ext cx="52486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UM VERBETE DO CORPUS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5"/>
          <p:cNvSpPr txBox="1"/>
          <p:nvPr/>
        </p:nvSpPr>
        <p:spPr>
          <a:xfrm>
            <a:off x="941832" y="4956048"/>
            <a:ext cx="5248656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3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Um dos países da América do Sul é o Peru. A maioria das pessoas no Peru fala espanhol. O Peru tem Lima como capital.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5"/>
          <p:cNvSpPr/>
          <p:nvPr/>
        </p:nvSpPr>
        <p:spPr>
          <a:xfrm>
            <a:off x="6629400" y="4663440"/>
            <a:ext cx="4785055" cy="1143000"/>
          </a:xfrm>
          <a:prstGeom prst="roundRect">
            <a:avLst>
              <a:gd fmla="val 6400" name="adj"/>
            </a:avLst>
          </a:prstGeom>
          <a:solidFill>
            <a:srgbClr val="EFF3F7"/>
          </a:solidFill>
          <a:ln cap="flat" cmpd="sng" w="152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5"/>
          <p:cNvSpPr txBox="1"/>
          <p:nvPr/>
        </p:nvSpPr>
        <p:spPr>
          <a:xfrm>
            <a:off x="6793992" y="4718304"/>
            <a:ext cx="445587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UMA LISTA DE QUIZ (SEM RESPOSTAS)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5"/>
          <p:cNvSpPr txBox="1"/>
          <p:nvPr/>
        </p:nvSpPr>
        <p:spPr>
          <a:xfrm>
            <a:off x="6793992" y="4956048"/>
            <a:ext cx="4455871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3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Quiz de geografia:  1. Qual a capital do Laos?  2. Qual é o continente de Portugal?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5"/>
          <p:cNvSpPr txBox="1"/>
          <p:nvPr/>
        </p:nvSpPr>
        <p:spPr>
          <a:xfrm>
            <a:off x="777240" y="5943600"/>
            <a:ext cx="1063721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LLMs reais usam subpalavras (semana 2) e bilhões de parâmetros; aqui o objetivo é ver o mecanismo, não a escala.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5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6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Pré-treino, pré-treino continuado e SFT</a:t>
            </a:r>
            <a:endParaRPr sz="3100"/>
          </a:p>
        </p:txBody>
      </p:sp>
      <p:sp>
        <p:nvSpPr>
          <p:cNvPr id="383" name="Google Shape;383;p26"/>
          <p:cNvSpPr txBox="1"/>
          <p:nvPr/>
        </p:nvSpPr>
        <p:spPr>
          <a:xfrm>
            <a:off x="777240" y="1335024"/>
            <a:ext cx="106372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A perda é a mesma: entropia cruzada do próximo token. Mudam os dados e as posições que contam.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4" name="Google Shape;384;p26"/>
          <p:cNvGraphicFramePr/>
          <p:nvPr/>
        </p:nvGraphicFramePr>
        <p:xfrm>
          <a:off x="77724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{83FBAB76-F08C-4BF7-AD8D-538174606A3E}</a:tableStyleId>
              </a:tblPr>
              <a:tblGrid>
                <a:gridCol w="2011675"/>
                <a:gridCol w="2880350"/>
                <a:gridCol w="2880350"/>
                <a:gridCol w="28620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t/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Pré-treino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Pré-treino continuado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C2E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C2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F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Dados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texto bruto e amplo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texto bruto de um domínio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pares pedido → resposta, conversas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C2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F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Escala real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Llama 3: ~15 trilhões de tokens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 Llama: +500 bilhões de tokens de código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Llama 2: 27.540 exemplos; LIMA: 1.000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C2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F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Onde a perda conta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 todo token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 todo token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 geral, só na resposta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C2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F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 que muda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língua e conhecimento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conhecimento do domínio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formato, papel, quando parar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C2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F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Taxa de aprendizado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Llama 2: pico de 3e-4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re-aquecer e re-decair a taxa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Llama 2: 2e-5 (15× menor)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C2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F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Risco principal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esquecer o resto: use replay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esquecer, decorar, inventar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385" name="Google Shape;385;p26"/>
          <p:cNvSpPr/>
          <p:nvPr/>
        </p:nvSpPr>
        <p:spPr>
          <a:xfrm>
            <a:off x="777240" y="4709160"/>
            <a:ext cx="10637215" cy="1143000"/>
          </a:xfrm>
          <a:prstGeom prst="roundRect">
            <a:avLst>
              <a:gd fmla="val 6400" name="adj"/>
            </a:avLst>
          </a:prstGeom>
          <a:solidFill>
            <a:srgbClr val="E1F0ED"/>
          </a:solidFill>
          <a:ln cap="flat" cmpd="sng" w="152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6"/>
          <p:cNvSpPr txBox="1"/>
          <p:nvPr/>
        </p:nvSpPr>
        <p:spPr>
          <a:xfrm>
            <a:off x="1051560" y="48006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E5F55"/>
                </a:solidFill>
                <a:latin typeface="Calibri"/>
                <a:ea typeface="Calibri"/>
                <a:cs typeface="Calibri"/>
                <a:sym typeface="Calibri"/>
              </a:rPr>
              <a:t>No nosso mundo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6"/>
          <p:cNvSpPr txBox="1"/>
          <p:nvPr/>
        </p:nvSpPr>
        <p:spPr>
          <a:xfrm>
            <a:off x="1051560" y="5084064"/>
            <a:ext cx="1008857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6 países novos entraram só por pré-treino continuado. Completar fatos sobre eles: 17% → 100%. Responder perguntas sobre eles depois do SFT: só SFT, 0%; pré-treino continuado + SFT, 56%. O conhecimento entra pelo pré-treino; o SFT ensina a usá-lo, e o que foi aprendido tarde é mais difícil de usar.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6"/>
          <p:cNvSpPr txBox="1"/>
          <p:nvPr/>
        </p:nvSpPr>
        <p:spPr>
          <a:xfrm>
            <a:off x="777240" y="5943600"/>
            <a:ext cx="1063721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Grattafiori et al. 2024; Rozière et al. 2023; Touvron et al. 2023; Zhou et al. 2023; Ibrahim et al. 2024.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6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7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Pares instrução–resposta</a:t>
            </a:r>
            <a:endParaRPr sz="3100"/>
          </a:p>
        </p:txBody>
      </p:sp>
      <p:sp>
        <p:nvSpPr>
          <p:cNvPr id="396" name="Google Shape;396;p27"/>
          <p:cNvSpPr txBox="1"/>
          <p:nvPr/>
        </p:nvSpPr>
        <p:spPr>
          <a:xfrm>
            <a:off x="777240" y="1335024"/>
            <a:ext cx="106372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A unidade básica do SFT: um pedido, um contexto opcional e a resposta que queremos imitar.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7"/>
          <p:cNvSpPr txBox="1"/>
          <p:nvPr/>
        </p:nvSpPr>
        <p:spPr>
          <a:xfrm>
            <a:off x="777240" y="17830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Formato de tarefa (estilo Alpaca)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7"/>
          <p:cNvSpPr/>
          <p:nvPr/>
        </p:nvSpPr>
        <p:spPr>
          <a:xfrm>
            <a:off x="777240" y="2148840"/>
            <a:ext cx="5120640" cy="2103120"/>
          </a:xfrm>
          <a:prstGeom prst="roundRect">
            <a:avLst>
              <a:gd fmla="val 3478" name="adj"/>
            </a:avLst>
          </a:prstGeom>
          <a:solidFill>
            <a:srgbClr val="0F1C2E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7"/>
          <p:cNvSpPr txBox="1"/>
          <p:nvPr/>
        </p:nvSpPr>
        <p:spPr>
          <a:xfrm>
            <a:off x="1051560" y="2148840"/>
            <a:ext cx="46634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DCE6F0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DCE6F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DCE6F0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DCE6F0"/>
                </a:solidFill>
                <a:latin typeface="Consolas"/>
                <a:ea typeface="Consolas"/>
                <a:cs typeface="Consolas"/>
                <a:sym typeface="Consolas"/>
              </a:rPr>
              <a:t>  "instruction": "Resuma o texto em uma frase.",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DCE6F0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DCE6F0"/>
                </a:solidFill>
                <a:latin typeface="Consolas"/>
                <a:ea typeface="Consolas"/>
                <a:cs typeface="Consolas"/>
                <a:sym typeface="Consolas"/>
              </a:rPr>
              <a:t>  "input": "O ajuste fino adapta um modelo...",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DCE6F0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DCE6F0"/>
                </a:solidFill>
                <a:latin typeface="Consolas"/>
                <a:ea typeface="Consolas"/>
                <a:cs typeface="Consolas"/>
                <a:sym typeface="Consolas"/>
              </a:rPr>
              <a:t>  "output": "O texto explica como ajustar..."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DCE6F0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DCE6F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7"/>
          <p:cNvSpPr txBox="1"/>
          <p:nvPr/>
        </p:nvSpPr>
        <p:spPr>
          <a:xfrm>
            <a:off x="777240" y="4297680"/>
            <a:ext cx="5120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exemplo ilustrativo de formato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7"/>
          <p:cNvSpPr txBox="1"/>
          <p:nvPr/>
        </p:nvSpPr>
        <p:spPr>
          <a:xfrm>
            <a:off x="6309360" y="1783080"/>
            <a:ext cx="510509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Formato de mensagens (o nosso)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6309360" y="2148840"/>
            <a:ext cx="5105095" cy="603504"/>
          </a:xfrm>
          <a:prstGeom prst="roundRect">
            <a:avLst>
              <a:gd fmla="val 12121" name="adj"/>
            </a:avLst>
          </a:prstGeom>
          <a:solidFill>
            <a:srgbClr val="EFF3F7"/>
          </a:solidFill>
          <a:ln cap="flat" cmpd="sng" w="152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7"/>
          <p:cNvSpPr txBox="1"/>
          <p:nvPr/>
        </p:nvSpPr>
        <p:spPr>
          <a:xfrm>
            <a:off x="6473952" y="2203704"/>
            <a:ext cx="477591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7"/>
          <p:cNvSpPr txBox="1"/>
          <p:nvPr/>
        </p:nvSpPr>
        <p:spPr>
          <a:xfrm>
            <a:off x="6473952" y="2441448"/>
            <a:ext cx="4775911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Responda em uma frase.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7"/>
          <p:cNvSpPr/>
          <p:nvPr/>
        </p:nvSpPr>
        <p:spPr>
          <a:xfrm>
            <a:off x="6309360" y="2834640"/>
            <a:ext cx="5105095" cy="603504"/>
          </a:xfrm>
          <a:prstGeom prst="roundRect">
            <a:avLst>
              <a:gd fmla="val 12121" name="adj"/>
            </a:avLst>
          </a:prstGeom>
          <a:solidFill>
            <a:srgbClr val="FFFFFF"/>
          </a:solidFill>
          <a:ln cap="flat" cmpd="sng" w="152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7"/>
          <p:cNvSpPr txBox="1"/>
          <p:nvPr/>
        </p:nvSpPr>
        <p:spPr>
          <a:xfrm>
            <a:off x="6473952" y="2889504"/>
            <a:ext cx="477591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7"/>
          <p:cNvSpPr txBox="1"/>
          <p:nvPr/>
        </p:nvSpPr>
        <p:spPr>
          <a:xfrm>
            <a:off x="6473952" y="3127248"/>
            <a:ext cx="4775911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Qual é a língua mais falada da Espanha?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7"/>
          <p:cNvSpPr/>
          <p:nvPr/>
        </p:nvSpPr>
        <p:spPr>
          <a:xfrm>
            <a:off x="6309360" y="3520440"/>
            <a:ext cx="5105095" cy="603504"/>
          </a:xfrm>
          <a:prstGeom prst="roundRect">
            <a:avLst>
              <a:gd fmla="val 12121" name="adj"/>
            </a:avLst>
          </a:prstGeom>
          <a:solidFill>
            <a:srgbClr val="E1F0ED"/>
          </a:solidFill>
          <a:ln cap="flat" cmpd="sng" w="152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7"/>
          <p:cNvSpPr txBox="1"/>
          <p:nvPr/>
        </p:nvSpPr>
        <p:spPr>
          <a:xfrm>
            <a:off x="6473952" y="3575304"/>
            <a:ext cx="477591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E5F55"/>
                </a:solidFill>
                <a:latin typeface="Calibri"/>
                <a:ea typeface="Calibri"/>
                <a:cs typeface="Calibri"/>
                <a:sym typeface="Calibri"/>
              </a:rPr>
              <a:t>ASSISTANT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7"/>
          <p:cNvSpPr txBox="1"/>
          <p:nvPr/>
        </p:nvSpPr>
        <p:spPr>
          <a:xfrm>
            <a:off x="6473952" y="3813048"/>
            <a:ext cx="4775911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Na Espanha, fala-se espanhol.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7"/>
          <p:cNvSpPr txBox="1"/>
          <p:nvPr/>
        </p:nvSpPr>
        <p:spPr>
          <a:xfrm>
            <a:off x="6309360" y="4297680"/>
            <a:ext cx="5105095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um exemplo real dos nossos dados de ajuste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7"/>
          <p:cNvSpPr/>
          <p:nvPr/>
        </p:nvSpPr>
        <p:spPr>
          <a:xfrm>
            <a:off x="777240" y="4709160"/>
            <a:ext cx="10637215" cy="1143000"/>
          </a:xfrm>
          <a:prstGeom prst="roundRect">
            <a:avLst>
              <a:gd fmla="val 6400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7"/>
          <p:cNvSpPr txBox="1"/>
          <p:nvPr/>
        </p:nvSpPr>
        <p:spPr>
          <a:xfrm>
            <a:off x="1051560" y="4800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Tarefas típicas num conjunto de instruções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7"/>
          <p:cNvSpPr/>
          <p:nvPr/>
        </p:nvSpPr>
        <p:spPr>
          <a:xfrm>
            <a:off x="1051560" y="5230368"/>
            <a:ext cx="1932654" cy="365760"/>
          </a:xfrm>
          <a:prstGeom prst="roundRect">
            <a:avLst>
              <a:gd fmla="val 15000" name="adj"/>
            </a:avLst>
          </a:prstGeom>
          <a:solidFill>
            <a:srgbClr val="FBEFE1"/>
          </a:solidFill>
          <a:ln cap="flat" cmpd="sng" w="11425">
            <a:solidFill>
              <a:srgbClr val="E08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7"/>
          <p:cNvSpPr txBox="1"/>
          <p:nvPr/>
        </p:nvSpPr>
        <p:spPr>
          <a:xfrm>
            <a:off x="1051560" y="5230368"/>
            <a:ext cx="193265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pergunta e resposta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7"/>
          <p:cNvSpPr/>
          <p:nvPr/>
        </p:nvSpPr>
        <p:spPr>
          <a:xfrm>
            <a:off x="3121374" y="5230368"/>
            <a:ext cx="798005" cy="365760"/>
          </a:xfrm>
          <a:prstGeom prst="roundRect">
            <a:avLst>
              <a:gd fmla="val 15000" name="adj"/>
            </a:avLst>
          </a:prstGeom>
          <a:solidFill>
            <a:srgbClr val="FBEFE1"/>
          </a:solidFill>
          <a:ln cap="flat" cmpd="sng" w="11425">
            <a:solidFill>
              <a:srgbClr val="E08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7"/>
          <p:cNvSpPr txBox="1"/>
          <p:nvPr/>
        </p:nvSpPr>
        <p:spPr>
          <a:xfrm>
            <a:off x="3121374" y="5230368"/>
            <a:ext cx="79800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resumo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7"/>
          <p:cNvSpPr/>
          <p:nvPr/>
        </p:nvSpPr>
        <p:spPr>
          <a:xfrm>
            <a:off x="4056539" y="5230368"/>
            <a:ext cx="1059847" cy="365760"/>
          </a:xfrm>
          <a:prstGeom prst="roundRect">
            <a:avLst>
              <a:gd fmla="val 15000" name="adj"/>
            </a:avLst>
          </a:prstGeom>
          <a:solidFill>
            <a:srgbClr val="FBEFE1"/>
          </a:solidFill>
          <a:ln cap="flat" cmpd="sng" w="11425">
            <a:solidFill>
              <a:srgbClr val="E08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7"/>
          <p:cNvSpPr txBox="1"/>
          <p:nvPr/>
        </p:nvSpPr>
        <p:spPr>
          <a:xfrm>
            <a:off x="4056539" y="5230368"/>
            <a:ext cx="105984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reescrita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7"/>
          <p:cNvSpPr/>
          <p:nvPr/>
        </p:nvSpPr>
        <p:spPr>
          <a:xfrm>
            <a:off x="5253546" y="5230368"/>
            <a:ext cx="972566" cy="365760"/>
          </a:xfrm>
          <a:prstGeom prst="roundRect">
            <a:avLst>
              <a:gd fmla="val 15000" name="adj"/>
            </a:avLst>
          </a:prstGeom>
          <a:solidFill>
            <a:srgbClr val="FBEFE1"/>
          </a:solidFill>
          <a:ln cap="flat" cmpd="sng" w="11425">
            <a:solidFill>
              <a:srgbClr val="E08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7"/>
          <p:cNvSpPr txBox="1"/>
          <p:nvPr/>
        </p:nvSpPr>
        <p:spPr>
          <a:xfrm>
            <a:off x="5253546" y="5230368"/>
            <a:ext cx="97256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extração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7"/>
          <p:cNvSpPr/>
          <p:nvPr/>
        </p:nvSpPr>
        <p:spPr>
          <a:xfrm>
            <a:off x="6363271" y="5230368"/>
            <a:ext cx="1408970" cy="365760"/>
          </a:xfrm>
          <a:prstGeom prst="roundRect">
            <a:avLst>
              <a:gd fmla="val 15000" name="adj"/>
            </a:avLst>
          </a:prstGeom>
          <a:solidFill>
            <a:srgbClr val="FBEFE1"/>
          </a:solidFill>
          <a:ln cap="flat" cmpd="sng" w="11425">
            <a:solidFill>
              <a:srgbClr val="E08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7"/>
          <p:cNvSpPr txBox="1"/>
          <p:nvPr/>
        </p:nvSpPr>
        <p:spPr>
          <a:xfrm>
            <a:off x="6363271" y="5230368"/>
            <a:ext cx="140897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classificação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7"/>
          <p:cNvSpPr/>
          <p:nvPr/>
        </p:nvSpPr>
        <p:spPr>
          <a:xfrm>
            <a:off x="7909401" y="5230368"/>
            <a:ext cx="798005" cy="365760"/>
          </a:xfrm>
          <a:prstGeom prst="roundRect">
            <a:avLst>
              <a:gd fmla="val 15000" name="adj"/>
            </a:avLst>
          </a:prstGeom>
          <a:solidFill>
            <a:srgbClr val="FBEFE1"/>
          </a:solidFill>
          <a:ln cap="flat" cmpd="sng" w="11425">
            <a:solidFill>
              <a:srgbClr val="E08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7"/>
          <p:cNvSpPr txBox="1"/>
          <p:nvPr/>
        </p:nvSpPr>
        <p:spPr>
          <a:xfrm>
            <a:off x="7909401" y="5230368"/>
            <a:ext cx="79800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código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7"/>
          <p:cNvSpPr/>
          <p:nvPr/>
        </p:nvSpPr>
        <p:spPr>
          <a:xfrm>
            <a:off x="8844566" y="5230368"/>
            <a:ext cx="1408970" cy="365760"/>
          </a:xfrm>
          <a:prstGeom prst="roundRect">
            <a:avLst>
              <a:gd fmla="val 15000" name="adj"/>
            </a:avLst>
          </a:prstGeom>
          <a:solidFill>
            <a:srgbClr val="FBEFE1"/>
          </a:solidFill>
          <a:ln cap="flat" cmpd="sng" w="11425">
            <a:solidFill>
              <a:srgbClr val="E08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7"/>
          <p:cNvSpPr txBox="1"/>
          <p:nvPr/>
        </p:nvSpPr>
        <p:spPr>
          <a:xfrm>
            <a:off x="8844566" y="5230368"/>
            <a:ext cx="140897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recusa segura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7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8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Conversas multi-turno</a:t>
            </a:r>
            <a:endParaRPr sz="3100"/>
          </a:p>
        </p:txBody>
      </p:sp>
      <p:sp>
        <p:nvSpPr>
          <p:cNvPr id="435" name="Google Shape;435;p28"/>
          <p:cNvSpPr txBox="1"/>
          <p:nvPr/>
        </p:nvSpPr>
        <p:spPr>
          <a:xfrm>
            <a:off x="777240" y="1335024"/>
            <a:ext cx="106372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A cada turno, o modelo relê a conversa inteira. Sem o histórico, a segunda pergunta não tem sentido.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8"/>
          <p:cNvSpPr/>
          <p:nvPr/>
        </p:nvSpPr>
        <p:spPr>
          <a:xfrm>
            <a:off x="777240" y="1810512"/>
            <a:ext cx="5760720" cy="566928"/>
          </a:xfrm>
          <a:prstGeom prst="roundRect">
            <a:avLst>
              <a:gd fmla="val 12903" name="adj"/>
            </a:avLst>
          </a:prstGeom>
          <a:solidFill>
            <a:srgbClr val="EFF3F7"/>
          </a:solidFill>
          <a:ln cap="flat" cmpd="sng" w="152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8"/>
          <p:cNvSpPr txBox="1"/>
          <p:nvPr/>
        </p:nvSpPr>
        <p:spPr>
          <a:xfrm>
            <a:off x="941832" y="1865376"/>
            <a:ext cx="5431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8"/>
          <p:cNvSpPr txBox="1"/>
          <p:nvPr/>
        </p:nvSpPr>
        <p:spPr>
          <a:xfrm>
            <a:off x="941832" y="2103120"/>
            <a:ext cx="5431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Responda em uma frase.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8"/>
          <p:cNvSpPr/>
          <p:nvPr/>
        </p:nvSpPr>
        <p:spPr>
          <a:xfrm>
            <a:off x="777240" y="2468880"/>
            <a:ext cx="5760720" cy="566928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52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8"/>
          <p:cNvSpPr txBox="1"/>
          <p:nvPr/>
        </p:nvSpPr>
        <p:spPr>
          <a:xfrm>
            <a:off x="941832" y="2523744"/>
            <a:ext cx="5431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USER  ·  TURNO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8"/>
          <p:cNvSpPr txBox="1"/>
          <p:nvPr/>
        </p:nvSpPr>
        <p:spPr>
          <a:xfrm>
            <a:off x="941832" y="2761488"/>
            <a:ext cx="5431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Qual é a língua mais falada da Espanha?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8"/>
          <p:cNvSpPr/>
          <p:nvPr/>
        </p:nvSpPr>
        <p:spPr>
          <a:xfrm>
            <a:off x="777240" y="3127248"/>
            <a:ext cx="5760720" cy="566928"/>
          </a:xfrm>
          <a:prstGeom prst="roundRect">
            <a:avLst>
              <a:gd fmla="val 12903" name="adj"/>
            </a:avLst>
          </a:prstGeom>
          <a:solidFill>
            <a:srgbClr val="E1F0ED"/>
          </a:solidFill>
          <a:ln cap="flat" cmpd="sng" w="152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8"/>
          <p:cNvSpPr txBox="1"/>
          <p:nvPr/>
        </p:nvSpPr>
        <p:spPr>
          <a:xfrm>
            <a:off x="941832" y="3182112"/>
            <a:ext cx="5431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E5F55"/>
                </a:solidFill>
                <a:latin typeface="Calibri"/>
                <a:ea typeface="Calibri"/>
                <a:cs typeface="Calibri"/>
                <a:sym typeface="Calibri"/>
              </a:rPr>
              <a:t>ASSISTANT  ·  TURNO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8"/>
          <p:cNvSpPr txBox="1"/>
          <p:nvPr/>
        </p:nvSpPr>
        <p:spPr>
          <a:xfrm>
            <a:off x="941832" y="3419856"/>
            <a:ext cx="5431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Na Espanha, fala-se espanhol.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8"/>
          <p:cNvSpPr/>
          <p:nvPr/>
        </p:nvSpPr>
        <p:spPr>
          <a:xfrm>
            <a:off x="777240" y="3785616"/>
            <a:ext cx="5760720" cy="566928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52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8"/>
          <p:cNvSpPr txBox="1"/>
          <p:nvPr/>
        </p:nvSpPr>
        <p:spPr>
          <a:xfrm>
            <a:off x="941832" y="3840480"/>
            <a:ext cx="5431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USER  ·  TURNO 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8"/>
          <p:cNvSpPr txBox="1"/>
          <p:nvPr/>
        </p:nvSpPr>
        <p:spPr>
          <a:xfrm>
            <a:off x="941832" y="4078224"/>
            <a:ext cx="5431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E a capital?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8"/>
          <p:cNvSpPr/>
          <p:nvPr/>
        </p:nvSpPr>
        <p:spPr>
          <a:xfrm>
            <a:off x="777240" y="4443984"/>
            <a:ext cx="5760720" cy="566928"/>
          </a:xfrm>
          <a:prstGeom prst="roundRect">
            <a:avLst>
              <a:gd fmla="val 12903" name="adj"/>
            </a:avLst>
          </a:prstGeom>
          <a:solidFill>
            <a:srgbClr val="E1F0ED"/>
          </a:solidFill>
          <a:ln cap="flat" cmpd="sng" w="152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8"/>
          <p:cNvSpPr txBox="1"/>
          <p:nvPr/>
        </p:nvSpPr>
        <p:spPr>
          <a:xfrm>
            <a:off x="941832" y="4498848"/>
            <a:ext cx="5431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E5F55"/>
                </a:solidFill>
                <a:latin typeface="Calibri"/>
                <a:ea typeface="Calibri"/>
                <a:cs typeface="Calibri"/>
                <a:sym typeface="Calibri"/>
              </a:rPr>
              <a:t>ASSISTANT  ·  TURNO 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8"/>
          <p:cNvSpPr txBox="1"/>
          <p:nvPr/>
        </p:nvSpPr>
        <p:spPr>
          <a:xfrm>
            <a:off x="941832" y="4736592"/>
            <a:ext cx="54315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A capital da Espanha é Madri.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1" name="Google Shape;451;p28"/>
          <p:cNvCxnSpPr/>
          <p:nvPr/>
        </p:nvCxnSpPr>
        <p:spPr>
          <a:xfrm>
            <a:off x="6675120" y="2743200"/>
            <a:ext cx="0" cy="1965960"/>
          </a:xfrm>
          <a:prstGeom prst="straightConnector1">
            <a:avLst/>
          </a:prstGeom>
          <a:noFill/>
          <a:ln cap="flat" cmpd="sng" w="25400">
            <a:solidFill>
              <a:srgbClr val="E08A3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52" name="Google Shape;452;p28"/>
          <p:cNvSpPr txBox="1"/>
          <p:nvPr/>
        </p:nvSpPr>
        <p:spPr>
          <a:xfrm>
            <a:off x="6812280" y="329184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'E a capital?' só pode ser respondida olhando o turno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8"/>
          <p:cNvSpPr/>
          <p:nvPr/>
        </p:nvSpPr>
        <p:spPr>
          <a:xfrm>
            <a:off x="8458200" y="1810512"/>
            <a:ext cx="2956255" cy="3200400"/>
          </a:xfrm>
          <a:prstGeom prst="roundRect">
            <a:avLst>
              <a:gd fmla="val 2474" name="adj"/>
            </a:avLst>
          </a:prstGeom>
          <a:solidFill>
            <a:srgbClr val="E1F0ED"/>
          </a:solidFill>
          <a:ln cap="flat" cmpd="sng" w="152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8"/>
          <p:cNvSpPr txBox="1"/>
          <p:nvPr/>
        </p:nvSpPr>
        <p:spPr>
          <a:xfrm>
            <a:off x="8686800" y="1965960"/>
            <a:ext cx="249905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0E5F55"/>
                </a:solidFill>
                <a:latin typeface="Cambria"/>
                <a:ea typeface="Cambria"/>
                <a:cs typeface="Cambria"/>
                <a:sym typeface="Cambria"/>
              </a:rPr>
              <a:t>95%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8"/>
          <p:cNvSpPr txBox="1"/>
          <p:nvPr/>
        </p:nvSpPr>
        <p:spPr>
          <a:xfrm>
            <a:off x="8686800" y="2724912"/>
            <a:ext cx="249905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de acerto no 2º turno, com países que ficaram fora do ajuste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8"/>
          <p:cNvSpPr txBox="1"/>
          <p:nvPr/>
        </p:nvSpPr>
        <p:spPr>
          <a:xfrm>
            <a:off x="8686800" y="3474720"/>
            <a:ext cx="249905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Exemplo, Noruega: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8"/>
          <p:cNvSpPr txBox="1"/>
          <p:nvPr/>
        </p:nvSpPr>
        <p:spPr>
          <a:xfrm>
            <a:off x="8686800" y="3749040"/>
            <a:ext cx="249905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E5F55"/>
                </a:solidFill>
                <a:latin typeface="Consolas"/>
                <a:ea typeface="Consolas"/>
                <a:cs typeface="Consolas"/>
                <a:sym typeface="Consolas"/>
              </a:rPr>
              <a:t>'E o continente?'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E5F55"/>
                </a:solidFill>
                <a:latin typeface="Consolas"/>
                <a:ea typeface="Consolas"/>
                <a:cs typeface="Consolas"/>
                <a:sym typeface="Consolas"/>
              </a:rPr>
              <a:t>→ A Noruega fica na Europa.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8"/>
          <p:cNvSpPr txBox="1"/>
          <p:nvPr/>
        </p:nvSpPr>
        <p:spPr>
          <a:xfrm>
            <a:off x="777240" y="5257800"/>
            <a:ext cx="1063721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Nos nossos dados, 319 das 600 conversas têm dois turnos. Cada turno do assistant é um alvo (próximo slide).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8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9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Chat templates: de mensagens para tokens</a:t>
            </a:r>
            <a:endParaRPr sz="3100"/>
          </a:p>
        </p:txBody>
      </p:sp>
      <p:sp>
        <p:nvSpPr>
          <p:cNvPr id="466" name="Google Shape;466;p29"/>
          <p:cNvSpPr txBox="1"/>
          <p:nvPr/>
        </p:nvSpPr>
        <p:spPr>
          <a:xfrm>
            <a:off x="777240" y="1335024"/>
            <a:ext cx="106372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O modelo não vê mensagens: vê uma sequência. O template é a regra que monta essa sequência.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9"/>
          <p:cNvSpPr txBox="1"/>
          <p:nvPr/>
        </p:nvSpPr>
        <p:spPr>
          <a:xfrm>
            <a:off x="777240" y="17830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Mensagens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9"/>
          <p:cNvSpPr/>
          <p:nvPr/>
        </p:nvSpPr>
        <p:spPr>
          <a:xfrm>
            <a:off x="777240" y="2121408"/>
            <a:ext cx="2743200" cy="2514600"/>
          </a:xfrm>
          <a:prstGeom prst="roundRect">
            <a:avLst>
              <a:gd fmla="val 2909" name="adj"/>
            </a:avLst>
          </a:prstGeom>
          <a:solidFill>
            <a:srgbClr val="0F1C2E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9"/>
          <p:cNvSpPr txBox="1"/>
          <p:nvPr/>
        </p:nvSpPr>
        <p:spPr>
          <a:xfrm>
            <a:off x="960120" y="2121408"/>
            <a:ext cx="246888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DCE6F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CE6F0"/>
                </a:solidFill>
                <a:latin typeface="Consolas"/>
                <a:ea typeface="Consolas"/>
                <a:cs typeface="Consolas"/>
                <a:sym typeface="Consolas"/>
              </a:rPr>
              <a:t>[{"role": "system",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DCE6F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CE6F0"/>
                </a:solidFill>
                <a:latin typeface="Consolas"/>
                <a:ea typeface="Consolas"/>
                <a:cs typeface="Consolas"/>
                <a:sym typeface="Consolas"/>
              </a:rPr>
              <a:t>  "content":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DCE6F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CE6F0"/>
                </a:solidFill>
                <a:latin typeface="Consolas"/>
                <a:ea typeface="Consolas"/>
                <a:cs typeface="Consolas"/>
                <a:sym typeface="Consolas"/>
              </a:rPr>
              <a:t>  "Responda em uma frase."},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DCE6F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CE6F0"/>
                </a:solidFill>
                <a:latin typeface="Consolas"/>
                <a:ea typeface="Consolas"/>
                <a:cs typeface="Consolas"/>
                <a:sym typeface="Consolas"/>
              </a:rPr>
              <a:t> {"role": "user",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DCE6F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CE6F0"/>
                </a:solidFill>
                <a:latin typeface="Consolas"/>
                <a:ea typeface="Consolas"/>
                <a:cs typeface="Consolas"/>
                <a:sym typeface="Consolas"/>
              </a:rPr>
              <a:t>  "content":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DCE6F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CE6F0"/>
                </a:solidFill>
                <a:latin typeface="Consolas"/>
                <a:ea typeface="Consolas"/>
                <a:cs typeface="Consolas"/>
                <a:sym typeface="Consolas"/>
              </a:rPr>
              <a:t>  "Qual é a capital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DCE6F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CE6F0"/>
                </a:solidFill>
                <a:latin typeface="Consolas"/>
                <a:ea typeface="Consolas"/>
                <a:cs typeface="Consolas"/>
                <a:sym typeface="Consolas"/>
              </a:rPr>
              <a:t>   da Noruega?"}]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0" name="Google Shape;470;p29"/>
          <p:cNvCxnSpPr/>
          <p:nvPr/>
        </p:nvCxnSpPr>
        <p:spPr>
          <a:xfrm>
            <a:off x="3593592" y="338328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E08A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1" name="Google Shape;471;p29"/>
          <p:cNvSpPr txBox="1"/>
          <p:nvPr/>
        </p:nvSpPr>
        <p:spPr>
          <a:xfrm>
            <a:off x="3017520" y="468172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apply_chat_template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9"/>
          <p:cNvSpPr txBox="1"/>
          <p:nvPr/>
        </p:nvSpPr>
        <p:spPr>
          <a:xfrm>
            <a:off x="4114800" y="1783080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ChatML (o nosso; Qwen)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9"/>
          <p:cNvSpPr/>
          <p:nvPr/>
        </p:nvSpPr>
        <p:spPr>
          <a:xfrm>
            <a:off x="4114800" y="2121408"/>
            <a:ext cx="3337560" cy="2514600"/>
          </a:xfrm>
          <a:prstGeom prst="roundRect">
            <a:avLst>
              <a:gd fmla="val 2909" name="adj"/>
            </a:avLst>
          </a:prstGeom>
          <a:solidFill>
            <a:srgbClr val="EFF3F7"/>
          </a:solidFill>
          <a:ln cap="flat" cmpd="sng" w="152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9"/>
          <p:cNvSpPr txBox="1"/>
          <p:nvPr/>
        </p:nvSpPr>
        <p:spPr>
          <a:xfrm>
            <a:off x="4279392" y="2121408"/>
            <a:ext cx="3099816" cy="25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&lt;|im_start|&gt;</a:t>
            </a:r>
            <a:r>
              <a:rPr b="0" i="0" lang="en-US" sz="110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Responda em uma frase.</a:t>
            </a:r>
            <a:r>
              <a:rPr b="1" i="0" lang="en-US" sz="110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&lt;|im_end|&gt;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&lt;|im_start|&gt;</a:t>
            </a:r>
            <a:r>
              <a:rPr b="0" i="0" lang="en-US" sz="110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Qual é a capital da Noruega?</a:t>
            </a:r>
            <a:r>
              <a:rPr b="1" i="0" lang="en-US" sz="110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&lt;|im_end|&gt;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E5F55"/>
                </a:solidFill>
                <a:latin typeface="Consolas"/>
                <a:ea typeface="Consolas"/>
                <a:cs typeface="Consolas"/>
                <a:sym typeface="Consolas"/>
              </a:rPr>
              <a:t>&lt;|im_start|&gt;assistant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9"/>
          <p:cNvSpPr txBox="1"/>
          <p:nvPr/>
        </p:nvSpPr>
        <p:spPr>
          <a:xfrm>
            <a:off x="7726680" y="1783080"/>
            <a:ext cx="368777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Llama 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9"/>
          <p:cNvSpPr/>
          <p:nvPr/>
        </p:nvSpPr>
        <p:spPr>
          <a:xfrm>
            <a:off x="7726680" y="2121408"/>
            <a:ext cx="3687775" cy="2514600"/>
          </a:xfrm>
          <a:prstGeom prst="roundRect">
            <a:avLst>
              <a:gd fmla="val 2909" name="adj"/>
            </a:avLst>
          </a:prstGeom>
          <a:solidFill>
            <a:srgbClr val="EFF3F7"/>
          </a:solidFill>
          <a:ln cap="flat" cmpd="sng" w="152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9"/>
          <p:cNvSpPr txBox="1"/>
          <p:nvPr/>
        </p:nvSpPr>
        <p:spPr>
          <a:xfrm>
            <a:off x="7863840" y="2121408"/>
            <a:ext cx="3504895" cy="25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&lt;|begin_of_text|&gt;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&lt;|start_header_id|&gt;</a:t>
            </a:r>
            <a:r>
              <a:rPr b="0" i="0" lang="en-US" sz="100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b="1" i="0" lang="en-US" sz="100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&lt;|end_header_id|&gt;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\n\nResponda em uma frase.</a:t>
            </a:r>
            <a:r>
              <a:rPr b="1" i="0" lang="en-US" sz="100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&lt;|eot_id|&gt;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&lt;|start_header_id|&gt;</a:t>
            </a:r>
            <a:r>
              <a:rPr b="0" i="0" lang="en-US" sz="100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b="1" i="0" lang="en-US" sz="100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&lt;|end_header_id|&gt;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\n\nQual é a capital da Noruega?</a:t>
            </a:r>
            <a:r>
              <a:rPr b="1" i="0" lang="en-US" sz="100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&lt;|eot_id|&gt;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E5F55"/>
                </a:solidFill>
                <a:latin typeface="Consolas"/>
                <a:ea typeface="Consolas"/>
                <a:cs typeface="Consolas"/>
                <a:sym typeface="Consolas"/>
              </a:rPr>
              <a:t>&lt;|start_header_id|&gt;assistant&lt;|end_header_id|&gt;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\n\n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9"/>
          <p:cNvSpPr txBox="1"/>
          <p:nvPr/>
        </p:nvSpPr>
        <p:spPr>
          <a:xfrm>
            <a:off x="7726680" y="4681728"/>
            <a:ext cx="36877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\n = quebra de linha que faz parte do formato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9"/>
          <p:cNvSpPr txBox="1"/>
          <p:nvPr/>
        </p:nvSpPr>
        <p:spPr>
          <a:xfrm>
            <a:off x="777240" y="5074920"/>
            <a:ext cx="327141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Tokens especiais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9"/>
          <p:cNvSpPr txBox="1"/>
          <p:nvPr/>
        </p:nvSpPr>
        <p:spPr>
          <a:xfrm>
            <a:off x="777240" y="5404104"/>
            <a:ext cx="327141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&lt;|im_start|&gt; e &lt;|im_end|&gt; são um token cada, que o modelo base nunca viu. O SFT ensina o que significam.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9"/>
          <p:cNvSpPr txBox="1"/>
          <p:nvPr/>
        </p:nvSpPr>
        <p:spPr>
          <a:xfrm>
            <a:off x="4341266" y="5074920"/>
            <a:ext cx="327141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Abrir a resposta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9"/>
          <p:cNvSpPr txBox="1"/>
          <p:nvPr/>
        </p:nvSpPr>
        <p:spPr>
          <a:xfrm>
            <a:off x="4341266" y="5404104"/>
            <a:ext cx="327141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Na hora de gerar, add_generation_prompt=True acrescenta '&lt;|im_start|&gt;assistant' no fim. Nos dados de treino, não.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9"/>
          <p:cNvSpPr txBox="1"/>
          <p:nvPr/>
        </p:nvSpPr>
        <p:spPr>
          <a:xfrm>
            <a:off x="7905293" y="5074920"/>
            <a:ext cx="327141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Cada família tem o seu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9"/>
          <p:cNvSpPr txBox="1"/>
          <p:nvPr/>
        </p:nvSpPr>
        <p:spPr>
          <a:xfrm>
            <a:off x="7905293" y="5404104"/>
            <a:ext cx="327141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Os formatos não são intercambiáveis: o modelo só conhece o que viu no ajuste.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9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0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O template faz parte do contrato</a:t>
            </a:r>
            <a:endParaRPr sz="3100"/>
          </a:p>
        </p:txBody>
      </p:sp>
      <p:sp>
        <p:nvSpPr>
          <p:cNvPr id="492" name="Google Shape;492;p30"/>
          <p:cNvSpPr txBox="1"/>
          <p:nvPr/>
        </p:nvSpPr>
        <p:spPr>
          <a:xfrm>
            <a:off x="777240" y="1335024"/>
            <a:ext cx="106372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O mesmo modelo ajustado, as mesmas 255 perguntas sobre países de fora. Só o formato do prompt muda.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3" name="Google Shape;49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783080"/>
            <a:ext cx="6035040" cy="352044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30"/>
          <p:cNvSpPr txBox="1"/>
          <p:nvPr/>
        </p:nvSpPr>
        <p:spPr>
          <a:xfrm>
            <a:off x="7132320" y="1783080"/>
            <a:ext cx="428213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Resposta para 'Qual é a capital da Noruega?'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0"/>
          <p:cNvSpPr/>
          <p:nvPr/>
        </p:nvSpPr>
        <p:spPr>
          <a:xfrm>
            <a:off x="7132320" y="2148840"/>
            <a:ext cx="4282135" cy="731520"/>
          </a:xfrm>
          <a:prstGeom prst="roundRect">
            <a:avLst>
              <a:gd fmla="val 10000" name="adj"/>
            </a:avLst>
          </a:prstGeom>
          <a:solidFill>
            <a:srgbClr val="E1F0ED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0"/>
          <p:cNvSpPr txBox="1"/>
          <p:nvPr/>
        </p:nvSpPr>
        <p:spPr>
          <a:xfrm>
            <a:off x="7315200" y="2203704"/>
            <a:ext cx="2819095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E5F55"/>
                </a:solidFill>
                <a:latin typeface="Calibri"/>
                <a:ea typeface="Calibri"/>
                <a:cs typeface="Calibri"/>
                <a:sym typeface="Calibri"/>
              </a:rPr>
              <a:t>Template do treino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0"/>
          <p:cNvSpPr txBox="1"/>
          <p:nvPr/>
        </p:nvSpPr>
        <p:spPr>
          <a:xfrm>
            <a:off x="10042855" y="2203704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para em 100%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0"/>
          <p:cNvSpPr txBox="1"/>
          <p:nvPr/>
        </p:nvSpPr>
        <p:spPr>
          <a:xfrm>
            <a:off x="7315200" y="2478024"/>
            <a:ext cx="3916375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A capital da Noruega é Oslo.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0"/>
          <p:cNvSpPr/>
          <p:nvPr/>
        </p:nvSpPr>
        <p:spPr>
          <a:xfrm>
            <a:off x="7132320" y="2971800"/>
            <a:ext cx="4282135" cy="731520"/>
          </a:xfrm>
          <a:prstGeom prst="roundRect">
            <a:avLst>
              <a:gd fmla="val 10000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0"/>
          <p:cNvSpPr txBox="1"/>
          <p:nvPr/>
        </p:nvSpPr>
        <p:spPr>
          <a:xfrm>
            <a:off x="7315200" y="3026664"/>
            <a:ext cx="2819095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Sem system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0"/>
          <p:cNvSpPr txBox="1"/>
          <p:nvPr/>
        </p:nvSpPr>
        <p:spPr>
          <a:xfrm>
            <a:off x="10042855" y="3026664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para em 82%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0"/>
          <p:cNvSpPr txBox="1"/>
          <p:nvPr/>
        </p:nvSpPr>
        <p:spPr>
          <a:xfrm>
            <a:off x="7315200" y="3300984"/>
            <a:ext cx="3916375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A capital da Noruega é Oslo.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0"/>
          <p:cNvSpPr/>
          <p:nvPr/>
        </p:nvSpPr>
        <p:spPr>
          <a:xfrm>
            <a:off x="7132320" y="3794760"/>
            <a:ext cx="4282135" cy="731520"/>
          </a:xfrm>
          <a:prstGeom prst="roundRect">
            <a:avLst>
              <a:gd fmla="val 10000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0"/>
          <p:cNvSpPr txBox="1"/>
          <p:nvPr/>
        </p:nvSpPr>
        <p:spPr>
          <a:xfrm>
            <a:off x="7315200" y="3849624"/>
            <a:ext cx="2819095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Sem tokens especiais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0"/>
          <p:cNvSpPr txBox="1"/>
          <p:nvPr/>
        </p:nvSpPr>
        <p:spPr>
          <a:xfrm>
            <a:off x="10042855" y="3849624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para em 33%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0"/>
          <p:cNvSpPr txBox="1"/>
          <p:nvPr/>
        </p:nvSpPr>
        <p:spPr>
          <a:xfrm>
            <a:off x="7315200" y="4123944"/>
            <a:ext cx="3916375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\nA capital da Noruega é Oslo.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0"/>
          <p:cNvSpPr/>
          <p:nvPr/>
        </p:nvSpPr>
        <p:spPr>
          <a:xfrm>
            <a:off x="7132320" y="4617720"/>
            <a:ext cx="4282135" cy="731520"/>
          </a:xfrm>
          <a:prstGeom prst="roundRect">
            <a:avLst>
              <a:gd fmla="val 10000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0"/>
          <p:cNvSpPr txBox="1"/>
          <p:nvPr/>
        </p:nvSpPr>
        <p:spPr>
          <a:xfrm>
            <a:off x="7315200" y="4672584"/>
            <a:ext cx="2819095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Só a pergunta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0"/>
          <p:cNvSpPr txBox="1"/>
          <p:nvPr/>
        </p:nvSpPr>
        <p:spPr>
          <a:xfrm>
            <a:off x="10042855" y="4672584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para em 25%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0"/>
          <p:cNvSpPr txBox="1"/>
          <p:nvPr/>
        </p:nvSpPr>
        <p:spPr>
          <a:xfrm>
            <a:off x="7315200" y="4946904"/>
            <a:ext cx="3916375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2. Qual é a língua mais falada da Alemanha? 3.…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0"/>
          <p:cNvSpPr/>
          <p:nvPr/>
        </p:nvSpPr>
        <p:spPr>
          <a:xfrm>
            <a:off x="777240" y="5486400"/>
            <a:ext cx="10637215" cy="457200"/>
          </a:xfrm>
          <a:prstGeom prst="roundRect">
            <a:avLst>
              <a:gd fmla="val 16000" name="adj"/>
            </a:avLst>
          </a:prstGeom>
          <a:solidFill>
            <a:srgbClr val="0F1C2E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0"/>
          <p:cNvSpPr txBox="1"/>
          <p:nvPr/>
        </p:nvSpPr>
        <p:spPr>
          <a:xfrm>
            <a:off x="1051560" y="5486400"/>
            <a:ext cx="10088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exatamente o template do treino (apply_chat_template), inclusive na avaliação.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0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1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Mascaramento da perda</a:t>
            </a:r>
            <a:endParaRPr sz="3100"/>
          </a:p>
        </p:txBody>
      </p:sp>
      <p:sp>
        <p:nvSpPr>
          <p:cNvPr id="520" name="Google Shape;520;p31"/>
          <p:cNvSpPr txBox="1"/>
          <p:nvPr/>
        </p:nvSpPr>
        <p:spPr>
          <a:xfrm>
            <a:off x="777240" y="1335024"/>
            <a:ext cx="106372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Todos os tokens entram no modelo. Só os da resposta, e o token que a encerra, entram na perda.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1"/>
          <p:cNvSpPr/>
          <p:nvPr/>
        </p:nvSpPr>
        <p:spPr>
          <a:xfrm>
            <a:off x="777240" y="1810512"/>
            <a:ext cx="1099246" cy="283464"/>
          </a:xfrm>
          <a:prstGeom prst="roundRect">
            <a:avLst>
              <a:gd fmla="val 19355" name="adj"/>
            </a:avLst>
          </a:prstGeom>
          <a:solidFill>
            <a:srgbClr val="FBEFE1"/>
          </a:solidFill>
          <a:ln cap="flat" cmpd="sng" w="11425">
            <a:solidFill>
              <a:srgbClr val="E08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1"/>
          <p:cNvSpPr txBox="1"/>
          <p:nvPr/>
        </p:nvSpPr>
        <p:spPr>
          <a:xfrm>
            <a:off x="777240" y="1810512"/>
            <a:ext cx="109924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&lt;|im_start|&gt;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1"/>
          <p:cNvSpPr/>
          <p:nvPr/>
        </p:nvSpPr>
        <p:spPr>
          <a:xfrm>
            <a:off x="1922206" y="1810512"/>
            <a:ext cx="659351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1"/>
          <p:cNvSpPr txBox="1"/>
          <p:nvPr/>
        </p:nvSpPr>
        <p:spPr>
          <a:xfrm>
            <a:off x="1922206" y="1810512"/>
            <a:ext cx="659351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system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1"/>
          <p:cNvSpPr/>
          <p:nvPr/>
        </p:nvSpPr>
        <p:spPr>
          <a:xfrm>
            <a:off x="2627277" y="1810512"/>
            <a:ext cx="347800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1"/>
          <p:cNvSpPr txBox="1"/>
          <p:nvPr/>
        </p:nvSpPr>
        <p:spPr>
          <a:xfrm>
            <a:off x="2627277" y="1810512"/>
            <a:ext cx="3478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1"/>
          <p:cNvSpPr/>
          <p:nvPr/>
        </p:nvSpPr>
        <p:spPr>
          <a:xfrm>
            <a:off x="777240" y="2157984"/>
            <a:ext cx="805983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1"/>
          <p:cNvSpPr txBox="1"/>
          <p:nvPr/>
        </p:nvSpPr>
        <p:spPr>
          <a:xfrm>
            <a:off x="777240" y="2157984"/>
            <a:ext cx="805983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Responda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1"/>
          <p:cNvSpPr/>
          <p:nvPr/>
        </p:nvSpPr>
        <p:spPr>
          <a:xfrm>
            <a:off x="1628943" y="2157984"/>
            <a:ext cx="366088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1"/>
          <p:cNvSpPr txBox="1"/>
          <p:nvPr/>
        </p:nvSpPr>
        <p:spPr>
          <a:xfrm>
            <a:off x="1628943" y="2157984"/>
            <a:ext cx="36608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1"/>
          <p:cNvSpPr/>
          <p:nvPr/>
        </p:nvSpPr>
        <p:spPr>
          <a:xfrm>
            <a:off x="2040750" y="2157984"/>
            <a:ext cx="439403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1"/>
          <p:cNvSpPr txBox="1"/>
          <p:nvPr/>
        </p:nvSpPr>
        <p:spPr>
          <a:xfrm>
            <a:off x="2040750" y="2157984"/>
            <a:ext cx="439403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uma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1"/>
          <p:cNvSpPr/>
          <p:nvPr/>
        </p:nvSpPr>
        <p:spPr>
          <a:xfrm>
            <a:off x="2525874" y="2157984"/>
            <a:ext cx="586035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1"/>
          <p:cNvSpPr txBox="1"/>
          <p:nvPr/>
        </p:nvSpPr>
        <p:spPr>
          <a:xfrm>
            <a:off x="2525874" y="2157984"/>
            <a:ext cx="586035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frase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1"/>
          <p:cNvSpPr/>
          <p:nvPr/>
        </p:nvSpPr>
        <p:spPr>
          <a:xfrm>
            <a:off x="3157629" y="2157984"/>
            <a:ext cx="292772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1"/>
          <p:cNvSpPr txBox="1"/>
          <p:nvPr/>
        </p:nvSpPr>
        <p:spPr>
          <a:xfrm>
            <a:off x="3157629" y="2157984"/>
            <a:ext cx="2927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1"/>
          <p:cNvSpPr/>
          <p:nvPr/>
        </p:nvSpPr>
        <p:spPr>
          <a:xfrm>
            <a:off x="3496121" y="2157984"/>
            <a:ext cx="952614" cy="283464"/>
          </a:xfrm>
          <a:prstGeom prst="roundRect">
            <a:avLst>
              <a:gd fmla="val 19355" name="adj"/>
            </a:avLst>
          </a:prstGeom>
          <a:solidFill>
            <a:srgbClr val="FBEFE1"/>
          </a:solidFill>
          <a:ln cap="flat" cmpd="sng" w="11425">
            <a:solidFill>
              <a:srgbClr val="E08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1"/>
          <p:cNvSpPr txBox="1"/>
          <p:nvPr/>
        </p:nvSpPr>
        <p:spPr>
          <a:xfrm>
            <a:off x="3496121" y="2157984"/>
            <a:ext cx="95261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&lt;|im_end|&gt;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1"/>
          <p:cNvSpPr/>
          <p:nvPr/>
        </p:nvSpPr>
        <p:spPr>
          <a:xfrm>
            <a:off x="4494455" y="2157984"/>
            <a:ext cx="347800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1"/>
          <p:cNvSpPr txBox="1"/>
          <p:nvPr/>
        </p:nvSpPr>
        <p:spPr>
          <a:xfrm>
            <a:off x="4494455" y="2157984"/>
            <a:ext cx="3478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1"/>
          <p:cNvSpPr/>
          <p:nvPr/>
        </p:nvSpPr>
        <p:spPr>
          <a:xfrm>
            <a:off x="777240" y="2505456"/>
            <a:ext cx="1099246" cy="283464"/>
          </a:xfrm>
          <a:prstGeom prst="roundRect">
            <a:avLst>
              <a:gd fmla="val 19355" name="adj"/>
            </a:avLst>
          </a:prstGeom>
          <a:solidFill>
            <a:srgbClr val="FBEFE1"/>
          </a:solidFill>
          <a:ln cap="flat" cmpd="sng" w="11425">
            <a:solidFill>
              <a:srgbClr val="E08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1"/>
          <p:cNvSpPr txBox="1"/>
          <p:nvPr/>
        </p:nvSpPr>
        <p:spPr>
          <a:xfrm>
            <a:off x="777240" y="2505456"/>
            <a:ext cx="109924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&lt;|im_start|&gt;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1"/>
          <p:cNvSpPr/>
          <p:nvPr/>
        </p:nvSpPr>
        <p:spPr>
          <a:xfrm>
            <a:off x="1922206" y="2505456"/>
            <a:ext cx="512719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1"/>
          <p:cNvSpPr txBox="1"/>
          <p:nvPr/>
        </p:nvSpPr>
        <p:spPr>
          <a:xfrm>
            <a:off x="1922206" y="2505456"/>
            <a:ext cx="512719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1"/>
          <p:cNvSpPr/>
          <p:nvPr/>
        </p:nvSpPr>
        <p:spPr>
          <a:xfrm>
            <a:off x="2480645" y="2505456"/>
            <a:ext cx="347800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1"/>
          <p:cNvSpPr txBox="1"/>
          <p:nvPr/>
        </p:nvSpPr>
        <p:spPr>
          <a:xfrm>
            <a:off x="2480645" y="2505456"/>
            <a:ext cx="3478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1"/>
          <p:cNvSpPr/>
          <p:nvPr/>
        </p:nvSpPr>
        <p:spPr>
          <a:xfrm>
            <a:off x="777240" y="2852928"/>
            <a:ext cx="512719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1"/>
          <p:cNvSpPr txBox="1"/>
          <p:nvPr/>
        </p:nvSpPr>
        <p:spPr>
          <a:xfrm>
            <a:off x="777240" y="2852928"/>
            <a:ext cx="512719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Qual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1"/>
          <p:cNvSpPr/>
          <p:nvPr/>
        </p:nvSpPr>
        <p:spPr>
          <a:xfrm>
            <a:off x="1335679" y="2852928"/>
            <a:ext cx="292772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1"/>
          <p:cNvSpPr txBox="1"/>
          <p:nvPr/>
        </p:nvSpPr>
        <p:spPr>
          <a:xfrm>
            <a:off x="1335679" y="2852928"/>
            <a:ext cx="2927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é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1"/>
          <p:cNvSpPr/>
          <p:nvPr/>
        </p:nvSpPr>
        <p:spPr>
          <a:xfrm>
            <a:off x="1674171" y="2852928"/>
            <a:ext cx="292772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1"/>
          <p:cNvSpPr txBox="1"/>
          <p:nvPr/>
        </p:nvSpPr>
        <p:spPr>
          <a:xfrm>
            <a:off x="1674171" y="2852928"/>
            <a:ext cx="2927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1"/>
          <p:cNvSpPr/>
          <p:nvPr/>
        </p:nvSpPr>
        <p:spPr>
          <a:xfrm>
            <a:off x="2012663" y="2852928"/>
            <a:ext cx="659351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1"/>
          <p:cNvSpPr txBox="1"/>
          <p:nvPr/>
        </p:nvSpPr>
        <p:spPr>
          <a:xfrm>
            <a:off x="2012663" y="2852928"/>
            <a:ext cx="659351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língua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1"/>
          <p:cNvSpPr/>
          <p:nvPr/>
        </p:nvSpPr>
        <p:spPr>
          <a:xfrm>
            <a:off x="2717734" y="2852928"/>
            <a:ext cx="512719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1"/>
          <p:cNvSpPr txBox="1"/>
          <p:nvPr/>
        </p:nvSpPr>
        <p:spPr>
          <a:xfrm>
            <a:off x="2717734" y="2852928"/>
            <a:ext cx="512719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mais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1"/>
          <p:cNvSpPr/>
          <p:nvPr/>
        </p:nvSpPr>
        <p:spPr>
          <a:xfrm>
            <a:off x="3276173" y="2852928"/>
            <a:ext cx="659351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1"/>
          <p:cNvSpPr txBox="1"/>
          <p:nvPr/>
        </p:nvSpPr>
        <p:spPr>
          <a:xfrm>
            <a:off x="3276173" y="2852928"/>
            <a:ext cx="659351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falada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1"/>
          <p:cNvSpPr/>
          <p:nvPr/>
        </p:nvSpPr>
        <p:spPr>
          <a:xfrm>
            <a:off x="3981244" y="2852928"/>
            <a:ext cx="366088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1"/>
          <p:cNvSpPr txBox="1"/>
          <p:nvPr/>
        </p:nvSpPr>
        <p:spPr>
          <a:xfrm>
            <a:off x="3981244" y="2852928"/>
            <a:ext cx="36608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1"/>
          <p:cNvSpPr/>
          <p:nvPr/>
        </p:nvSpPr>
        <p:spPr>
          <a:xfrm>
            <a:off x="4393052" y="2852928"/>
            <a:ext cx="732667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1"/>
          <p:cNvSpPr txBox="1"/>
          <p:nvPr/>
        </p:nvSpPr>
        <p:spPr>
          <a:xfrm>
            <a:off x="4393052" y="2852928"/>
            <a:ext cx="732667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Espanha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1"/>
          <p:cNvSpPr/>
          <p:nvPr/>
        </p:nvSpPr>
        <p:spPr>
          <a:xfrm>
            <a:off x="5171439" y="2852928"/>
            <a:ext cx="292772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1"/>
          <p:cNvSpPr txBox="1"/>
          <p:nvPr/>
        </p:nvSpPr>
        <p:spPr>
          <a:xfrm>
            <a:off x="5171439" y="2852928"/>
            <a:ext cx="2927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1"/>
          <p:cNvSpPr/>
          <p:nvPr/>
        </p:nvSpPr>
        <p:spPr>
          <a:xfrm>
            <a:off x="5509931" y="2852928"/>
            <a:ext cx="952614" cy="283464"/>
          </a:xfrm>
          <a:prstGeom prst="roundRect">
            <a:avLst>
              <a:gd fmla="val 19355" name="adj"/>
            </a:avLst>
          </a:prstGeom>
          <a:solidFill>
            <a:srgbClr val="FBEFE1"/>
          </a:solidFill>
          <a:ln cap="flat" cmpd="sng" w="11425">
            <a:solidFill>
              <a:srgbClr val="E08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1"/>
          <p:cNvSpPr txBox="1"/>
          <p:nvPr/>
        </p:nvSpPr>
        <p:spPr>
          <a:xfrm>
            <a:off x="5509931" y="2852928"/>
            <a:ext cx="95261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&lt;|im_end|&gt;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1"/>
          <p:cNvSpPr/>
          <p:nvPr/>
        </p:nvSpPr>
        <p:spPr>
          <a:xfrm>
            <a:off x="6508265" y="2852928"/>
            <a:ext cx="347800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1"/>
          <p:cNvSpPr txBox="1"/>
          <p:nvPr/>
        </p:nvSpPr>
        <p:spPr>
          <a:xfrm>
            <a:off x="6508265" y="2852928"/>
            <a:ext cx="3478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1"/>
          <p:cNvSpPr/>
          <p:nvPr/>
        </p:nvSpPr>
        <p:spPr>
          <a:xfrm>
            <a:off x="777240" y="3200400"/>
            <a:ext cx="1099246" cy="283464"/>
          </a:xfrm>
          <a:prstGeom prst="roundRect">
            <a:avLst>
              <a:gd fmla="val 19355" name="adj"/>
            </a:avLst>
          </a:prstGeom>
          <a:solidFill>
            <a:srgbClr val="FBEFE1"/>
          </a:solidFill>
          <a:ln cap="flat" cmpd="sng" w="11425">
            <a:solidFill>
              <a:srgbClr val="E08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1"/>
          <p:cNvSpPr txBox="1"/>
          <p:nvPr/>
        </p:nvSpPr>
        <p:spPr>
          <a:xfrm>
            <a:off x="777240" y="3200400"/>
            <a:ext cx="109924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&lt;|im_start|&gt;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1"/>
          <p:cNvSpPr/>
          <p:nvPr/>
        </p:nvSpPr>
        <p:spPr>
          <a:xfrm>
            <a:off x="1922206" y="3200400"/>
            <a:ext cx="879298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1"/>
          <p:cNvSpPr txBox="1"/>
          <p:nvPr/>
        </p:nvSpPr>
        <p:spPr>
          <a:xfrm>
            <a:off x="1922206" y="3200400"/>
            <a:ext cx="87929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assistant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1"/>
          <p:cNvSpPr/>
          <p:nvPr/>
        </p:nvSpPr>
        <p:spPr>
          <a:xfrm>
            <a:off x="2847224" y="3200400"/>
            <a:ext cx="347800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31"/>
          <p:cNvSpPr txBox="1"/>
          <p:nvPr/>
        </p:nvSpPr>
        <p:spPr>
          <a:xfrm>
            <a:off x="2847224" y="3200400"/>
            <a:ext cx="3478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1"/>
          <p:cNvSpPr/>
          <p:nvPr/>
        </p:nvSpPr>
        <p:spPr>
          <a:xfrm>
            <a:off x="777240" y="3547872"/>
            <a:ext cx="366088" cy="283464"/>
          </a:xfrm>
          <a:prstGeom prst="roundRect">
            <a:avLst>
              <a:gd fmla="val 19355" name="adj"/>
            </a:avLst>
          </a:prstGeom>
          <a:solidFill>
            <a:srgbClr val="E1F0ED"/>
          </a:solidFill>
          <a:ln cap="flat" cmpd="sng" w="114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1"/>
          <p:cNvSpPr txBox="1"/>
          <p:nvPr/>
        </p:nvSpPr>
        <p:spPr>
          <a:xfrm>
            <a:off x="777240" y="3547872"/>
            <a:ext cx="36608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E5F55"/>
                </a:solidFill>
                <a:latin typeface="Consolas"/>
                <a:ea typeface="Consolas"/>
                <a:cs typeface="Consolas"/>
                <a:sym typeface="Consolas"/>
              </a:rPr>
              <a:t>Na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1"/>
          <p:cNvSpPr/>
          <p:nvPr/>
        </p:nvSpPr>
        <p:spPr>
          <a:xfrm>
            <a:off x="1189048" y="3547872"/>
            <a:ext cx="732667" cy="283464"/>
          </a:xfrm>
          <a:prstGeom prst="roundRect">
            <a:avLst>
              <a:gd fmla="val 19355" name="adj"/>
            </a:avLst>
          </a:prstGeom>
          <a:solidFill>
            <a:srgbClr val="E1F0ED"/>
          </a:solidFill>
          <a:ln cap="flat" cmpd="sng" w="114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1"/>
          <p:cNvSpPr txBox="1"/>
          <p:nvPr/>
        </p:nvSpPr>
        <p:spPr>
          <a:xfrm>
            <a:off x="1189048" y="3547872"/>
            <a:ext cx="732667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E5F55"/>
                </a:solidFill>
                <a:latin typeface="Consolas"/>
                <a:ea typeface="Consolas"/>
                <a:cs typeface="Consolas"/>
                <a:sym typeface="Consolas"/>
              </a:rPr>
              <a:t>Espanha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1"/>
          <p:cNvSpPr/>
          <p:nvPr/>
        </p:nvSpPr>
        <p:spPr>
          <a:xfrm>
            <a:off x="1967434" y="3547872"/>
            <a:ext cx="292772" cy="283464"/>
          </a:xfrm>
          <a:prstGeom prst="roundRect">
            <a:avLst>
              <a:gd fmla="val 19355" name="adj"/>
            </a:avLst>
          </a:prstGeom>
          <a:solidFill>
            <a:srgbClr val="E1F0ED"/>
          </a:solidFill>
          <a:ln cap="flat" cmpd="sng" w="114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1"/>
          <p:cNvSpPr txBox="1"/>
          <p:nvPr/>
        </p:nvSpPr>
        <p:spPr>
          <a:xfrm>
            <a:off x="1967434" y="3547872"/>
            <a:ext cx="2927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E5F55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1"/>
          <p:cNvSpPr/>
          <p:nvPr/>
        </p:nvSpPr>
        <p:spPr>
          <a:xfrm>
            <a:off x="2305926" y="3547872"/>
            <a:ext cx="512719" cy="283464"/>
          </a:xfrm>
          <a:prstGeom prst="roundRect">
            <a:avLst>
              <a:gd fmla="val 19355" name="adj"/>
            </a:avLst>
          </a:prstGeom>
          <a:solidFill>
            <a:srgbClr val="E1F0ED"/>
          </a:solidFill>
          <a:ln cap="flat" cmpd="sng" w="114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1"/>
          <p:cNvSpPr txBox="1"/>
          <p:nvPr/>
        </p:nvSpPr>
        <p:spPr>
          <a:xfrm>
            <a:off x="2305926" y="3547872"/>
            <a:ext cx="512719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E5F55"/>
                </a:solidFill>
                <a:latin typeface="Consolas"/>
                <a:ea typeface="Consolas"/>
                <a:cs typeface="Consolas"/>
                <a:sym typeface="Consolas"/>
              </a:rPr>
              <a:t>fala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1"/>
          <p:cNvSpPr/>
          <p:nvPr/>
        </p:nvSpPr>
        <p:spPr>
          <a:xfrm>
            <a:off x="2864366" y="3547872"/>
            <a:ext cx="292772" cy="283464"/>
          </a:xfrm>
          <a:prstGeom prst="roundRect">
            <a:avLst>
              <a:gd fmla="val 19355" name="adj"/>
            </a:avLst>
          </a:prstGeom>
          <a:solidFill>
            <a:srgbClr val="E1F0ED"/>
          </a:solidFill>
          <a:ln cap="flat" cmpd="sng" w="114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1"/>
          <p:cNvSpPr txBox="1"/>
          <p:nvPr/>
        </p:nvSpPr>
        <p:spPr>
          <a:xfrm>
            <a:off x="2864366" y="3547872"/>
            <a:ext cx="2927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E5F55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1"/>
          <p:cNvSpPr/>
          <p:nvPr/>
        </p:nvSpPr>
        <p:spPr>
          <a:xfrm>
            <a:off x="3202857" y="3547872"/>
            <a:ext cx="366088" cy="283464"/>
          </a:xfrm>
          <a:prstGeom prst="roundRect">
            <a:avLst>
              <a:gd fmla="val 19355" name="adj"/>
            </a:avLst>
          </a:prstGeom>
          <a:solidFill>
            <a:srgbClr val="E1F0ED"/>
          </a:solidFill>
          <a:ln cap="flat" cmpd="sng" w="114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1"/>
          <p:cNvSpPr txBox="1"/>
          <p:nvPr/>
        </p:nvSpPr>
        <p:spPr>
          <a:xfrm>
            <a:off x="3202857" y="3547872"/>
            <a:ext cx="36608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E5F55"/>
                </a:solidFill>
                <a:latin typeface="Consolas"/>
                <a:ea typeface="Consolas"/>
                <a:cs typeface="Consolas"/>
                <a:sym typeface="Consolas"/>
              </a:rPr>
              <a:t>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1"/>
          <p:cNvSpPr/>
          <p:nvPr/>
        </p:nvSpPr>
        <p:spPr>
          <a:xfrm>
            <a:off x="3614665" y="3547872"/>
            <a:ext cx="805983" cy="283464"/>
          </a:xfrm>
          <a:prstGeom prst="roundRect">
            <a:avLst>
              <a:gd fmla="val 19355" name="adj"/>
            </a:avLst>
          </a:prstGeom>
          <a:solidFill>
            <a:srgbClr val="E1F0ED"/>
          </a:solidFill>
          <a:ln cap="flat" cmpd="sng" w="114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1"/>
          <p:cNvSpPr txBox="1"/>
          <p:nvPr/>
        </p:nvSpPr>
        <p:spPr>
          <a:xfrm>
            <a:off x="3614665" y="3547872"/>
            <a:ext cx="805983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E5F55"/>
                </a:solidFill>
                <a:latin typeface="Consolas"/>
                <a:ea typeface="Consolas"/>
                <a:cs typeface="Consolas"/>
                <a:sym typeface="Consolas"/>
              </a:rPr>
              <a:t>espanhol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1"/>
          <p:cNvSpPr/>
          <p:nvPr/>
        </p:nvSpPr>
        <p:spPr>
          <a:xfrm>
            <a:off x="4466368" y="3547872"/>
            <a:ext cx="292772" cy="283464"/>
          </a:xfrm>
          <a:prstGeom prst="roundRect">
            <a:avLst>
              <a:gd fmla="val 19355" name="adj"/>
            </a:avLst>
          </a:prstGeom>
          <a:solidFill>
            <a:srgbClr val="E1F0ED"/>
          </a:solidFill>
          <a:ln cap="flat" cmpd="sng" w="114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1"/>
          <p:cNvSpPr txBox="1"/>
          <p:nvPr/>
        </p:nvSpPr>
        <p:spPr>
          <a:xfrm>
            <a:off x="4466368" y="3547872"/>
            <a:ext cx="2927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E5F55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1"/>
          <p:cNvSpPr/>
          <p:nvPr/>
        </p:nvSpPr>
        <p:spPr>
          <a:xfrm>
            <a:off x="4804860" y="3547872"/>
            <a:ext cx="952614" cy="283464"/>
          </a:xfrm>
          <a:prstGeom prst="roundRect">
            <a:avLst>
              <a:gd fmla="val 19355" name="adj"/>
            </a:avLst>
          </a:prstGeom>
          <a:solidFill>
            <a:srgbClr val="E1F0ED"/>
          </a:solidFill>
          <a:ln cap="flat" cmpd="sng" w="114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31"/>
          <p:cNvSpPr txBox="1"/>
          <p:nvPr/>
        </p:nvSpPr>
        <p:spPr>
          <a:xfrm>
            <a:off x="4804860" y="3547872"/>
            <a:ext cx="95261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E5F55"/>
                </a:solidFill>
                <a:latin typeface="Consolas"/>
                <a:ea typeface="Consolas"/>
                <a:cs typeface="Consolas"/>
                <a:sym typeface="Consolas"/>
              </a:rPr>
              <a:t>&lt;|im_end|&gt;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1"/>
          <p:cNvSpPr/>
          <p:nvPr/>
        </p:nvSpPr>
        <p:spPr>
          <a:xfrm>
            <a:off x="5803194" y="3547872"/>
            <a:ext cx="347800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1"/>
          <p:cNvSpPr txBox="1"/>
          <p:nvPr/>
        </p:nvSpPr>
        <p:spPr>
          <a:xfrm>
            <a:off x="5803194" y="3547872"/>
            <a:ext cx="3478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1"/>
          <p:cNvSpPr/>
          <p:nvPr/>
        </p:nvSpPr>
        <p:spPr>
          <a:xfrm>
            <a:off x="777240" y="3895344"/>
            <a:ext cx="1099246" cy="283464"/>
          </a:xfrm>
          <a:prstGeom prst="roundRect">
            <a:avLst>
              <a:gd fmla="val 19355" name="adj"/>
            </a:avLst>
          </a:prstGeom>
          <a:solidFill>
            <a:srgbClr val="FBEFE1"/>
          </a:solidFill>
          <a:ln cap="flat" cmpd="sng" w="11425">
            <a:solidFill>
              <a:srgbClr val="E08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1"/>
          <p:cNvSpPr txBox="1"/>
          <p:nvPr/>
        </p:nvSpPr>
        <p:spPr>
          <a:xfrm>
            <a:off x="777240" y="3895344"/>
            <a:ext cx="109924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&lt;|im_start|&gt;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1"/>
          <p:cNvSpPr/>
          <p:nvPr/>
        </p:nvSpPr>
        <p:spPr>
          <a:xfrm>
            <a:off x="1922206" y="3895344"/>
            <a:ext cx="512719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1"/>
          <p:cNvSpPr txBox="1"/>
          <p:nvPr/>
        </p:nvSpPr>
        <p:spPr>
          <a:xfrm>
            <a:off x="1922206" y="3895344"/>
            <a:ext cx="512719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1"/>
          <p:cNvSpPr/>
          <p:nvPr/>
        </p:nvSpPr>
        <p:spPr>
          <a:xfrm>
            <a:off x="2480645" y="3895344"/>
            <a:ext cx="347800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1"/>
          <p:cNvSpPr txBox="1"/>
          <p:nvPr/>
        </p:nvSpPr>
        <p:spPr>
          <a:xfrm>
            <a:off x="2480645" y="3895344"/>
            <a:ext cx="3478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1"/>
          <p:cNvSpPr/>
          <p:nvPr/>
        </p:nvSpPr>
        <p:spPr>
          <a:xfrm>
            <a:off x="777240" y="4242816"/>
            <a:ext cx="292772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31"/>
          <p:cNvSpPr txBox="1"/>
          <p:nvPr/>
        </p:nvSpPr>
        <p:spPr>
          <a:xfrm>
            <a:off x="777240" y="4242816"/>
            <a:ext cx="2927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1"/>
          <p:cNvSpPr/>
          <p:nvPr/>
        </p:nvSpPr>
        <p:spPr>
          <a:xfrm>
            <a:off x="1115732" y="4242816"/>
            <a:ext cx="292772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1"/>
          <p:cNvSpPr txBox="1"/>
          <p:nvPr/>
        </p:nvSpPr>
        <p:spPr>
          <a:xfrm>
            <a:off x="1115732" y="4242816"/>
            <a:ext cx="2927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1"/>
          <p:cNvSpPr/>
          <p:nvPr/>
        </p:nvSpPr>
        <p:spPr>
          <a:xfrm>
            <a:off x="1454224" y="4242816"/>
            <a:ext cx="732667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1"/>
          <p:cNvSpPr txBox="1"/>
          <p:nvPr/>
        </p:nvSpPr>
        <p:spPr>
          <a:xfrm>
            <a:off x="1454224" y="4242816"/>
            <a:ext cx="732667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capital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1"/>
          <p:cNvSpPr/>
          <p:nvPr/>
        </p:nvSpPr>
        <p:spPr>
          <a:xfrm>
            <a:off x="2232610" y="4242816"/>
            <a:ext cx="292772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1"/>
          <p:cNvSpPr txBox="1"/>
          <p:nvPr/>
        </p:nvSpPr>
        <p:spPr>
          <a:xfrm>
            <a:off x="2232610" y="4242816"/>
            <a:ext cx="2927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1"/>
          <p:cNvSpPr/>
          <p:nvPr/>
        </p:nvSpPr>
        <p:spPr>
          <a:xfrm>
            <a:off x="2571102" y="4242816"/>
            <a:ext cx="952614" cy="283464"/>
          </a:xfrm>
          <a:prstGeom prst="roundRect">
            <a:avLst>
              <a:gd fmla="val 19355" name="adj"/>
            </a:avLst>
          </a:prstGeom>
          <a:solidFill>
            <a:srgbClr val="FBEFE1"/>
          </a:solidFill>
          <a:ln cap="flat" cmpd="sng" w="11425">
            <a:solidFill>
              <a:srgbClr val="E08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1"/>
          <p:cNvSpPr txBox="1"/>
          <p:nvPr/>
        </p:nvSpPr>
        <p:spPr>
          <a:xfrm>
            <a:off x="2571102" y="4242816"/>
            <a:ext cx="95261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&lt;|im_end|&gt;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1"/>
          <p:cNvSpPr/>
          <p:nvPr/>
        </p:nvSpPr>
        <p:spPr>
          <a:xfrm>
            <a:off x="3569437" y="4242816"/>
            <a:ext cx="347800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1"/>
          <p:cNvSpPr txBox="1"/>
          <p:nvPr/>
        </p:nvSpPr>
        <p:spPr>
          <a:xfrm>
            <a:off x="3569437" y="4242816"/>
            <a:ext cx="3478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1"/>
          <p:cNvSpPr/>
          <p:nvPr/>
        </p:nvSpPr>
        <p:spPr>
          <a:xfrm>
            <a:off x="777240" y="4590288"/>
            <a:ext cx="1099246" cy="283464"/>
          </a:xfrm>
          <a:prstGeom prst="roundRect">
            <a:avLst>
              <a:gd fmla="val 19355" name="adj"/>
            </a:avLst>
          </a:prstGeom>
          <a:solidFill>
            <a:srgbClr val="FBEFE1"/>
          </a:solidFill>
          <a:ln cap="flat" cmpd="sng" w="11425">
            <a:solidFill>
              <a:srgbClr val="E08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1"/>
          <p:cNvSpPr txBox="1"/>
          <p:nvPr/>
        </p:nvSpPr>
        <p:spPr>
          <a:xfrm>
            <a:off x="777240" y="4590288"/>
            <a:ext cx="1099246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&lt;|im_start|&gt;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1"/>
          <p:cNvSpPr/>
          <p:nvPr/>
        </p:nvSpPr>
        <p:spPr>
          <a:xfrm>
            <a:off x="1922206" y="4590288"/>
            <a:ext cx="879298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1"/>
          <p:cNvSpPr txBox="1"/>
          <p:nvPr/>
        </p:nvSpPr>
        <p:spPr>
          <a:xfrm>
            <a:off x="1922206" y="4590288"/>
            <a:ext cx="87929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assistant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1"/>
          <p:cNvSpPr/>
          <p:nvPr/>
        </p:nvSpPr>
        <p:spPr>
          <a:xfrm>
            <a:off x="2847224" y="4590288"/>
            <a:ext cx="347800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1"/>
          <p:cNvSpPr txBox="1"/>
          <p:nvPr/>
        </p:nvSpPr>
        <p:spPr>
          <a:xfrm>
            <a:off x="2847224" y="4590288"/>
            <a:ext cx="3478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1"/>
          <p:cNvSpPr/>
          <p:nvPr/>
        </p:nvSpPr>
        <p:spPr>
          <a:xfrm>
            <a:off x="777240" y="4937760"/>
            <a:ext cx="292772" cy="283464"/>
          </a:xfrm>
          <a:prstGeom prst="roundRect">
            <a:avLst>
              <a:gd fmla="val 19355" name="adj"/>
            </a:avLst>
          </a:prstGeom>
          <a:solidFill>
            <a:srgbClr val="E1F0ED"/>
          </a:solidFill>
          <a:ln cap="flat" cmpd="sng" w="114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1"/>
          <p:cNvSpPr txBox="1"/>
          <p:nvPr/>
        </p:nvSpPr>
        <p:spPr>
          <a:xfrm>
            <a:off x="777240" y="4937760"/>
            <a:ext cx="2927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E5F55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1"/>
          <p:cNvSpPr/>
          <p:nvPr/>
        </p:nvSpPr>
        <p:spPr>
          <a:xfrm>
            <a:off x="1115732" y="4937760"/>
            <a:ext cx="732667" cy="283464"/>
          </a:xfrm>
          <a:prstGeom prst="roundRect">
            <a:avLst>
              <a:gd fmla="val 19355" name="adj"/>
            </a:avLst>
          </a:prstGeom>
          <a:solidFill>
            <a:srgbClr val="E1F0ED"/>
          </a:solidFill>
          <a:ln cap="flat" cmpd="sng" w="114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1"/>
          <p:cNvSpPr txBox="1"/>
          <p:nvPr/>
        </p:nvSpPr>
        <p:spPr>
          <a:xfrm>
            <a:off x="1115732" y="4937760"/>
            <a:ext cx="732667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E5F55"/>
                </a:solidFill>
                <a:latin typeface="Consolas"/>
                <a:ea typeface="Consolas"/>
                <a:cs typeface="Consolas"/>
                <a:sym typeface="Consolas"/>
              </a:rPr>
              <a:t>capital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1"/>
          <p:cNvSpPr/>
          <p:nvPr/>
        </p:nvSpPr>
        <p:spPr>
          <a:xfrm>
            <a:off x="1894119" y="4937760"/>
            <a:ext cx="366088" cy="283464"/>
          </a:xfrm>
          <a:prstGeom prst="roundRect">
            <a:avLst>
              <a:gd fmla="val 19355" name="adj"/>
            </a:avLst>
          </a:prstGeom>
          <a:solidFill>
            <a:srgbClr val="E1F0ED"/>
          </a:solidFill>
          <a:ln cap="flat" cmpd="sng" w="114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1"/>
          <p:cNvSpPr txBox="1"/>
          <p:nvPr/>
        </p:nvSpPr>
        <p:spPr>
          <a:xfrm>
            <a:off x="1894119" y="4937760"/>
            <a:ext cx="36608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E5F55"/>
                </a:solidFill>
                <a:latin typeface="Consolas"/>
                <a:ea typeface="Consolas"/>
                <a:cs typeface="Consolas"/>
                <a:sym typeface="Consolas"/>
              </a:rPr>
              <a:t>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1"/>
          <p:cNvSpPr/>
          <p:nvPr/>
        </p:nvSpPr>
        <p:spPr>
          <a:xfrm>
            <a:off x="2305926" y="4937760"/>
            <a:ext cx="732667" cy="283464"/>
          </a:xfrm>
          <a:prstGeom prst="roundRect">
            <a:avLst>
              <a:gd fmla="val 19355" name="adj"/>
            </a:avLst>
          </a:prstGeom>
          <a:solidFill>
            <a:srgbClr val="E1F0ED"/>
          </a:solidFill>
          <a:ln cap="flat" cmpd="sng" w="114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1"/>
          <p:cNvSpPr txBox="1"/>
          <p:nvPr/>
        </p:nvSpPr>
        <p:spPr>
          <a:xfrm>
            <a:off x="2305926" y="4937760"/>
            <a:ext cx="732667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E5F55"/>
                </a:solidFill>
                <a:latin typeface="Consolas"/>
                <a:ea typeface="Consolas"/>
                <a:cs typeface="Consolas"/>
                <a:sym typeface="Consolas"/>
              </a:rPr>
              <a:t>Espanha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1"/>
          <p:cNvSpPr/>
          <p:nvPr/>
        </p:nvSpPr>
        <p:spPr>
          <a:xfrm>
            <a:off x="3084313" y="4937760"/>
            <a:ext cx="292772" cy="283464"/>
          </a:xfrm>
          <a:prstGeom prst="roundRect">
            <a:avLst>
              <a:gd fmla="val 19355" name="adj"/>
            </a:avLst>
          </a:prstGeom>
          <a:solidFill>
            <a:srgbClr val="E1F0ED"/>
          </a:solidFill>
          <a:ln cap="flat" cmpd="sng" w="114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1"/>
          <p:cNvSpPr txBox="1"/>
          <p:nvPr/>
        </p:nvSpPr>
        <p:spPr>
          <a:xfrm>
            <a:off x="3084313" y="4937760"/>
            <a:ext cx="2927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E5F55"/>
                </a:solidFill>
                <a:latin typeface="Consolas"/>
                <a:ea typeface="Consolas"/>
                <a:cs typeface="Consolas"/>
                <a:sym typeface="Consolas"/>
              </a:rPr>
              <a:t>é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1"/>
          <p:cNvSpPr/>
          <p:nvPr/>
        </p:nvSpPr>
        <p:spPr>
          <a:xfrm>
            <a:off x="3422805" y="4937760"/>
            <a:ext cx="586035" cy="283464"/>
          </a:xfrm>
          <a:prstGeom prst="roundRect">
            <a:avLst>
              <a:gd fmla="val 19355" name="adj"/>
            </a:avLst>
          </a:prstGeom>
          <a:solidFill>
            <a:srgbClr val="E1F0ED"/>
          </a:solidFill>
          <a:ln cap="flat" cmpd="sng" w="114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1"/>
          <p:cNvSpPr txBox="1"/>
          <p:nvPr/>
        </p:nvSpPr>
        <p:spPr>
          <a:xfrm>
            <a:off x="3422805" y="4937760"/>
            <a:ext cx="586035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E5F55"/>
                </a:solidFill>
                <a:latin typeface="Consolas"/>
                <a:ea typeface="Consolas"/>
                <a:cs typeface="Consolas"/>
                <a:sym typeface="Consolas"/>
              </a:rPr>
              <a:t>Madri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1"/>
          <p:cNvSpPr/>
          <p:nvPr/>
        </p:nvSpPr>
        <p:spPr>
          <a:xfrm>
            <a:off x="4054560" y="4937760"/>
            <a:ext cx="292772" cy="283464"/>
          </a:xfrm>
          <a:prstGeom prst="roundRect">
            <a:avLst>
              <a:gd fmla="val 19355" name="adj"/>
            </a:avLst>
          </a:prstGeom>
          <a:solidFill>
            <a:srgbClr val="E1F0ED"/>
          </a:solidFill>
          <a:ln cap="flat" cmpd="sng" w="114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1"/>
          <p:cNvSpPr txBox="1"/>
          <p:nvPr/>
        </p:nvSpPr>
        <p:spPr>
          <a:xfrm>
            <a:off x="4054560" y="4937760"/>
            <a:ext cx="2927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E5F55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1"/>
          <p:cNvSpPr/>
          <p:nvPr/>
        </p:nvSpPr>
        <p:spPr>
          <a:xfrm>
            <a:off x="4393052" y="4937760"/>
            <a:ext cx="952614" cy="283464"/>
          </a:xfrm>
          <a:prstGeom prst="roundRect">
            <a:avLst>
              <a:gd fmla="val 19355" name="adj"/>
            </a:avLst>
          </a:prstGeom>
          <a:solidFill>
            <a:srgbClr val="E1F0ED"/>
          </a:solidFill>
          <a:ln cap="flat" cmpd="sng" w="114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1"/>
          <p:cNvSpPr txBox="1"/>
          <p:nvPr/>
        </p:nvSpPr>
        <p:spPr>
          <a:xfrm>
            <a:off x="4393052" y="4937760"/>
            <a:ext cx="95261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0E5F55"/>
                </a:solidFill>
                <a:latin typeface="Consolas"/>
                <a:ea typeface="Consolas"/>
                <a:cs typeface="Consolas"/>
                <a:sym typeface="Consolas"/>
              </a:rPr>
              <a:t>&lt;|im_end|&gt;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1"/>
          <p:cNvSpPr/>
          <p:nvPr/>
        </p:nvSpPr>
        <p:spPr>
          <a:xfrm>
            <a:off x="5391386" y="4937760"/>
            <a:ext cx="347800" cy="283464"/>
          </a:xfrm>
          <a:prstGeom prst="roundRect">
            <a:avLst>
              <a:gd fmla="val 19355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31"/>
          <p:cNvSpPr txBox="1"/>
          <p:nvPr/>
        </p:nvSpPr>
        <p:spPr>
          <a:xfrm>
            <a:off x="5391386" y="4937760"/>
            <a:ext cx="3478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1"/>
          <p:cNvSpPr/>
          <p:nvPr/>
        </p:nvSpPr>
        <p:spPr>
          <a:xfrm>
            <a:off x="777240" y="5724144"/>
            <a:ext cx="329184" cy="237744"/>
          </a:xfrm>
          <a:prstGeom prst="roundRect">
            <a:avLst>
              <a:gd fmla="val 23077" name="adj"/>
            </a:avLst>
          </a:prstGeom>
          <a:solidFill>
            <a:srgbClr val="E1F0ED"/>
          </a:solidFill>
          <a:ln cap="flat" cmpd="sng" w="114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1"/>
          <p:cNvSpPr txBox="1"/>
          <p:nvPr/>
        </p:nvSpPr>
        <p:spPr>
          <a:xfrm>
            <a:off x="777240" y="5724144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E5F5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1"/>
          <p:cNvSpPr txBox="1"/>
          <p:nvPr/>
        </p:nvSpPr>
        <p:spPr>
          <a:xfrm>
            <a:off x="1188720" y="5724144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alvo: entra na perda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1"/>
          <p:cNvSpPr/>
          <p:nvPr/>
        </p:nvSpPr>
        <p:spPr>
          <a:xfrm>
            <a:off x="3520440" y="5724144"/>
            <a:ext cx="329184" cy="237744"/>
          </a:xfrm>
          <a:prstGeom prst="roundRect">
            <a:avLst>
              <a:gd fmla="val 23077" name="adj"/>
            </a:avLst>
          </a:prstGeom>
          <a:solidFill>
            <a:srgbClr val="EFF3F7"/>
          </a:solidFill>
          <a:ln cap="flat" cmpd="sng" w="114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31"/>
          <p:cNvSpPr txBox="1"/>
          <p:nvPr/>
        </p:nvSpPr>
        <p:spPr>
          <a:xfrm>
            <a:off x="3520440" y="5724144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B5D7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1"/>
          <p:cNvSpPr txBox="1"/>
          <p:nvPr/>
        </p:nvSpPr>
        <p:spPr>
          <a:xfrm>
            <a:off x="3931920" y="5724144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contexto: lido, sem perda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1"/>
          <p:cNvSpPr/>
          <p:nvPr/>
        </p:nvSpPr>
        <p:spPr>
          <a:xfrm>
            <a:off x="6263640" y="5724144"/>
            <a:ext cx="329184" cy="237744"/>
          </a:xfrm>
          <a:prstGeom prst="roundRect">
            <a:avLst>
              <a:gd fmla="val 23077" name="adj"/>
            </a:avLst>
          </a:prstGeom>
          <a:solidFill>
            <a:srgbClr val="FBEFE1"/>
          </a:solidFill>
          <a:ln cap="flat" cmpd="sng" w="11425">
            <a:solidFill>
              <a:srgbClr val="E08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1"/>
          <p:cNvSpPr txBox="1"/>
          <p:nvPr/>
        </p:nvSpPr>
        <p:spPr>
          <a:xfrm>
            <a:off x="6263640" y="5724144"/>
            <a:ext cx="3291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55A18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1"/>
          <p:cNvSpPr txBox="1"/>
          <p:nvPr/>
        </p:nvSpPr>
        <p:spPr>
          <a:xfrm>
            <a:off x="6675120" y="5724144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token especial do template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1"/>
          <p:cNvSpPr/>
          <p:nvPr/>
        </p:nvSpPr>
        <p:spPr>
          <a:xfrm>
            <a:off x="7863840" y="1810512"/>
            <a:ext cx="3550615" cy="731520"/>
          </a:xfrm>
          <a:prstGeom prst="roundRect">
            <a:avLst>
              <a:gd fmla="val 10000" name="adj"/>
            </a:avLst>
          </a:prstGeom>
          <a:solidFill>
            <a:srgbClr val="0F1C2E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1"/>
          <p:cNvSpPr txBox="1"/>
          <p:nvPr/>
        </p:nvSpPr>
        <p:spPr>
          <a:xfrm>
            <a:off x="8183880" y="1810512"/>
            <a:ext cx="291053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 = −(1/|A|) · Σ ln p(xₜ | x&lt;ₜ)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1"/>
          <p:cNvSpPr txBox="1"/>
          <p:nvPr/>
        </p:nvSpPr>
        <p:spPr>
          <a:xfrm>
            <a:off x="7863840" y="2615184"/>
            <a:ext cx="355061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A = posições da resposta: a soma corre só nelas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1"/>
          <p:cNvSpPr txBox="1"/>
          <p:nvPr/>
        </p:nvSpPr>
        <p:spPr>
          <a:xfrm>
            <a:off x="7863840" y="3063240"/>
            <a:ext cx="35506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Nos nossos dados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1"/>
          <p:cNvSpPr txBox="1"/>
          <p:nvPr/>
        </p:nvSpPr>
        <p:spPr>
          <a:xfrm>
            <a:off x="7863840" y="3392424"/>
            <a:ext cx="3550615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7.627 de 27.895 tokens são alvo (27%). No código, alvo = 0 zera o termo da perda; no PyTorch, o rótulo −100 faz o mesmo.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1"/>
          <p:cNvSpPr txBox="1"/>
          <p:nvPr/>
        </p:nvSpPr>
        <p:spPr>
          <a:xfrm>
            <a:off x="7863840" y="4160520"/>
            <a:ext cx="35506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Mascarar não é esconder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1"/>
          <p:cNvSpPr txBox="1"/>
          <p:nvPr/>
        </p:nvSpPr>
        <p:spPr>
          <a:xfrm>
            <a:off x="7863840" y="4489704"/>
            <a:ext cx="3550615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O prompt continua sendo lido, e o gradiente passa por ele, porque a resposta depende dele. Só não há termo de perda nas posições do prompt.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1"/>
          <p:cNvSpPr txBox="1"/>
          <p:nvPr/>
        </p:nvSpPr>
        <p:spPr>
          <a:xfrm>
            <a:off x="777240" y="6035040"/>
            <a:ext cx="1063721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Llama 2: 'zeramos a perda nos tokens do prompt do usuário' (Touvron et al., 2023). TRL: completion_only_loss e assistant_only_loss.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1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2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O token de fim também é alvo</a:t>
            </a:r>
            <a:endParaRPr sz="3100"/>
          </a:p>
        </p:txBody>
      </p:sp>
      <p:sp>
        <p:nvSpPr>
          <p:cNvPr id="661" name="Google Shape;661;p32"/>
          <p:cNvSpPr txBox="1"/>
          <p:nvPr/>
        </p:nvSpPr>
        <p:spPr>
          <a:xfrm>
            <a:off x="777240" y="1335024"/>
            <a:ext cx="106372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Experimento: o mesmo ajuste, mas com o &lt;|im_end|&gt; da resposta fora dos alvos.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2"/>
          <p:cNvSpPr txBox="1"/>
          <p:nvPr/>
        </p:nvSpPr>
        <p:spPr>
          <a:xfrm>
            <a:off x="777240" y="1783080"/>
            <a:ext cx="51357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E5F55"/>
                </a:solidFill>
                <a:latin typeface="Cambria"/>
                <a:ea typeface="Cambria"/>
                <a:cs typeface="Cambria"/>
                <a:sym typeface="Cambria"/>
              </a:rPr>
              <a:t>Com &lt;|im_end|&gt; nos alvos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2"/>
          <p:cNvSpPr/>
          <p:nvPr/>
        </p:nvSpPr>
        <p:spPr>
          <a:xfrm>
            <a:off x="777240" y="2194560"/>
            <a:ext cx="5135728" cy="603504"/>
          </a:xfrm>
          <a:prstGeom prst="roundRect">
            <a:avLst>
              <a:gd fmla="val 12121" name="adj"/>
            </a:avLst>
          </a:prstGeom>
          <a:solidFill>
            <a:srgbClr val="FFFFFF"/>
          </a:solidFill>
          <a:ln cap="flat" cmpd="sng" w="152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2"/>
          <p:cNvSpPr txBox="1"/>
          <p:nvPr/>
        </p:nvSpPr>
        <p:spPr>
          <a:xfrm>
            <a:off x="941832" y="2249424"/>
            <a:ext cx="48065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2"/>
          <p:cNvSpPr txBox="1"/>
          <p:nvPr/>
        </p:nvSpPr>
        <p:spPr>
          <a:xfrm>
            <a:off x="941832" y="2487168"/>
            <a:ext cx="48065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Qual é a capital da Noruega?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2"/>
          <p:cNvSpPr/>
          <p:nvPr/>
        </p:nvSpPr>
        <p:spPr>
          <a:xfrm>
            <a:off x="777240" y="2889504"/>
            <a:ext cx="5135728" cy="1051560"/>
          </a:xfrm>
          <a:prstGeom prst="roundRect">
            <a:avLst>
              <a:gd fmla="val 6957" name="adj"/>
            </a:avLst>
          </a:prstGeom>
          <a:solidFill>
            <a:srgbClr val="E1F0ED"/>
          </a:solidFill>
          <a:ln cap="flat" cmpd="sng" w="15225">
            <a:solidFill>
              <a:srgbClr val="17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2"/>
          <p:cNvSpPr txBox="1"/>
          <p:nvPr/>
        </p:nvSpPr>
        <p:spPr>
          <a:xfrm>
            <a:off x="941832" y="2944368"/>
            <a:ext cx="48065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E5F55"/>
                </a:solidFill>
                <a:latin typeface="Calibri"/>
                <a:ea typeface="Calibri"/>
                <a:cs typeface="Calibri"/>
                <a:sym typeface="Calibri"/>
              </a:rPr>
              <a:t>ASSISTANT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2"/>
          <p:cNvSpPr txBox="1"/>
          <p:nvPr/>
        </p:nvSpPr>
        <p:spPr>
          <a:xfrm>
            <a:off x="941832" y="3182112"/>
            <a:ext cx="4806544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A capital da Noruega é Oslo.&lt;|im_end|&gt;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2"/>
          <p:cNvSpPr/>
          <p:nvPr/>
        </p:nvSpPr>
        <p:spPr>
          <a:xfrm>
            <a:off x="777240" y="4114800"/>
            <a:ext cx="2476424" cy="1143000"/>
          </a:xfrm>
          <a:prstGeom prst="roundRect">
            <a:avLst>
              <a:gd fmla="val 6400" name="adj"/>
            </a:avLst>
          </a:prstGeom>
          <a:solidFill>
            <a:srgbClr val="E1F0ED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2"/>
          <p:cNvSpPr txBox="1"/>
          <p:nvPr/>
        </p:nvSpPr>
        <p:spPr>
          <a:xfrm>
            <a:off x="960120" y="4160520"/>
            <a:ext cx="21106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E5F55"/>
                </a:solidFill>
                <a:latin typeface="Cambria"/>
                <a:ea typeface="Cambria"/>
                <a:cs typeface="Cambria"/>
                <a:sym typeface="Cambria"/>
              </a:rPr>
              <a:t>100%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2"/>
          <p:cNvSpPr txBox="1"/>
          <p:nvPr/>
        </p:nvSpPr>
        <p:spPr>
          <a:xfrm>
            <a:off x="960120" y="4800600"/>
            <a:ext cx="2110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das respostas param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2"/>
          <p:cNvSpPr/>
          <p:nvPr/>
        </p:nvSpPr>
        <p:spPr>
          <a:xfrm>
            <a:off x="3436544" y="4114800"/>
            <a:ext cx="2476424" cy="1143000"/>
          </a:xfrm>
          <a:prstGeom prst="roundRect">
            <a:avLst>
              <a:gd fmla="val 6400" name="adj"/>
            </a:avLst>
          </a:prstGeom>
          <a:solidFill>
            <a:srgbClr val="E1F0ED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32"/>
          <p:cNvSpPr txBox="1"/>
          <p:nvPr/>
        </p:nvSpPr>
        <p:spPr>
          <a:xfrm>
            <a:off x="3619424" y="4160520"/>
            <a:ext cx="21106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E5F55"/>
                </a:solidFill>
                <a:latin typeface="Cambria"/>
                <a:ea typeface="Cambria"/>
                <a:cs typeface="Cambria"/>
                <a:sym typeface="Cambria"/>
              </a:rPr>
              <a:t>96%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2"/>
          <p:cNvSpPr txBox="1"/>
          <p:nvPr/>
        </p:nvSpPr>
        <p:spPr>
          <a:xfrm>
            <a:off x="3619424" y="4800600"/>
            <a:ext cx="2110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de acerto exato fora do ajuste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2"/>
          <p:cNvSpPr txBox="1"/>
          <p:nvPr/>
        </p:nvSpPr>
        <p:spPr>
          <a:xfrm>
            <a:off x="6278728" y="1783080"/>
            <a:ext cx="51357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C0392B"/>
                </a:solidFill>
                <a:latin typeface="Cambria"/>
                <a:ea typeface="Cambria"/>
                <a:cs typeface="Cambria"/>
                <a:sym typeface="Cambria"/>
              </a:rPr>
              <a:t>Sem &lt;|im_end|&gt; nos alvos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2"/>
          <p:cNvSpPr/>
          <p:nvPr/>
        </p:nvSpPr>
        <p:spPr>
          <a:xfrm>
            <a:off x="6278728" y="2194560"/>
            <a:ext cx="5135728" cy="603504"/>
          </a:xfrm>
          <a:prstGeom prst="roundRect">
            <a:avLst>
              <a:gd fmla="val 12121" name="adj"/>
            </a:avLst>
          </a:prstGeom>
          <a:solidFill>
            <a:srgbClr val="FFFFFF"/>
          </a:solidFill>
          <a:ln cap="flat" cmpd="sng" w="152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2"/>
          <p:cNvSpPr txBox="1"/>
          <p:nvPr/>
        </p:nvSpPr>
        <p:spPr>
          <a:xfrm>
            <a:off x="6443320" y="2249424"/>
            <a:ext cx="48065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2"/>
          <p:cNvSpPr txBox="1"/>
          <p:nvPr/>
        </p:nvSpPr>
        <p:spPr>
          <a:xfrm>
            <a:off x="6443320" y="2487168"/>
            <a:ext cx="48065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Qual é a capital da Noruega?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2"/>
          <p:cNvSpPr/>
          <p:nvPr/>
        </p:nvSpPr>
        <p:spPr>
          <a:xfrm>
            <a:off x="6278728" y="2889504"/>
            <a:ext cx="5135728" cy="1051560"/>
          </a:xfrm>
          <a:prstGeom prst="roundRect">
            <a:avLst>
              <a:gd fmla="val 6957" name="adj"/>
            </a:avLst>
          </a:prstGeom>
          <a:solidFill>
            <a:srgbClr val="F8E3E0"/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2"/>
          <p:cNvSpPr txBox="1"/>
          <p:nvPr/>
        </p:nvSpPr>
        <p:spPr>
          <a:xfrm>
            <a:off x="6443320" y="2944368"/>
            <a:ext cx="48065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ASSISTANT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2"/>
          <p:cNvSpPr txBox="1"/>
          <p:nvPr/>
        </p:nvSpPr>
        <p:spPr>
          <a:xfrm>
            <a:off x="6443320" y="3182112"/>
            <a:ext cx="4806544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0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A capital da Noruega é Oslo. &lt;|endoftext|&gt; A capital da Venezuela é Bangkok. A…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2"/>
          <p:cNvSpPr/>
          <p:nvPr/>
        </p:nvSpPr>
        <p:spPr>
          <a:xfrm>
            <a:off x="6278728" y="4114800"/>
            <a:ext cx="2476424" cy="1143000"/>
          </a:xfrm>
          <a:prstGeom prst="roundRect">
            <a:avLst>
              <a:gd fmla="val 6400" name="adj"/>
            </a:avLst>
          </a:prstGeom>
          <a:solidFill>
            <a:srgbClr val="F8E3E0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32"/>
          <p:cNvSpPr txBox="1"/>
          <p:nvPr/>
        </p:nvSpPr>
        <p:spPr>
          <a:xfrm>
            <a:off x="6461608" y="4160520"/>
            <a:ext cx="21106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C0392B"/>
                </a:solidFill>
                <a:latin typeface="Cambria"/>
                <a:ea typeface="Cambria"/>
                <a:cs typeface="Cambria"/>
                <a:sym typeface="Cambria"/>
              </a:rPr>
              <a:t>0%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2"/>
          <p:cNvSpPr txBox="1"/>
          <p:nvPr/>
        </p:nvSpPr>
        <p:spPr>
          <a:xfrm>
            <a:off x="6461608" y="4800600"/>
            <a:ext cx="2110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das respostas param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2"/>
          <p:cNvSpPr/>
          <p:nvPr/>
        </p:nvSpPr>
        <p:spPr>
          <a:xfrm>
            <a:off x="8938031" y="4114800"/>
            <a:ext cx="2476424" cy="1143000"/>
          </a:xfrm>
          <a:prstGeom prst="roundRect">
            <a:avLst>
              <a:gd fmla="val 6400" name="adj"/>
            </a:avLst>
          </a:prstGeom>
          <a:solidFill>
            <a:srgbClr val="F8E3E0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32"/>
          <p:cNvSpPr txBox="1"/>
          <p:nvPr/>
        </p:nvSpPr>
        <p:spPr>
          <a:xfrm>
            <a:off x="9120911" y="4160520"/>
            <a:ext cx="211066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C0392B"/>
                </a:solidFill>
                <a:latin typeface="Cambria"/>
                <a:ea typeface="Cambria"/>
                <a:cs typeface="Cambria"/>
                <a:sym typeface="Cambria"/>
              </a:rPr>
              <a:t>0%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2"/>
          <p:cNvSpPr txBox="1"/>
          <p:nvPr/>
        </p:nvSpPr>
        <p:spPr>
          <a:xfrm>
            <a:off x="9120911" y="4800600"/>
            <a:ext cx="2110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de acerto exato fora do ajuste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2"/>
          <p:cNvSpPr/>
          <p:nvPr/>
        </p:nvSpPr>
        <p:spPr>
          <a:xfrm>
            <a:off x="777240" y="5486400"/>
            <a:ext cx="10637215" cy="457200"/>
          </a:xfrm>
          <a:prstGeom prst="roundRect">
            <a:avLst>
              <a:gd fmla="val 16000" name="adj"/>
            </a:avLst>
          </a:prstGeom>
          <a:solidFill>
            <a:srgbClr val="0F1C2E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2"/>
          <p:cNvSpPr txBox="1"/>
          <p:nvPr/>
        </p:nvSpPr>
        <p:spPr>
          <a:xfrm>
            <a:off x="1051560" y="5486400"/>
            <a:ext cx="10088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resposta estava certa; faltou aprender a parar. O LIMA usa um token de fim de turno pelo mesmo motivo.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2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3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Mascarar ou não? Uma escolha a validar</a:t>
            </a:r>
            <a:endParaRPr sz="3100"/>
          </a:p>
        </p:txBody>
      </p:sp>
      <p:sp>
        <p:nvSpPr>
          <p:cNvPr id="697" name="Google Shape;697;p33"/>
          <p:cNvSpPr txBox="1"/>
          <p:nvPr/>
        </p:nvSpPr>
        <p:spPr>
          <a:xfrm>
            <a:off x="777240" y="1335024"/>
            <a:ext cx="106372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Comparação: perda só na resposta × perda em todos os tokens. Média de 3 sementes, países fora do ajuste.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8" name="Google Shape;69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783080"/>
            <a:ext cx="6583680" cy="39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33"/>
          <p:cNvSpPr txBox="1"/>
          <p:nvPr/>
        </p:nvSpPr>
        <p:spPr>
          <a:xfrm>
            <a:off x="7680960" y="1810512"/>
            <a:ext cx="373349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E5F55"/>
                </a:solidFill>
                <a:latin typeface="Calibri"/>
                <a:ea typeface="Calibri"/>
                <a:cs typeface="Calibri"/>
                <a:sym typeface="Calibri"/>
              </a:rPr>
              <a:t>Aqui, mascarar ganhou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3"/>
          <p:cNvSpPr txBox="1"/>
          <p:nvPr/>
        </p:nvSpPr>
        <p:spPr>
          <a:xfrm>
            <a:off x="7680960" y="2139696"/>
            <a:ext cx="373349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Nas três medidas e nas três sementes. Ensinar o modelo a prever as perguntas gastou capacidade que faltou nas respostas.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3"/>
          <p:cNvSpPr txBox="1"/>
          <p:nvPr/>
        </p:nvSpPr>
        <p:spPr>
          <a:xfrm>
            <a:off x="7680960" y="3108960"/>
            <a:ext cx="373349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Mas não é regra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3"/>
          <p:cNvSpPr txBox="1"/>
          <p:nvPr/>
        </p:nvSpPr>
        <p:spPr>
          <a:xfrm>
            <a:off x="7680960" y="3438144"/>
            <a:ext cx="373349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Com instruções longas e respostas curtas, ou com poucos exemplos, pôr perda também no prompt melhorou resultados em pesquisas recentes.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3"/>
          <p:cNvSpPr txBox="1"/>
          <p:nvPr/>
        </p:nvSpPr>
        <p:spPr>
          <a:xfrm>
            <a:off x="7680960" y="4407408"/>
            <a:ext cx="373349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Nas bibliotecas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3"/>
          <p:cNvSpPr txBox="1"/>
          <p:nvPr/>
        </p:nvSpPr>
        <p:spPr>
          <a:xfrm>
            <a:off x="7680960" y="4736592"/>
            <a:ext cx="37334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No TRL, completion_only_loss e assistant_only_loss decidem isso. Vale conferir o padrão da sua versão.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3"/>
          <p:cNvSpPr txBox="1"/>
          <p:nvPr/>
        </p:nvSpPr>
        <p:spPr>
          <a:xfrm>
            <a:off x="777240" y="5943600"/>
            <a:ext cx="1063721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Shi et al. (2024), Instruction Tuning With Loss Over Instructions; Huerta-Enochian e Ko (2024), Does Prompt Loss Matter?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3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4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Qualidade e quantidade dos exemplos</a:t>
            </a:r>
            <a:endParaRPr sz="3100"/>
          </a:p>
        </p:txBody>
      </p:sp>
      <p:sp>
        <p:nvSpPr>
          <p:cNvPr id="713" name="Google Shape;713;p34"/>
          <p:cNvSpPr txBox="1"/>
          <p:nvPr/>
        </p:nvSpPr>
        <p:spPr>
          <a:xfrm>
            <a:off x="777240" y="1335024"/>
            <a:ext cx="106372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Dois experimentos com o mesmo modelo base: errar respostas de propósito e variar o número de conversas.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4"/>
          <p:cNvSpPr txBox="1"/>
          <p:nvPr/>
        </p:nvSpPr>
        <p:spPr>
          <a:xfrm>
            <a:off x="777240" y="1783080"/>
            <a:ext cx="50900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Respostas erradas nos dados de ajuste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5" name="Google Shape;71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103120"/>
            <a:ext cx="5090008" cy="2880360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34"/>
          <p:cNvSpPr txBox="1"/>
          <p:nvPr/>
        </p:nvSpPr>
        <p:spPr>
          <a:xfrm>
            <a:off x="6324448" y="1783080"/>
            <a:ext cx="50900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Número de conversas de ajuste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7" name="Google Shape;71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448" y="2103120"/>
            <a:ext cx="5090008" cy="288036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34"/>
          <p:cNvSpPr/>
          <p:nvPr/>
        </p:nvSpPr>
        <p:spPr>
          <a:xfrm>
            <a:off x="777240" y="5120640"/>
            <a:ext cx="5090008" cy="777240"/>
          </a:xfrm>
          <a:prstGeom prst="roundRect">
            <a:avLst>
              <a:gd fmla="val 9412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4"/>
          <p:cNvSpPr txBox="1"/>
          <p:nvPr/>
        </p:nvSpPr>
        <p:spPr>
          <a:xfrm>
            <a:off x="1005840" y="5120640"/>
            <a:ext cx="463280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Com metade das respostas erradas, o modelo ainda acerta 87% nos países do ajuste (decorou), mas cai para 60% nos de fora: aprendeu a não usar o que sabe.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4"/>
          <p:cNvSpPr/>
          <p:nvPr/>
        </p:nvSpPr>
        <p:spPr>
          <a:xfrm>
            <a:off x="6324448" y="5120640"/>
            <a:ext cx="5090008" cy="777240"/>
          </a:xfrm>
          <a:prstGeom prst="roundRect">
            <a:avLst>
              <a:gd fmla="val 9412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4"/>
          <p:cNvSpPr txBox="1"/>
          <p:nvPr/>
        </p:nvSpPr>
        <p:spPr>
          <a:xfrm>
            <a:off x="6553048" y="5120640"/>
            <a:ext cx="463280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Com 16 conversas, o formato já vem: 100% das respostas param. Acertar exige mais cobertura: 46% com 16, 96% com 600.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4"/>
          <p:cNvSpPr txBox="1"/>
          <p:nvPr/>
        </p:nvSpPr>
        <p:spPr>
          <a:xfrm>
            <a:off x="777240" y="5989320"/>
            <a:ext cx="1063721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Na literatura: Llama 2, poucas anotações de alta qualidade &gt; milhões de terceiros; LIMA, 1.000 exemplos curados.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4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5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Diversidade: variar o pedido e o assunto</a:t>
            </a:r>
            <a:endParaRPr sz="3100"/>
          </a:p>
        </p:txBody>
      </p:sp>
      <p:sp>
        <p:nvSpPr>
          <p:cNvPr id="730" name="Google Shape;730;p35"/>
          <p:cNvSpPr txBox="1"/>
          <p:nvPr/>
        </p:nvSpPr>
        <p:spPr>
          <a:xfrm>
            <a:off x="777240" y="1335024"/>
            <a:ext cx="106372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Mesmas 600 conversas. Muda só a variedade: formas de perguntar e países cobertos.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5"/>
          <p:cNvSpPr txBox="1"/>
          <p:nvPr/>
        </p:nvSpPr>
        <p:spPr>
          <a:xfrm>
            <a:off x="777240" y="1783080"/>
            <a:ext cx="50900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Formas de perguntar no ajuste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2" name="Google Shape;73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103120"/>
            <a:ext cx="5090008" cy="2880360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35"/>
          <p:cNvSpPr txBox="1"/>
          <p:nvPr/>
        </p:nvSpPr>
        <p:spPr>
          <a:xfrm>
            <a:off x="6324448" y="1783080"/>
            <a:ext cx="50900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Países nos exemplos de ajuste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4" name="Google Shape;73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448" y="2103120"/>
            <a:ext cx="5090008" cy="288036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35"/>
          <p:cNvSpPr/>
          <p:nvPr/>
        </p:nvSpPr>
        <p:spPr>
          <a:xfrm>
            <a:off x="777240" y="5120640"/>
            <a:ext cx="5090008" cy="777240"/>
          </a:xfrm>
          <a:prstGeom prst="roundRect">
            <a:avLst>
              <a:gd fmla="val 9412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5"/>
          <p:cNvSpPr txBox="1"/>
          <p:nvPr/>
        </p:nvSpPr>
        <p:spPr>
          <a:xfrm>
            <a:off x="1005840" y="5120640"/>
            <a:ext cx="463280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Média de 3 sementes. Com uma forma só, o modelo acerta 48% das perguntas escritas de um jeito novo; com cinco, 85%.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5"/>
          <p:cNvSpPr/>
          <p:nvPr/>
        </p:nvSpPr>
        <p:spPr>
          <a:xfrm>
            <a:off x="6324448" y="5120640"/>
            <a:ext cx="5090008" cy="777240"/>
          </a:xfrm>
          <a:prstGeom prst="roundRect">
            <a:avLst>
              <a:gd fmla="val 9412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5"/>
          <p:cNvSpPr txBox="1"/>
          <p:nvPr/>
        </p:nvSpPr>
        <p:spPr>
          <a:xfrm>
            <a:off x="6553048" y="5120640"/>
            <a:ext cx="463280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Repetir 600 vezes os mesmos 3 países ensina pouco sobre os outros: 47% de acerto fora, contra 96% com 25 países.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5"/>
          <p:cNvSpPr txBox="1"/>
          <p:nvPr/>
        </p:nvSpPr>
        <p:spPr>
          <a:xfrm>
            <a:off x="777240" y="5989320"/>
            <a:ext cx="1063721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Na literatura: FLAN e Flan-PaLM (mais tarefas → melhor em tarefas novas; 1.836 tarefas); Flan Collection (misturar formatos de prompt: +2%).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5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6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Balanceamento da mistura</a:t>
            </a:r>
            <a:endParaRPr sz="3100"/>
          </a:p>
        </p:txBody>
      </p:sp>
      <p:sp>
        <p:nvSpPr>
          <p:cNvPr id="747" name="Google Shape;747;p36"/>
          <p:cNvSpPr txBox="1"/>
          <p:nvPr/>
        </p:nvSpPr>
        <p:spPr>
          <a:xfrm>
            <a:off x="777240" y="1335024"/>
            <a:ext cx="106372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Mesmas 600 conversas, mas 90% sobre capitais e 5% para cada um dos outros dois tipos de pergunta.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8" name="Google Shape;74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783080"/>
            <a:ext cx="667512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36"/>
          <p:cNvSpPr txBox="1"/>
          <p:nvPr/>
        </p:nvSpPr>
        <p:spPr>
          <a:xfrm>
            <a:off x="7772400" y="1810512"/>
            <a:ext cx="36420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O que perdeu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6"/>
          <p:cNvSpPr txBox="1"/>
          <p:nvPr/>
        </p:nvSpPr>
        <p:spPr>
          <a:xfrm>
            <a:off x="7772400" y="2139696"/>
            <a:ext cx="364205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As tarefas raras: língua cai de 92% para 80%; nas formas novas de pedido, de 90% para 51% no geral.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6"/>
          <p:cNvSpPr txBox="1"/>
          <p:nvPr/>
        </p:nvSpPr>
        <p:spPr>
          <a:xfrm>
            <a:off x="7772400" y="3154680"/>
            <a:ext cx="36420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O que se faz na prática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6"/>
          <p:cNvSpPr txBox="1"/>
          <p:nvPr/>
        </p:nvSpPr>
        <p:spPr>
          <a:xfrm>
            <a:off x="7772400" y="3483864"/>
            <a:ext cx="364205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Limitar o peso de cada fonte. O FLAN usou até 30 mil exemplos por dataset e, no cálculo da mistura, um teto de 3 mil.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6"/>
          <p:cNvSpPr txBox="1"/>
          <p:nvPr/>
        </p:nvSpPr>
        <p:spPr>
          <a:xfrm>
            <a:off x="7772400" y="4498848"/>
            <a:ext cx="36420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E5F55"/>
                </a:solidFill>
                <a:latin typeface="Calibri"/>
                <a:ea typeface="Calibri"/>
                <a:cs typeface="Calibri"/>
                <a:sym typeface="Calibri"/>
              </a:rPr>
              <a:t>E o equilíbrio ótimo?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6"/>
          <p:cNvSpPr txBox="1"/>
          <p:nvPr/>
        </p:nvSpPr>
        <p:spPr>
          <a:xfrm>
            <a:off x="7772400" y="4828032"/>
            <a:ext cx="364205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Não é necessariamente igual: na Flan Collection, pesos escolhidos superaram pesos iguais.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6"/>
          <p:cNvSpPr txBox="1"/>
          <p:nvPr/>
        </p:nvSpPr>
        <p:spPr>
          <a:xfrm>
            <a:off x="777240" y="5943600"/>
            <a:ext cx="1063721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Wei et al. (2021), FLAN; Longpre et al. (2023), The Flan Collection.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6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7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Catastrophic forgetting</a:t>
            </a:r>
            <a:endParaRPr sz="3100"/>
          </a:p>
        </p:txBody>
      </p:sp>
      <p:sp>
        <p:nvSpPr>
          <p:cNvPr id="763" name="Google Shape;763;p37"/>
          <p:cNvSpPr txBox="1"/>
          <p:nvPr/>
        </p:nvSpPr>
        <p:spPr>
          <a:xfrm>
            <a:off x="777240" y="1335024"/>
            <a:ext cx="106372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Enquanto aprende a responder, o modelo pode perder o que o pré-treino ensinou. Medimos isso durante o ajuste.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4" name="Google Shape;76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737360"/>
            <a:ext cx="6400800" cy="40690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65" name="Google Shape;765;p37"/>
          <p:cNvGraphicFramePr/>
          <p:nvPr/>
        </p:nvGraphicFramePr>
        <p:xfrm>
          <a:off x="745236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{83FBAB76-F08C-4BF7-AD8D-538174606A3E}</a:tableStyleId>
              </a:tblPr>
              <a:tblGrid>
                <a:gridCol w="1463050"/>
                <a:gridCol w="777250"/>
                <a:gridCol w="777250"/>
                <a:gridCol w="777250"/>
              </a:tblGrid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Depois do SFT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 replay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taxa menor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replay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C2E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C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Perda no texto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4,09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2,13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C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 fatos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C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Acerta fora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84%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66" name="Google Shape;766;p37"/>
          <p:cNvSpPr txBox="1"/>
          <p:nvPr/>
        </p:nvSpPr>
        <p:spPr>
          <a:xfrm>
            <a:off x="7452360" y="3511296"/>
            <a:ext cx="396209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Antes do SFT: perda 0,61, completa 100% dos fatos.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7"/>
          <p:cNvSpPr txBox="1"/>
          <p:nvPr/>
        </p:nvSpPr>
        <p:spPr>
          <a:xfrm>
            <a:off x="7452360" y="3858768"/>
            <a:ext cx="396209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E5F55"/>
                </a:solidFill>
                <a:latin typeface="Calibri"/>
                <a:ea typeface="Calibri"/>
                <a:cs typeface="Calibri"/>
                <a:sym typeface="Calibri"/>
              </a:rPr>
              <a:t>Replay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7"/>
          <p:cNvSpPr txBox="1"/>
          <p:nvPr/>
        </p:nvSpPr>
        <p:spPr>
          <a:xfrm>
            <a:off x="7452360" y="4187952"/>
            <a:ext cx="3962095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Misturar texto do pré-treino no lote: aqui, 4 de 32 linhas. O InstructGPT fez algo parecido no RL (PPO-ptx) contra a 'alignment tax'.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7"/>
          <p:cNvSpPr txBox="1"/>
          <p:nvPr/>
        </p:nvSpPr>
        <p:spPr>
          <a:xfrm>
            <a:off x="7452360" y="4956048"/>
            <a:ext cx="396209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Outras defesas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7"/>
          <p:cNvSpPr txBox="1"/>
          <p:nvPr/>
        </p:nvSpPr>
        <p:spPr>
          <a:xfrm>
            <a:off x="7452360" y="5285232"/>
            <a:ext cx="39620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Taxa menor, menos épocas, LoRA (aprende menos e esquece menos) e medir antes e depois.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7"/>
          <p:cNvSpPr txBox="1"/>
          <p:nvPr/>
        </p:nvSpPr>
        <p:spPr>
          <a:xfrm>
            <a:off x="777240" y="5989320"/>
            <a:ext cx="1063721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McCloskey e Cohen (1989); Ouyang et al. (2022); Luo et al. (2023); Biderman et al. (2024).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7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38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Avaliação antes e depois</a:t>
            </a:r>
            <a:endParaRPr sz="3100"/>
          </a:p>
        </p:txBody>
      </p:sp>
      <p:sp>
        <p:nvSpPr>
          <p:cNvPr id="779" name="Google Shape;779;p38"/>
          <p:cNvSpPr txBox="1"/>
          <p:nvPr/>
        </p:nvSpPr>
        <p:spPr>
          <a:xfrm>
            <a:off x="777240" y="1335024"/>
            <a:ext cx="106372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Avaliar só a tarefa nova esconde o custo. A tabela mede o que ganhou e o que se perdeu.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80" name="Google Shape;780;p38"/>
          <p:cNvGraphicFramePr/>
          <p:nvPr/>
        </p:nvGraphicFramePr>
        <p:xfrm>
          <a:off x="77724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{83FBAB76-F08C-4BF7-AD8D-538174606A3E}</a:tableStyleId>
              </a:tblPr>
              <a:tblGrid>
                <a:gridCol w="2926075"/>
                <a:gridCol w="1234450"/>
                <a:gridCol w="1234450"/>
                <a:gridCol w="1325875"/>
              </a:tblGrid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Medida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SFT sem replay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C2E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C2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F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 no fim da resposta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C2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F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Acerto: países do ajuste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C2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F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Acerto: países de fora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C2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F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Acerto: formas novas de pedido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C2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F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Acerto: segundo turno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C2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F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 fatos em texto corrido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C2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F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Perda no texto de pré-treino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0,61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0,62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4,09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81" name="Google Shape;781;p38"/>
          <p:cNvSpPr txBox="1"/>
          <p:nvPr/>
        </p:nvSpPr>
        <p:spPr>
          <a:xfrm>
            <a:off x="7863840" y="1783080"/>
            <a:ext cx="35506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Em LLMs reais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8"/>
          <p:cNvSpPr txBox="1"/>
          <p:nvPr/>
        </p:nvSpPr>
        <p:spPr>
          <a:xfrm>
            <a:off x="7863840" y="2176272"/>
            <a:ext cx="35506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Seguir instruções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8"/>
          <p:cNvSpPr txBox="1"/>
          <p:nvPr/>
        </p:nvSpPr>
        <p:spPr>
          <a:xfrm>
            <a:off x="7863840" y="2505456"/>
            <a:ext cx="35506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IFEval: 541 prompts com 25 tipos de instrução verificável.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8"/>
          <p:cNvSpPr txBox="1"/>
          <p:nvPr/>
        </p:nvSpPr>
        <p:spPr>
          <a:xfrm>
            <a:off x="7863840" y="3090672"/>
            <a:ext cx="35506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Conhecimento retido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8"/>
          <p:cNvSpPr txBox="1"/>
          <p:nvPr/>
        </p:nvSpPr>
        <p:spPr>
          <a:xfrm>
            <a:off x="7863840" y="3419856"/>
            <a:ext cx="35506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Os mesmos benchmarks antes e depois do ajuste (ex.: MMLU).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8"/>
          <p:cNvSpPr txBox="1"/>
          <p:nvPr/>
        </p:nvSpPr>
        <p:spPr>
          <a:xfrm>
            <a:off x="7863840" y="4005072"/>
            <a:ext cx="35506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Preferência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8"/>
          <p:cNvSpPr txBox="1"/>
          <p:nvPr/>
        </p:nvSpPr>
        <p:spPr>
          <a:xfrm>
            <a:off x="7863840" y="4334256"/>
            <a:ext cx="35506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MT-Bench e Chatbot Arena: juiz GPT-4 com &gt; 80% de concordância, mas com vieses de posição e verbosidade.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8"/>
          <p:cNvSpPr txBox="1"/>
          <p:nvPr/>
        </p:nvSpPr>
        <p:spPr>
          <a:xfrm>
            <a:off x="7863840" y="4919472"/>
            <a:ext cx="35506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Contaminação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8"/>
          <p:cNvSpPr txBox="1"/>
          <p:nvPr/>
        </p:nvSpPr>
        <p:spPr>
          <a:xfrm>
            <a:off x="7863840" y="5248656"/>
            <a:ext cx="35506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Nenhum item de teste nos dados de ajuste.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8"/>
          <p:cNvSpPr txBox="1"/>
          <p:nvPr/>
        </p:nvSpPr>
        <p:spPr>
          <a:xfrm>
            <a:off x="777240" y="5943600"/>
            <a:ext cx="1063721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Zhou et al. (2023), IFEval; Zheng et al. (2023), MT-Bench e Chatbot Arena.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8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39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Confiança sem conhecimento</a:t>
            </a:r>
            <a:endParaRPr sz="3100"/>
          </a:p>
        </p:txBody>
      </p:sp>
      <p:sp>
        <p:nvSpPr>
          <p:cNvPr id="798" name="Google Shape;798;p39"/>
          <p:cNvSpPr txBox="1"/>
          <p:nvPr/>
        </p:nvSpPr>
        <p:spPr>
          <a:xfrm>
            <a:off x="777240" y="1335024"/>
            <a:ext cx="106372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O corpus fala de 10 países sem nunca dizer a capital. Perguntamos a capital ao modelo ajustado.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9"/>
          <p:cNvSpPr/>
          <p:nvPr/>
        </p:nvSpPr>
        <p:spPr>
          <a:xfrm>
            <a:off x="777240" y="1810512"/>
            <a:ext cx="3154680" cy="786384"/>
          </a:xfrm>
          <a:prstGeom prst="roundRect">
            <a:avLst>
              <a:gd fmla="val 9302" name="adj"/>
            </a:avLst>
          </a:prstGeom>
          <a:solidFill>
            <a:srgbClr val="F8E3E0"/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9"/>
          <p:cNvSpPr txBox="1"/>
          <p:nvPr/>
        </p:nvSpPr>
        <p:spPr>
          <a:xfrm>
            <a:off x="941832" y="1865376"/>
            <a:ext cx="28254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DA MONGÓLIA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9"/>
          <p:cNvSpPr txBox="1"/>
          <p:nvPr/>
        </p:nvSpPr>
        <p:spPr>
          <a:xfrm>
            <a:off x="941832" y="2103120"/>
            <a:ext cx="28254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3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A capital da Mongólia é Lima.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9"/>
          <p:cNvSpPr/>
          <p:nvPr/>
        </p:nvSpPr>
        <p:spPr>
          <a:xfrm>
            <a:off x="4114800" y="1810512"/>
            <a:ext cx="3154680" cy="786384"/>
          </a:xfrm>
          <a:prstGeom prst="roundRect">
            <a:avLst>
              <a:gd fmla="val 9302" name="adj"/>
            </a:avLst>
          </a:prstGeom>
          <a:solidFill>
            <a:srgbClr val="F8E3E0"/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9"/>
          <p:cNvSpPr txBox="1"/>
          <p:nvPr/>
        </p:nvSpPr>
        <p:spPr>
          <a:xfrm>
            <a:off x="4279392" y="1865376"/>
            <a:ext cx="28254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DO NEPAL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9"/>
          <p:cNvSpPr txBox="1"/>
          <p:nvPr/>
        </p:nvSpPr>
        <p:spPr>
          <a:xfrm>
            <a:off x="4279392" y="2103120"/>
            <a:ext cx="28254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3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A capital do Nepal é Ottawa.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9"/>
          <p:cNvSpPr/>
          <p:nvPr/>
        </p:nvSpPr>
        <p:spPr>
          <a:xfrm>
            <a:off x="777240" y="2706624"/>
            <a:ext cx="3154680" cy="786384"/>
          </a:xfrm>
          <a:prstGeom prst="roundRect">
            <a:avLst>
              <a:gd fmla="val 9302" name="adj"/>
            </a:avLst>
          </a:prstGeom>
          <a:solidFill>
            <a:srgbClr val="F8E3E0"/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9"/>
          <p:cNvSpPr txBox="1"/>
          <p:nvPr/>
        </p:nvSpPr>
        <p:spPr>
          <a:xfrm>
            <a:off x="941832" y="2761488"/>
            <a:ext cx="28254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DA ISLÂNDIA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9"/>
          <p:cNvSpPr txBox="1"/>
          <p:nvPr/>
        </p:nvSpPr>
        <p:spPr>
          <a:xfrm>
            <a:off x="941832" y="2999232"/>
            <a:ext cx="28254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3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A capital da Islândia é Estocolmo.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9"/>
          <p:cNvSpPr/>
          <p:nvPr/>
        </p:nvSpPr>
        <p:spPr>
          <a:xfrm>
            <a:off x="4114800" y="2706624"/>
            <a:ext cx="3154680" cy="786384"/>
          </a:xfrm>
          <a:prstGeom prst="roundRect">
            <a:avLst>
              <a:gd fmla="val 9302" name="adj"/>
            </a:avLst>
          </a:prstGeom>
          <a:solidFill>
            <a:srgbClr val="F8E3E0"/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39"/>
          <p:cNvSpPr txBox="1"/>
          <p:nvPr/>
        </p:nvSpPr>
        <p:spPr>
          <a:xfrm>
            <a:off x="4279392" y="2761488"/>
            <a:ext cx="28254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DA BOLÍVIA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9"/>
          <p:cNvSpPr txBox="1"/>
          <p:nvPr/>
        </p:nvSpPr>
        <p:spPr>
          <a:xfrm>
            <a:off x="4279392" y="2999232"/>
            <a:ext cx="28254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3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A capital da Bolívia é um país da América do Sul.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9"/>
          <p:cNvSpPr/>
          <p:nvPr/>
        </p:nvSpPr>
        <p:spPr>
          <a:xfrm>
            <a:off x="777240" y="3602736"/>
            <a:ext cx="3154680" cy="786384"/>
          </a:xfrm>
          <a:prstGeom prst="roundRect">
            <a:avLst>
              <a:gd fmla="val 9302" name="adj"/>
            </a:avLst>
          </a:prstGeom>
          <a:solidFill>
            <a:srgbClr val="F8E3E0"/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9"/>
          <p:cNvSpPr txBox="1"/>
          <p:nvPr/>
        </p:nvSpPr>
        <p:spPr>
          <a:xfrm>
            <a:off x="941832" y="3657600"/>
            <a:ext cx="28254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DA TANZÂNIA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9"/>
          <p:cNvSpPr txBox="1"/>
          <p:nvPr/>
        </p:nvSpPr>
        <p:spPr>
          <a:xfrm>
            <a:off x="941832" y="3895344"/>
            <a:ext cx="28254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3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A capital da Tanzânia é Estocolmo.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9"/>
          <p:cNvSpPr/>
          <p:nvPr/>
        </p:nvSpPr>
        <p:spPr>
          <a:xfrm>
            <a:off x="4114800" y="3602736"/>
            <a:ext cx="3154680" cy="786384"/>
          </a:xfrm>
          <a:prstGeom prst="roundRect">
            <a:avLst>
              <a:gd fmla="val 9302" name="adj"/>
            </a:avLst>
          </a:prstGeom>
          <a:solidFill>
            <a:srgbClr val="F8E3E0"/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9"/>
          <p:cNvSpPr txBox="1"/>
          <p:nvPr/>
        </p:nvSpPr>
        <p:spPr>
          <a:xfrm>
            <a:off x="4279392" y="3657600"/>
            <a:ext cx="28254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DA ESLOVÁQUIA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9"/>
          <p:cNvSpPr txBox="1"/>
          <p:nvPr/>
        </p:nvSpPr>
        <p:spPr>
          <a:xfrm>
            <a:off x="4279392" y="3895344"/>
            <a:ext cx="28254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3"/>
              </a:lnSpc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0F1C2E"/>
                </a:solidFill>
                <a:latin typeface="Consolas"/>
                <a:ea typeface="Consolas"/>
                <a:cs typeface="Consolas"/>
                <a:sym typeface="Consolas"/>
              </a:rPr>
              <a:t>A capital da Eslováquia é Atenas.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9"/>
          <p:cNvSpPr/>
          <p:nvPr/>
        </p:nvSpPr>
        <p:spPr>
          <a:xfrm>
            <a:off x="7726680" y="1810512"/>
            <a:ext cx="3687775" cy="1508760"/>
          </a:xfrm>
          <a:prstGeom prst="roundRect">
            <a:avLst>
              <a:gd fmla="val 4848" name="adj"/>
            </a:avLst>
          </a:prstGeom>
          <a:solidFill>
            <a:srgbClr val="F8E3E0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9"/>
          <p:cNvSpPr txBox="1"/>
          <p:nvPr/>
        </p:nvSpPr>
        <p:spPr>
          <a:xfrm>
            <a:off x="7955280" y="1874520"/>
            <a:ext cx="32305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C0392B"/>
                </a:solidFill>
                <a:latin typeface="Cambria"/>
                <a:ea typeface="Cambria"/>
                <a:cs typeface="Cambria"/>
                <a:sym typeface="Cambria"/>
              </a:rPr>
              <a:t>10 de 10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9"/>
          <p:cNvSpPr txBox="1"/>
          <p:nvPr/>
        </p:nvSpPr>
        <p:spPr>
          <a:xfrm>
            <a:off x="7955280" y="2514600"/>
            <a:ext cx="323057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respostas no formato certo, com confiança, e erradas. Nenhum 'não sei'.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9"/>
          <p:cNvSpPr txBox="1"/>
          <p:nvPr/>
        </p:nvSpPr>
        <p:spPr>
          <a:xfrm>
            <a:off x="7726680" y="3520440"/>
            <a:ext cx="368777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E se ensinarmos 'não sei'?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9"/>
          <p:cNvSpPr txBox="1"/>
          <p:nvPr/>
        </p:nvSpPr>
        <p:spPr>
          <a:xfrm>
            <a:off x="7726680" y="3849624"/>
            <a:ext cx="3687775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Colocamos </a:t>
            </a:r>
            <a:r>
              <a:rPr b="0" i="0" lang="en-US" sz="12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50 conversas com 'Não sei a capital de X' para 5 desses países. Nos 5: 100% de 'não sei'. Nos outros 5: 4%. O modelo decorou os casos, não aprendeu a perceber que não sabe.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9"/>
          <p:cNvSpPr/>
          <p:nvPr/>
        </p:nvSpPr>
        <p:spPr>
          <a:xfrm>
            <a:off x="777240" y="4572000"/>
            <a:ext cx="6537960" cy="1005840"/>
          </a:xfrm>
          <a:prstGeom prst="roundRect">
            <a:avLst>
              <a:gd fmla="val 7273" name="adj"/>
            </a:avLst>
          </a:prstGeom>
          <a:solidFill>
            <a:srgbClr val="0F1C2E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39"/>
          <p:cNvSpPr txBox="1"/>
          <p:nvPr/>
        </p:nvSpPr>
        <p:spPr>
          <a:xfrm>
            <a:off x="1051560" y="4572000"/>
            <a:ext cx="6035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DCE6F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DCE6F0"/>
                </a:solidFill>
                <a:latin typeface="Calibri"/>
                <a:ea typeface="Calibri"/>
                <a:cs typeface="Calibri"/>
                <a:sym typeface="Calibri"/>
              </a:rPr>
              <a:t>O SFT ensina a forma da resposta, não a checar se ela é verdadeira. Ajustar em fatos que o modelo não sabe tende a aumentar a alucinação (Gekhman et al., 2024).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9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40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Onde ficam RLHF e RLVR</a:t>
            </a:r>
            <a:endParaRPr sz="3100"/>
          </a:p>
        </p:txBody>
      </p:sp>
      <p:sp>
        <p:nvSpPr>
          <p:cNvPr id="831" name="Google Shape;831;p40"/>
          <p:cNvSpPr txBox="1"/>
          <p:nvPr/>
        </p:nvSpPr>
        <p:spPr>
          <a:xfrm>
            <a:off x="777240" y="1335024"/>
            <a:ext cx="106372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Depois do SFT, outras etapas usam sinais que a imitação não dá. Aqui, só a posição de cada uma.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32" name="Google Shape;832;p40"/>
          <p:cNvGraphicFramePr/>
          <p:nvPr/>
        </p:nvGraphicFramePr>
        <p:xfrm>
          <a:off x="77724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{83FBAB76-F08C-4BF7-AD8D-538174606A3E}</a:tableStyleId>
              </a:tblPr>
              <a:tblGrid>
                <a:gridCol w="2148850"/>
                <a:gridCol w="2834650"/>
                <a:gridCol w="2834650"/>
                <a:gridCol w="28163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Font typeface="Calibri"/>
                        <a:buNone/>
                      </a:pPr>
                      <a:r>
                        <a:t/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RLHF e preferências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RLVR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C2E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C2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F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Sinal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uma resposta-alvo por pedido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comparações: A é melhor que B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um verificador: a resposta está certa?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C2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F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Como treina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entropia cruzada nos tokens da resposta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 de recompensa + PPO; ou DPO, direto nos pares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RL com recompensa só quando o verificador confirma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C2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F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Bom para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formato, papel, estilo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 que as pessoas preferem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matemática, código, restrições checáveis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C2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F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imita; não vai além do exemplo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recompensa aprendida pode ser explorada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só onde dá para verificar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7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C2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F1C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Exemplos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todos os modelos de chat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InstructGPT (PPO); Llama 3 (DPO)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D7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4B5D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Tülu 3 (2024); DeepSeek-R1 (2025)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0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33" name="Google Shape;833;p40"/>
          <p:cNvSpPr/>
          <p:nvPr/>
        </p:nvSpPr>
        <p:spPr>
          <a:xfrm>
            <a:off x="777240" y="5120640"/>
            <a:ext cx="10637215" cy="685800"/>
          </a:xfrm>
          <a:prstGeom prst="roundRect">
            <a:avLst>
              <a:gd fmla="val 10667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40"/>
          <p:cNvSpPr txBox="1"/>
          <p:nvPr/>
        </p:nvSpPr>
        <p:spPr>
          <a:xfrm>
            <a:off x="1051560" y="5120640"/>
            <a:ext cx="100885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RLHF: Christiano et al. (2017), Stiennon et al. (2020), Ouyang et al. (2022). DPO: Rafailov et al. (2023). RLVR: Lambert et al. (2024), Tülu 3; DeepSeek-AI (2025), recompensas por regras de acerto e formato.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40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1"/>
          <p:cNvSpPr txBox="1"/>
          <p:nvPr/>
        </p:nvSpPr>
        <p:spPr>
          <a:xfrm>
            <a:off x="777240" y="1783080"/>
            <a:ext cx="14630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3C"/>
              </a:buClr>
              <a:buSzPts val="9600"/>
              <a:buFont typeface="Cambria"/>
              <a:buNone/>
            </a:pPr>
            <a:r>
              <a:rPr b="1" i="0" lang="en-US" sz="9600" u="none" cap="none" strike="noStrike">
                <a:solidFill>
                  <a:srgbClr val="E08A3C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41"/>
          <p:cNvSpPr txBox="1"/>
          <p:nvPr>
            <p:ph type="title"/>
          </p:nvPr>
        </p:nvSpPr>
        <p:spPr>
          <a:xfrm>
            <a:off x="2377440" y="2011680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Literatura e projeto</a:t>
            </a:r>
            <a:endParaRPr sz="3600"/>
          </a:p>
        </p:txBody>
      </p:sp>
      <p:sp>
        <p:nvSpPr>
          <p:cNvPr id="843" name="Google Shape;843;p41"/>
          <p:cNvSpPr txBox="1"/>
          <p:nvPr/>
        </p:nvSpPr>
        <p:spPr>
          <a:xfrm>
            <a:off x="2404872" y="2761488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AC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9BACB"/>
                </a:solidFill>
                <a:latin typeface="Calibri"/>
                <a:ea typeface="Calibri"/>
                <a:cs typeface="Calibri"/>
                <a:sym typeface="Calibri"/>
              </a:rPr>
              <a:t>De onde vem cada ideia e o que levamos para o nosso trabalho.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4" name="Google Shape;844;p41"/>
          <p:cNvCxnSpPr/>
          <p:nvPr/>
        </p:nvCxnSpPr>
        <p:spPr>
          <a:xfrm>
            <a:off x="8732520" y="1691640"/>
            <a:ext cx="0" cy="3566160"/>
          </a:xfrm>
          <a:prstGeom prst="straightConnector1">
            <a:avLst/>
          </a:prstGeom>
          <a:noFill/>
          <a:ln cap="flat" cmpd="sng" w="12700">
            <a:solidFill>
              <a:srgbClr val="3550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5" name="Google Shape;845;p41"/>
          <p:cNvSpPr txBox="1"/>
          <p:nvPr/>
        </p:nvSpPr>
        <p:spPr>
          <a:xfrm>
            <a:off x="9098280" y="1691640"/>
            <a:ext cx="23774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C3D2D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3D2DF"/>
                </a:solidFill>
                <a:latin typeface="Calibri"/>
                <a:ea typeface="Calibri"/>
                <a:cs typeface="Calibri"/>
                <a:sym typeface="Calibri"/>
              </a:rPr>
              <a:t>Artigos fundadores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4000"/>
              </a:lnSpc>
              <a:spcBef>
                <a:spcPts val="600"/>
              </a:spcBef>
              <a:spcAft>
                <a:spcPts val="0"/>
              </a:spcAft>
              <a:buClr>
                <a:srgbClr val="C3D2D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3D2DF"/>
                </a:solidFill>
                <a:latin typeface="Calibri"/>
                <a:ea typeface="Calibri"/>
                <a:cs typeface="Calibri"/>
                <a:sym typeface="Calibri"/>
              </a:rPr>
              <a:t>Receita mínima para o projeto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41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5C70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2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Artigos fundadores</a:t>
            </a:r>
            <a:endParaRPr sz="3100"/>
          </a:p>
        </p:txBody>
      </p:sp>
      <p:sp>
        <p:nvSpPr>
          <p:cNvPr id="853" name="Google Shape;853;p42"/>
          <p:cNvSpPr/>
          <p:nvPr/>
        </p:nvSpPr>
        <p:spPr>
          <a:xfrm>
            <a:off x="777240" y="1481328"/>
            <a:ext cx="3362858" cy="1371600"/>
          </a:xfrm>
          <a:prstGeom prst="roundRect">
            <a:avLst>
              <a:gd fmla="val 5333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42"/>
          <p:cNvSpPr txBox="1"/>
          <p:nvPr/>
        </p:nvSpPr>
        <p:spPr>
          <a:xfrm>
            <a:off x="978408" y="1572768"/>
            <a:ext cx="16291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Wei et al. (2021)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42"/>
          <p:cNvSpPr txBox="1"/>
          <p:nvPr/>
        </p:nvSpPr>
        <p:spPr>
          <a:xfrm>
            <a:off x="2680716" y="1572768"/>
            <a:ext cx="127650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instruction tuning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42"/>
          <p:cNvSpPr txBox="1"/>
          <p:nvPr/>
        </p:nvSpPr>
        <p:spPr>
          <a:xfrm>
            <a:off x="978408" y="1865376"/>
            <a:ext cx="296052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200"/>
              <a:buFont typeface="Cambria"/>
              <a:buNone/>
            </a:pPr>
            <a:r>
              <a:rPr b="0" i="1" lang="en-US" sz="1200" u="none" cap="none" strike="noStrike">
                <a:solidFill>
                  <a:srgbClr val="0E5F55"/>
                </a:solidFill>
                <a:latin typeface="Cambria"/>
                <a:ea typeface="Cambria"/>
                <a:cs typeface="Cambria"/>
                <a:sym typeface="Cambria"/>
              </a:rPr>
              <a:t>Finetuned Language Models Are Zero-Shot Learners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42"/>
          <p:cNvSpPr txBox="1"/>
          <p:nvPr/>
        </p:nvSpPr>
        <p:spPr>
          <a:xfrm>
            <a:off x="978408" y="2304288"/>
            <a:ext cx="296052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FLAN: instruções de 62 datasets → zero-shot em tarefas novas.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42"/>
          <p:cNvSpPr/>
          <p:nvPr/>
        </p:nvSpPr>
        <p:spPr>
          <a:xfrm>
            <a:off x="4414418" y="1481328"/>
            <a:ext cx="3362858" cy="1371600"/>
          </a:xfrm>
          <a:prstGeom prst="roundRect">
            <a:avLst>
              <a:gd fmla="val 5333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42"/>
          <p:cNvSpPr txBox="1"/>
          <p:nvPr/>
        </p:nvSpPr>
        <p:spPr>
          <a:xfrm>
            <a:off x="4615586" y="1572768"/>
            <a:ext cx="16291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Sanh et al. (2021)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42"/>
          <p:cNvSpPr txBox="1"/>
          <p:nvPr/>
        </p:nvSpPr>
        <p:spPr>
          <a:xfrm>
            <a:off x="6317894" y="1572768"/>
            <a:ext cx="127650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instruction tuning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42"/>
          <p:cNvSpPr txBox="1"/>
          <p:nvPr/>
        </p:nvSpPr>
        <p:spPr>
          <a:xfrm>
            <a:off x="4615586" y="1865376"/>
            <a:ext cx="296052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200"/>
              <a:buFont typeface="Cambria"/>
              <a:buNone/>
            </a:pPr>
            <a:r>
              <a:rPr b="0" i="1" lang="en-US" sz="1200" u="none" cap="none" strike="noStrike">
                <a:solidFill>
                  <a:srgbClr val="0E5F55"/>
                </a:solidFill>
                <a:latin typeface="Cambria"/>
                <a:ea typeface="Cambria"/>
                <a:cs typeface="Cambria"/>
                <a:sym typeface="Cambria"/>
              </a:rPr>
              <a:t>Multitask Prompted Training Enables Zero-Shot Task Generalization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42"/>
          <p:cNvSpPr txBox="1"/>
          <p:nvPr/>
        </p:nvSpPr>
        <p:spPr>
          <a:xfrm>
            <a:off x="4615586" y="2304288"/>
            <a:ext cx="296052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T0: prompts escritos à mão para 177 datasets.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42"/>
          <p:cNvSpPr/>
          <p:nvPr/>
        </p:nvSpPr>
        <p:spPr>
          <a:xfrm>
            <a:off x="8051597" y="1481328"/>
            <a:ext cx="3362858" cy="1371600"/>
          </a:xfrm>
          <a:prstGeom prst="roundRect">
            <a:avLst>
              <a:gd fmla="val 5333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42"/>
          <p:cNvSpPr txBox="1"/>
          <p:nvPr/>
        </p:nvSpPr>
        <p:spPr>
          <a:xfrm>
            <a:off x="8252765" y="1572768"/>
            <a:ext cx="21558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Ouyang et al. (2022)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42"/>
          <p:cNvSpPr txBox="1"/>
          <p:nvPr/>
        </p:nvSpPr>
        <p:spPr>
          <a:xfrm>
            <a:off x="10481767" y="157276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SFT + RLHF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42"/>
          <p:cNvSpPr txBox="1"/>
          <p:nvPr/>
        </p:nvSpPr>
        <p:spPr>
          <a:xfrm>
            <a:off x="8252765" y="1865376"/>
            <a:ext cx="296052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200"/>
              <a:buFont typeface="Cambria"/>
              <a:buNone/>
            </a:pPr>
            <a:r>
              <a:rPr b="0" i="1" lang="en-US" sz="1200" u="none" cap="none" strike="noStrike">
                <a:solidFill>
                  <a:srgbClr val="0E5F55"/>
                </a:solidFill>
                <a:latin typeface="Cambria"/>
                <a:ea typeface="Cambria"/>
                <a:cs typeface="Cambria"/>
                <a:sym typeface="Cambria"/>
              </a:rPr>
              <a:t>Training language models to follow instructions with human feedback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42"/>
          <p:cNvSpPr txBox="1"/>
          <p:nvPr/>
        </p:nvSpPr>
        <p:spPr>
          <a:xfrm>
            <a:off x="8252765" y="2304288"/>
            <a:ext cx="296052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InstructGPT: SFT + RLHF; 1,3B preferido ao GPT-3 175B.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42"/>
          <p:cNvSpPr/>
          <p:nvPr/>
        </p:nvSpPr>
        <p:spPr>
          <a:xfrm>
            <a:off x="777240" y="3035808"/>
            <a:ext cx="3362858" cy="1371600"/>
          </a:xfrm>
          <a:prstGeom prst="roundRect">
            <a:avLst>
              <a:gd fmla="val 5333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42"/>
          <p:cNvSpPr txBox="1"/>
          <p:nvPr/>
        </p:nvSpPr>
        <p:spPr>
          <a:xfrm>
            <a:off x="978408" y="3127248"/>
            <a:ext cx="17608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Wang et al. (2022)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42"/>
          <p:cNvSpPr txBox="1"/>
          <p:nvPr/>
        </p:nvSpPr>
        <p:spPr>
          <a:xfrm>
            <a:off x="2812390" y="3127248"/>
            <a:ext cx="114482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dados sintéticos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42"/>
          <p:cNvSpPr txBox="1"/>
          <p:nvPr/>
        </p:nvSpPr>
        <p:spPr>
          <a:xfrm>
            <a:off x="978408" y="3419856"/>
            <a:ext cx="296052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200"/>
              <a:buFont typeface="Cambria"/>
              <a:buNone/>
            </a:pPr>
            <a:r>
              <a:rPr b="0" i="1" lang="en-US" sz="1200" u="none" cap="none" strike="noStrike">
                <a:solidFill>
                  <a:srgbClr val="0E5F55"/>
                </a:solidFill>
                <a:latin typeface="Cambria"/>
                <a:ea typeface="Cambria"/>
                <a:cs typeface="Cambria"/>
                <a:sym typeface="Cambria"/>
              </a:rPr>
              <a:t>Self-Instruct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42"/>
          <p:cNvSpPr txBox="1"/>
          <p:nvPr/>
        </p:nvSpPr>
        <p:spPr>
          <a:xfrm>
            <a:off x="978408" y="3858768"/>
            <a:ext cx="296052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Instruções geradas pelo próprio modelo, a partir de 175 sementes.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42"/>
          <p:cNvSpPr/>
          <p:nvPr/>
        </p:nvSpPr>
        <p:spPr>
          <a:xfrm>
            <a:off x="4414418" y="3035808"/>
            <a:ext cx="3362858" cy="1371600"/>
          </a:xfrm>
          <a:prstGeom prst="roundRect">
            <a:avLst>
              <a:gd fmla="val 5333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42"/>
          <p:cNvSpPr txBox="1"/>
          <p:nvPr/>
        </p:nvSpPr>
        <p:spPr>
          <a:xfrm>
            <a:off x="4615586" y="3127248"/>
            <a:ext cx="222168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Zhou et al. (2023)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42"/>
          <p:cNvSpPr txBox="1"/>
          <p:nvPr/>
        </p:nvSpPr>
        <p:spPr>
          <a:xfrm>
            <a:off x="6910426" y="3127248"/>
            <a:ext cx="68397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qualidade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42"/>
          <p:cNvSpPr txBox="1"/>
          <p:nvPr/>
        </p:nvSpPr>
        <p:spPr>
          <a:xfrm>
            <a:off x="4615586" y="3419856"/>
            <a:ext cx="296052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200"/>
              <a:buFont typeface="Cambria"/>
              <a:buNone/>
            </a:pPr>
            <a:r>
              <a:rPr b="0" i="1" lang="en-US" sz="1200" u="none" cap="none" strike="noStrike">
                <a:solidFill>
                  <a:srgbClr val="0E5F55"/>
                </a:solidFill>
                <a:latin typeface="Cambria"/>
                <a:ea typeface="Cambria"/>
                <a:cs typeface="Cambria"/>
                <a:sym typeface="Cambria"/>
              </a:rPr>
              <a:t>LIMA: Less Is More for Alignment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42"/>
          <p:cNvSpPr txBox="1"/>
          <p:nvPr/>
        </p:nvSpPr>
        <p:spPr>
          <a:xfrm>
            <a:off x="4615586" y="3858768"/>
            <a:ext cx="296052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1.000 exemplos curados e a hipótese do alinhamento superficial.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42"/>
          <p:cNvSpPr/>
          <p:nvPr/>
        </p:nvSpPr>
        <p:spPr>
          <a:xfrm>
            <a:off x="8051597" y="3035808"/>
            <a:ext cx="3362858" cy="1371600"/>
          </a:xfrm>
          <a:prstGeom prst="roundRect">
            <a:avLst>
              <a:gd fmla="val 5333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42"/>
          <p:cNvSpPr txBox="1"/>
          <p:nvPr/>
        </p:nvSpPr>
        <p:spPr>
          <a:xfrm>
            <a:off x="8252765" y="3127248"/>
            <a:ext cx="15633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Touvron et al. (2023)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42"/>
          <p:cNvSpPr txBox="1"/>
          <p:nvPr/>
        </p:nvSpPr>
        <p:spPr>
          <a:xfrm>
            <a:off x="9889236" y="3127248"/>
            <a:ext cx="13423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máscara e qualidade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42"/>
          <p:cNvSpPr txBox="1"/>
          <p:nvPr/>
        </p:nvSpPr>
        <p:spPr>
          <a:xfrm>
            <a:off x="8252765" y="3419856"/>
            <a:ext cx="296052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200"/>
              <a:buFont typeface="Cambria"/>
              <a:buNone/>
            </a:pPr>
            <a:r>
              <a:rPr b="0" i="1" lang="en-US" sz="1200" u="none" cap="none" strike="noStrike">
                <a:solidFill>
                  <a:srgbClr val="0E5F55"/>
                </a:solidFill>
                <a:latin typeface="Cambria"/>
                <a:ea typeface="Cambria"/>
                <a:cs typeface="Cambria"/>
                <a:sym typeface="Cambria"/>
              </a:rPr>
              <a:t>Llama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42"/>
          <p:cNvSpPr txBox="1"/>
          <p:nvPr/>
        </p:nvSpPr>
        <p:spPr>
          <a:xfrm>
            <a:off x="8252765" y="3858768"/>
            <a:ext cx="296052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Perda zerada no prompt; 27.540 anotações de alta qualidade.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42"/>
          <p:cNvSpPr/>
          <p:nvPr/>
        </p:nvSpPr>
        <p:spPr>
          <a:xfrm>
            <a:off x="777240" y="4590288"/>
            <a:ext cx="3362858" cy="1371600"/>
          </a:xfrm>
          <a:prstGeom prst="roundRect">
            <a:avLst>
              <a:gd fmla="val 5333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42"/>
          <p:cNvSpPr txBox="1"/>
          <p:nvPr/>
        </p:nvSpPr>
        <p:spPr>
          <a:xfrm>
            <a:off x="978408" y="4681728"/>
            <a:ext cx="15633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Lambert et al. (2024)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42"/>
          <p:cNvSpPr txBox="1"/>
          <p:nvPr/>
        </p:nvSpPr>
        <p:spPr>
          <a:xfrm>
            <a:off x="2614879" y="4681728"/>
            <a:ext cx="13423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pós-treino completo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42"/>
          <p:cNvSpPr txBox="1"/>
          <p:nvPr/>
        </p:nvSpPr>
        <p:spPr>
          <a:xfrm>
            <a:off x="978408" y="4974336"/>
            <a:ext cx="296052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200"/>
              <a:buFont typeface="Cambria"/>
              <a:buNone/>
            </a:pPr>
            <a:r>
              <a:rPr b="0" i="1" lang="en-US" sz="1200" u="none" cap="none" strike="noStrike">
                <a:solidFill>
                  <a:srgbClr val="0E5F55"/>
                </a:solidFill>
                <a:latin typeface="Cambria"/>
                <a:ea typeface="Cambria"/>
                <a:cs typeface="Cambria"/>
                <a:sym typeface="Cambria"/>
              </a:rPr>
              <a:t>Tülu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42"/>
          <p:cNvSpPr txBox="1"/>
          <p:nvPr/>
        </p:nvSpPr>
        <p:spPr>
          <a:xfrm>
            <a:off x="978408" y="5413248"/>
            <a:ext cx="296052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Receita aberta: SFT → DPO → RLVR.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42"/>
          <p:cNvSpPr/>
          <p:nvPr/>
        </p:nvSpPr>
        <p:spPr>
          <a:xfrm>
            <a:off x="4414418" y="4590288"/>
            <a:ext cx="3362858" cy="1371600"/>
          </a:xfrm>
          <a:prstGeom prst="roundRect">
            <a:avLst>
              <a:gd fmla="val 5333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42"/>
          <p:cNvSpPr txBox="1"/>
          <p:nvPr/>
        </p:nvSpPr>
        <p:spPr>
          <a:xfrm>
            <a:off x="4615586" y="4681728"/>
            <a:ext cx="202417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McCloskey e Cohen (1989)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42"/>
          <p:cNvSpPr txBox="1"/>
          <p:nvPr/>
        </p:nvSpPr>
        <p:spPr>
          <a:xfrm>
            <a:off x="6712915" y="4681728"/>
            <a:ext cx="8814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esquecimento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42"/>
          <p:cNvSpPr txBox="1"/>
          <p:nvPr/>
        </p:nvSpPr>
        <p:spPr>
          <a:xfrm>
            <a:off x="4615586" y="4974336"/>
            <a:ext cx="296052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200"/>
              <a:buFont typeface="Cambria"/>
              <a:buNone/>
            </a:pPr>
            <a:r>
              <a:rPr b="0" i="1" lang="en-US" sz="1200" u="none" cap="none" strike="noStrike">
                <a:solidFill>
                  <a:srgbClr val="0E5F55"/>
                </a:solidFill>
                <a:latin typeface="Cambria"/>
                <a:ea typeface="Cambria"/>
                <a:cs typeface="Cambria"/>
                <a:sym typeface="Cambria"/>
              </a:rPr>
              <a:t>Catastrophic Interference in Connectionist Networks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42"/>
          <p:cNvSpPr txBox="1"/>
          <p:nvPr/>
        </p:nvSpPr>
        <p:spPr>
          <a:xfrm>
            <a:off x="4615586" y="5413248"/>
            <a:ext cx="296052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A origem do termo: aprender o novo apaga o antigo.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42"/>
          <p:cNvSpPr/>
          <p:nvPr/>
        </p:nvSpPr>
        <p:spPr>
          <a:xfrm>
            <a:off x="8051597" y="4590288"/>
            <a:ext cx="3362858" cy="1371600"/>
          </a:xfrm>
          <a:prstGeom prst="roundRect">
            <a:avLst>
              <a:gd fmla="val 5333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42"/>
          <p:cNvSpPr txBox="1"/>
          <p:nvPr/>
        </p:nvSpPr>
        <p:spPr>
          <a:xfrm>
            <a:off x="8252765" y="4681728"/>
            <a:ext cx="235336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C2E"/>
                </a:solidFill>
                <a:latin typeface="Calibri"/>
                <a:ea typeface="Calibri"/>
                <a:cs typeface="Calibri"/>
                <a:sym typeface="Calibri"/>
              </a:rPr>
              <a:t>Gekhman et al. (2024)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42"/>
          <p:cNvSpPr txBox="1"/>
          <p:nvPr/>
        </p:nvSpPr>
        <p:spPr>
          <a:xfrm>
            <a:off x="10679278" y="4681728"/>
            <a:ext cx="5522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55A1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55A18"/>
                </a:solidFill>
                <a:latin typeface="Calibri"/>
                <a:ea typeface="Calibri"/>
                <a:cs typeface="Calibri"/>
                <a:sym typeface="Calibri"/>
              </a:rPr>
              <a:t>limites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42"/>
          <p:cNvSpPr txBox="1"/>
          <p:nvPr/>
        </p:nvSpPr>
        <p:spPr>
          <a:xfrm>
            <a:off x="8252765" y="4974336"/>
            <a:ext cx="296052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E5F55"/>
              </a:buClr>
              <a:buSzPts val="1200"/>
              <a:buFont typeface="Cambria"/>
              <a:buNone/>
            </a:pPr>
            <a:r>
              <a:rPr b="0" i="1" lang="en-US" sz="1200" u="none" cap="none" strike="noStrike">
                <a:solidFill>
                  <a:srgbClr val="0E5F55"/>
                </a:solidFill>
                <a:latin typeface="Cambria"/>
                <a:ea typeface="Cambria"/>
                <a:cs typeface="Cambria"/>
                <a:sym typeface="Cambria"/>
              </a:rPr>
              <a:t>Does Fine-Tuning LLMs on New Knowledge Encourage Hallucinations?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42"/>
          <p:cNvSpPr txBox="1"/>
          <p:nvPr/>
        </p:nvSpPr>
        <p:spPr>
          <a:xfrm>
            <a:off x="8252765" y="5413248"/>
            <a:ext cx="296052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Fatos novos no ajuste: aprendidos devagar, aumentam alucinação.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42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43"/>
          <p:cNvSpPr txBox="1"/>
          <p:nvPr>
            <p:ph type="title"/>
          </p:nvPr>
        </p:nvSpPr>
        <p:spPr>
          <a:xfrm>
            <a:off x="814215" y="861506"/>
            <a:ext cx="10637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Receita mínima para o nosso projeto</a:t>
            </a:r>
            <a:endParaRPr sz="3100"/>
          </a:p>
        </p:txBody>
      </p:sp>
      <p:sp>
        <p:nvSpPr>
          <p:cNvPr id="905" name="Google Shape;905;p43"/>
          <p:cNvSpPr/>
          <p:nvPr/>
        </p:nvSpPr>
        <p:spPr>
          <a:xfrm>
            <a:off x="777240" y="1810512"/>
            <a:ext cx="5181448" cy="1188720"/>
          </a:xfrm>
          <a:prstGeom prst="roundRect">
            <a:avLst>
              <a:gd fmla="val 6154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43"/>
          <p:cNvSpPr/>
          <p:nvPr/>
        </p:nvSpPr>
        <p:spPr>
          <a:xfrm>
            <a:off x="1005840" y="2011680"/>
            <a:ext cx="384048" cy="384048"/>
          </a:xfrm>
          <a:prstGeom prst="ellipse">
            <a:avLst/>
          </a:prstGeom>
          <a:solidFill>
            <a:srgbClr val="E08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43"/>
          <p:cNvSpPr txBox="1"/>
          <p:nvPr/>
        </p:nvSpPr>
        <p:spPr>
          <a:xfrm>
            <a:off x="1005840" y="20116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43"/>
          <p:cNvSpPr txBox="1"/>
          <p:nvPr/>
        </p:nvSpPr>
        <p:spPr>
          <a:xfrm>
            <a:off x="1554480" y="1975104"/>
            <a:ext cx="4175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Formato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43"/>
          <p:cNvSpPr txBox="1"/>
          <p:nvPr/>
        </p:nvSpPr>
        <p:spPr>
          <a:xfrm>
            <a:off x="1554480" y="2322576"/>
            <a:ext cx="41756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Use apply_chat_template; o mesmo template no treino, na avaliação e no uso. Inclua o token de fim nos alvos.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43"/>
          <p:cNvSpPr/>
          <p:nvPr/>
        </p:nvSpPr>
        <p:spPr>
          <a:xfrm>
            <a:off x="6233008" y="1810512"/>
            <a:ext cx="5181448" cy="1188720"/>
          </a:xfrm>
          <a:prstGeom prst="roundRect">
            <a:avLst>
              <a:gd fmla="val 6154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43"/>
          <p:cNvSpPr/>
          <p:nvPr/>
        </p:nvSpPr>
        <p:spPr>
          <a:xfrm>
            <a:off x="6461608" y="2011680"/>
            <a:ext cx="384048" cy="384048"/>
          </a:xfrm>
          <a:prstGeom prst="ellipse">
            <a:avLst/>
          </a:prstGeom>
          <a:solidFill>
            <a:srgbClr val="17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43"/>
          <p:cNvSpPr txBox="1"/>
          <p:nvPr/>
        </p:nvSpPr>
        <p:spPr>
          <a:xfrm>
            <a:off x="6461608" y="20116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43"/>
          <p:cNvSpPr txBox="1"/>
          <p:nvPr/>
        </p:nvSpPr>
        <p:spPr>
          <a:xfrm>
            <a:off x="7010248" y="1975104"/>
            <a:ext cx="4175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Máscara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43"/>
          <p:cNvSpPr txBox="1"/>
          <p:nvPr/>
        </p:nvSpPr>
        <p:spPr>
          <a:xfrm>
            <a:off x="7010248" y="2322576"/>
            <a:ext cx="41756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Perda na resposta como ponto de partida. Teste a alternativa se as instruções forem longas e as respostas curtas.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43"/>
          <p:cNvSpPr/>
          <p:nvPr/>
        </p:nvSpPr>
        <p:spPr>
          <a:xfrm>
            <a:off x="777240" y="3136392"/>
            <a:ext cx="5181448" cy="1188720"/>
          </a:xfrm>
          <a:prstGeom prst="roundRect">
            <a:avLst>
              <a:gd fmla="val 6154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43"/>
          <p:cNvSpPr/>
          <p:nvPr/>
        </p:nvSpPr>
        <p:spPr>
          <a:xfrm>
            <a:off x="1005840" y="3337560"/>
            <a:ext cx="384048" cy="384048"/>
          </a:xfrm>
          <a:prstGeom prst="ellipse">
            <a:avLst/>
          </a:prstGeom>
          <a:solidFill>
            <a:srgbClr val="0F1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43"/>
          <p:cNvSpPr txBox="1"/>
          <p:nvPr/>
        </p:nvSpPr>
        <p:spPr>
          <a:xfrm>
            <a:off x="1005840" y="33375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43"/>
          <p:cNvSpPr txBox="1"/>
          <p:nvPr/>
        </p:nvSpPr>
        <p:spPr>
          <a:xfrm>
            <a:off x="1554480" y="3300984"/>
            <a:ext cx="4175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Dados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43"/>
          <p:cNvSpPr txBox="1"/>
          <p:nvPr/>
        </p:nvSpPr>
        <p:spPr>
          <a:xfrm>
            <a:off x="1554480" y="3648456"/>
            <a:ext cx="41756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Poucos e bons. Varie formas de pedido e tarefas, controle o peso de cada fonte e separe o teste sem contaminação.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43"/>
          <p:cNvSpPr/>
          <p:nvPr/>
        </p:nvSpPr>
        <p:spPr>
          <a:xfrm>
            <a:off x="6233008" y="3136392"/>
            <a:ext cx="5181448" cy="1188720"/>
          </a:xfrm>
          <a:prstGeom prst="roundRect">
            <a:avLst>
              <a:gd fmla="val 6154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43"/>
          <p:cNvSpPr/>
          <p:nvPr/>
        </p:nvSpPr>
        <p:spPr>
          <a:xfrm>
            <a:off x="6461608" y="3337560"/>
            <a:ext cx="384048" cy="384048"/>
          </a:xfrm>
          <a:prstGeom prst="ellipse">
            <a:avLst/>
          </a:prstGeom>
          <a:solidFill>
            <a:srgbClr val="17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43"/>
          <p:cNvSpPr txBox="1"/>
          <p:nvPr/>
        </p:nvSpPr>
        <p:spPr>
          <a:xfrm>
            <a:off x="6461608" y="33375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43"/>
          <p:cNvSpPr txBox="1"/>
          <p:nvPr/>
        </p:nvSpPr>
        <p:spPr>
          <a:xfrm>
            <a:off x="7010248" y="3300984"/>
            <a:ext cx="4175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Treino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43"/>
          <p:cNvSpPr txBox="1"/>
          <p:nvPr/>
        </p:nvSpPr>
        <p:spPr>
          <a:xfrm>
            <a:off x="7010248" y="3648456"/>
            <a:ext cx="41756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Taxa bem menor que a do pré-treino e poucas épocas. Acompanhe a perda num texto geral durante o ajuste.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43"/>
          <p:cNvSpPr/>
          <p:nvPr/>
        </p:nvSpPr>
        <p:spPr>
          <a:xfrm>
            <a:off x="777240" y="4462272"/>
            <a:ext cx="5181448" cy="1188720"/>
          </a:xfrm>
          <a:prstGeom prst="roundRect">
            <a:avLst>
              <a:gd fmla="val 6154" name="adj"/>
            </a:avLst>
          </a:prstGeom>
          <a:solidFill>
            <a:srgbClr val="FBEFE1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43"/>
          <p:cNvSpPr/>
          <p:nvPr/>
        </p:nvSpPr>
        <p:spPr>
          <a:xfrm>
            <a:off x="1005840" y="4663440"/>
            <a:ext cx="384048" cy="384048"/>
          </a:xfrm>
          <a:prstGeom prst="ellipse">
            <a:avLst/>
          </a:prstGeom>
          <a:solidFill>
            <a:srgbClr val="E08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43"/>
          <p:cNvSpPr txBox="1"/>
          <p:nvPr/>
        </p:nvSpPr>
        <p:spPr>
          <a:xfrm>
            <a:off x="1005840" y="46634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43"/>
          <p:cNvSpPr txBox="1"/>
          <p:nvPr/>
        </p:nvSpPr>
        <p:spPr>
          <a:xfrm>
            <a:off x="1554480" y="4626864"/>
            <a:ext cx="4175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Avaliação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43"/>
          <p:cNvSpPr txBox="1"/>
          <p:nvPr/>
        </p:nvSpPr>
        <p:spPr>
          <a:xfrm>
            <a:off x="1554480" y="4974336"/>
            <a:ext cx="41756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Antes e depois: formato, tarefa, conhecimento retido e alucinação. Nunca só a métrica da tarefa nova.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43"/>
          <p:cNvSpPr/>
          <p:nvPr/>
        </p:nvSpPr>
        <p:spPr>
          <a:xfrm>
            <a:off x="6233008" y="4462272"/>
            <a:ext cx="5181448" cy="1188720"/>
          </a:xfrm>
          <a:prstGeom prst="roundRect">
            <a:avLst>
              <a:gd fmla="val 6154" name="adj"/>
            </a:avLst>
          </a:prstGeom>
          <a:solidFill>
            <a:srgbClr val="EFF3F7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43"/>
          <p:cNvSpPr/>
          <p:nvPr/>
        </p:nvSpPr>
        <p:spPr>
          <a:xfrm>
            <a:off x="6461608" y="4663440"/>
            <a:ext cx="384048" cy="384048"/>
          </a:xfrm>
          <a:prstGeom prst="ellipse">
            <a:avLst/>
          </a:prstGeom>
          <a:solidFill>
            <a:srgbClr val="0F1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43"/>
          <p:cNvSpPr txBox="1"/>
          <p:nvPr/>
        </p:nvSpPr>
        <p:spPr>
          <a:xfrm>
            <a:off x="6461608" y="46634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43"/>
          <p:cNvSpPr txBox="1"/>
          <p:nvPr/>
        </p:nvSpPr>
        <p:spPr>
          <a:xfrm>
            <a:off x="7010248" y="4626864"/>
            <a:ext cx="4175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Mitigação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43"/>
          <p:cNvSpPr txBox="1"/>
          <p:nvPr/>
        </p:nvSpPr>
        <p:spPr>
          <a:xfrm>
            <a:off x="7010248" y="4974336"/>
            <a:ext cx="41756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Replay de dados gerais e PEFT/LoRA quando o esquecimento aparecer.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43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44"/>
          <p:cNvSpPr txBox="1"/>
          <p:nvPr/>
        </p:nvSpPr>
        <p:spPr>
          <a:xfrm>
            <a:off x="777240" y="1783080"/>
            <a:ext cx="14630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3C"/>
              </a:buClr>
              <a:buSzPts val="9600"/>
              <a:buFont typeface="Cambria"/>
              <a:buNone/>
            </a:pPr>
            <a:r>
              <a:rPr b="1" i="0" lang="en-US" sz="9600" u="none" cap="none" strike="noStrike">
                <a:solidFill>
                  <a:srgbClr val="E08A3C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44"/>
          <p:cNvSpPr txBox="1"/>
          <p:nvPr>
            <p:ph type="title"/>
          </p:nvPr>
        </p:nvSpPr>
        <p:spPr>
          <a:xfrm>
            <a:off x="2377440" y="2011680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Síntese e limites</a:t>
            </a:r>
            <a:endParaRPr sz="3600"/>
          </a:p>
        </p:txBody>
      </p:sp>
      <p:sp>
        <p:nvSpPr>
          <p:cNvPr id="943" name="Google Shape;943;p44"/>
          <p:cNvSpPr txBox="1"/>
          <p:nvPr/>
        </p:nvSpPr>
        <p:spPr>
          <a:xfrm>
            <a:off x="2404872" y="2761488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AC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9BACB"/>
                </a:solidFill>
                <a:latin typeface="Calibri"/>
                <a:ea typeface="Calibri"/>
                <a:cs typeface="Calibri"/>
                <a:sym typeface="Calibri"/>
              </a:rPr>
              <a:t>O que o SFT entrega e o que ele não resolve.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4" name="Google Shape;944;p44"/>
          <p:cNvCxnSpPr/>
          <p:nvPr/>
        </p:nvCxnSpPr>
        <p:spPr>
          <a:xfrm>
            <a:off x="8732520" y="1691640"/>
            <a:ext cx="0" cy="3566160"/>
          </a:xfrm>
          <a:prstGeom prst="straightConnector1">
            <a:avLst/>
          </a:prstGeom>
          <a:noFill/>
          <a:ln cap="flat" cmpd="sng" w="12700">
            <a:solidFill>
              <a:srgbClr val="3550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5" name="Google Shape;945;p44"/>
          <p:cNvSpPr txBox="1"/>
          <p:nvPr/>
        </p:nvSpPr>
        <p:spPr>
          <a:xfrm>
            <a:off x="9098280" y="1691640"/>
            <a:ext cx="23774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C3D2D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3D2DF"/>
                </a:solidFill>
                <a:latin typeface="Calibri"/>
                <a:ea typeface="Calibri"/>
                <a:cs typeface="Calibri"/>
                <a:sym typeface="Calibri"/>
              </a:rPr>
              <a:t>A resposta em seis passos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4000"/>
              </a:lnSpc>
              <a:spcBef>
                <a:spcPts val="600"/>
              </a:spcBef>
              <a:spcAft>
                <a:spcPts val="0"/>
              </a:spcAft>
              <a:buClr>
                <a:srgbClr val="C3D2D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3D2DF"/>
                </a:solidFill>
                <a:latin typeface="Calibri"/>
                <a:ea typeface="Calibri"/>
                <a:cs typeface="Calibri"/>
                <a:sym typeface="Calibri"/>
              </a:rPr>
              <a:t>Limites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44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5C70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45"/>
          <p:cNvSpPr txBox="1"/>
          <p:nvPr>
            <p:ph type="title"/>
          </p:nvPr>
        </p:nvSpPr>
        <p:spPr>
          <a:xfrm>
            <a:off x="777240" y="676656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3100"/>
              <a:buFont typeface="Cambria"/>
              <a:buNone/>
            </a:pPr>
            <a:r>
              <a:rPr b="1" lang="en-US" sz="3100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A resposta em seis passos</a:t>
            </a:r>
            <a:endParaRPr sz="3100"/>
          </a:p>
        </p:txBody>
      </p:sp>
      <p:sp>
        <p:nvSpPr>
          <p:cNvPr id="953" name="Google Shape;953;p45"/>
          <p:cNvSpPr/>
          <p:nvPr/>
        </p:nvSpPr>
        <p:spPr>
          <a:xfrm>
            <a:off x="777240" y="1417320"/>
            <a:ext cx="10637215" cy="566928"/>
          </a:xfrm>
          <a:prstGeom prst="roundRect">
            <a:avLst>
              <a:gd fmla="val 12903" name="adj"/>
            </a:avLst>
          </a:prstGeom>
          <a:solidFill>
            <a:srgbClr val="0F1C2E"/>
          </a:solidFill>
          <a:ln cap="flat" cmpd="sng" w="9525">
            <a:solidFill>
              <a:srgbClr val="D8E0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45"/>
          <p:cNvSpPr txBox="1"/>
          <p:nvPr/>
        </p:nvSpPr>
        <p:spPr>
          <a:xfrm>
            <a:off x="1097280" y="1417320"/>
            <a:ext cx="999713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 que muda quando um modelo pré-treinado é ajustado para responder instruções?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45"/>
          <p:cNvSpPr/>
          <p:nvPr/>
        </p:nvSpPr>
        <p:spPr>
          <a:xfrm>
            <a:off x="777240" y="2258568"/>
            <a:ext cx="402336" cy="402336"/>
          </a:xfrm>
          <a:prstGeom prst="ellipse">
            <a:avLst/>
          </a:prstGeom>
          <a:solidFill>
            <a:srgbClr val="E08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45"/>
          <p:cNvSpPr txBox="1"/>
          <p:nvPr/>
        </p:nvSpPr>
        <p:spPr>
          <a:xfrm>
            <a:off x="777240" y="22585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45"/>
          <p:cNvSpPr txBox="1"/>
          <p:nvPr/>
        </p:nvSpPr>
        <p:spPr>
          <a:xfrm>
            <a:off x="1344168" y="2212848"/>
            <a:ext cx="4541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O objetivo não muda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45"/>
          <p:cNvSpPr txBox="1"/>
          <p:nvPr/>
        </p:nvSpPr>
        <p:spPr>
          <a:xfrm>
            <a:off x="1344168" y="2578608"/>
            <a:ext cx="45413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Continua sendo prever o próximo token. Mudam os dados e as posições que contam na perda.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45"/>
          <p:cNvSpPr/>
          <p:nvPr/>
        </p:nvSpPr>
        <p:spPr>
          <a:xfrm>
            <a:off x="777240" y="3520440"/>
            <a:ext cx="402336" cy="402336"/>
          </a:xfrm>
          <a:prstGeom prst="ellipse">
            <a:avLst/>
          </a:prstGeom>
          <a:solidFill>
            <a:srgbClr val="E08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45"/>
          <p:cNvSpPr txBox="1"/>
          <p:nvPr/>
        </p:nvSpPr>
        <p:spPr>
          <a:xfrm>
            <a:off x="777240" y="352044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45"/>
          <p:cNvSpPr txBox="1"/>
          <p:nvPr/>
        </p:nvSpPr>
        <p:spPr>
          <a:xfrm>
            <a:off x="1344168" y="3474720"/>
            <a:ext cx="4541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Muda o comportamento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45"/>
          <p:cNvSpPr txBox="1"/>
          <p:nvPr/>
        </p:nvSpPr>
        <p:spPr>
          <a:xfrm>
            <a:off x="1344168" y="3840480"/>
            <a:ext cx="45413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Papéis, template e o token de fim: o modelo passa a responder e a parar.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45"/>
          <p:cNvSpPr/>
          <p:nvPr/>
        </p:nvSpPr>
        <p:spPr>
          <a:xfrm>
            <a:off x="777240" y="4782312"/>
            <a:ext cx="402336" cy="402336"/>
          </a:xfrm>
          <a:prstGeom prst="ellipse">
            <a:avLst/>
          </a:prstGeom>
          <a:solidFill>
            <a:srgbClr val="17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45"/>
          <p:cNvSpPr txBox="1"/>
          <p:nvPr/>
        </p:nvSpPr>
        <p:spPr>
          <a:xfrm>
            <a:off x="777240" y="478231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45"/>
          <p:cNvSpPr txBox="1"/>
          <p:nvPr/>
        </p:nvSpPr>
        <p:spPr>
          <a:xfrm>
            <a:off x="1344168" y="4736592"/>
            <a:ext cx="4541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O conhecimento já estava lá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45"/>
          <p:cNvSpPr txBox="1"/>
          <p:nvPr/>
        </p:nvSpPr>
        <p:spPr>
          <a:xfrm>
            <a:off x="1344168" y="5102352"/>
            <a:ext cx="45413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Respondeu sobre países que não viu no ajuste: 96%. O ajuste ensina a usar.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45"/>
          <p:cNvSpPr/>
          <p:nvPr/>
        </p:nvSpPr>
        <p:spPr>
          <a:xfrm>
            <a:off x="6233008" y="2258568"/>
            <a:ext cx="402336" cy="402336"/>
          </a:xfrm>
          <a:prstGeom prst="ellipse">
            <a:avLst/>
          </a:prstGeom>
          <a:solidFill>
            <a:srgbClr val="E08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45"/>
          <p:cNvSpPr txBox="1"/>
          <p:nvPr/>
        </p:nvSpPr>
        <p:spPr>
          <a:xfrm>
            <a:off x="6233008" y="22585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45"/>
          <p:cNvSpPr txBox="1"/>
          <p:nvPr/>
        </p:nvSpPr>
        <p:spPr>
          <a:xfrm>
            <a:off x="6799936" y="2212848"/>
            <a:ext cx="4541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Os dados decidem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45"/>
          <p:cNvSpPr txBox="1"/>
          <p:nvPr/>
        </p:nvSpPr>
        <p:spPr>
          <a:xfrm>
            <a:off x="6799936" y="2578608"/>
            <a:ext cx="45413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Qualidade, diversidade e balanceamento aparecem direto no acerto.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45"/>
          <p:cNvSpPr/>
          <p:nvPr/>
        </p:nvSpPr>
        <p:spPr>
          <a:xfrm>
            <a:off x="6233008" y="3520440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45"/>
          <p:cNvSpPr txBox="1"/>
          <p:nvPr/>
        </p:nvSpPr>
        <p:spPr>
          <a:xfrm>
            <a:off x="6233008" y="352044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45"/>
          <p:cNvSpPr txBox="1"/>
          <p:nvPr/>
        </p:nvSpPr>
        <p:spPr>
          <a:xfrm>
            <a:off x="6799936" y="3474720"/>
            <a:ext cx="4541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Há custo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45"/>
          <p:cNvSpPr txBox="1"/>
          <p:nvPr/>
        </p:nvSpPr>
        <p:spPr>
          <a:xfrm>
            <a:off x="6799936" y="3840480"/>
            <a:ext cx="45413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Sem cuidado, o modelo esquece o pré-treino e responde com confiança o que não sabe.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45"/>
          <p:cNvSpPr/>
          <p:nvPr/>
        </p:nvSpPr>
        <p:spPr>
          <a:xfrm>
            <a:off x="6233008" y="4782312"/>
            <a:ext cx="402336" cy="402336"/>
          </a:xfrm>
          <a:prstGeom prst="ellipse">
            <a:avLst/>
          </a:prstGeom>
          <a:solidFill>
            <a:srgbClr val="E08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45"/>
          <p:cNvSpPr txBox="1"/>
          <p:nvPr/>
        </p:nvSpPr>
        <p:spPr>
          <a:xfrm>
            <a:off x="6233008" y="478231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45"/>
          <p:cNvSpPr txBox="1"/>
          <p:nvPr/>
        </p:nvSpPr>
        <p:spPr>
          <a:xfrm>
            <a:off x="6799936" y="4736592"/>
            <a:ext cx="4541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C2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F1C2E"/>
                </a:solidFill>
                <a:latin typeface="Cambria"/>
                <a:ea typeface="Cambria"/>
                <a:cs typeface="Cambria"/>
                <a:sym typeface="Cambria"/>
              </a:rPr>
              <a:t>Por isso há etapas seguintes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45"/>
          <p:cNvSpPr txBox="1"/>
          <p:nvPr/>
        </p:nvSpPr>
        <p:spPr>
          <a:xfrm>
            <a:off x="6799936" y="5102352"/>
            <a:ext cx="45413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B5D7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B5D73"/>
                </a:solidFill>
                <a:latin typeface="Calibri"/>
                <a:ea typeface="Calibri"/>
                <a:cs typeface="Calibri"/>
                <a:sym typeface="Calibri"/>
              </a:rPr>
              <a:t>Preferências (RLHF, DPO) e recompensas verificáveis (RLVR) atacam o que a imitação não alcança.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45"/>
          <p:cNvSpPr txBox="1"/>
          <p:nvPr>
            <p:ph idx="4294967295" type="sldNum"/>
          </p:nvPr>
        </p:nvSpPr>
        <p:spPr>
          <a:xfrm>
            <a:off x="10500055" y="6327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50" u="none" cap="none" strike="noStrike">
                <a:solidFill>
                  <a:srgbClr val="8494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50" u="none" cap="none" strike="noStrike">
              <a:solidFill>
                <a:srgbClr val="849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46"/>
          <p:cNvSpPr txBox="1"/>
          <p:nvPr>
            <p:ph type="title"/>
          </p:nvPr>
        </p:nvSpPr>
        <p:spPr>
          <a:xfrm>
            <a:off x="-179268" y="1115500"/>
            <a:ext cx="12550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lang="en-US"/>
              <a:t>Agradecemos a atenção!</a:t>
            </a:r>
            <a:endParaRPr sz="5400"/>
          </a:p>
        </p:txBody>
      </p:sp>
      <p:sp>
        <p:nvSpPr>
          <p:cNvPr id="986" name="Google Shape;986;p46"/>
          <p:cNvSpPr txBox="1"/>
          <p:nvPr/>
        </p:nvSpPr>
        <p:spPr>
          <a:xfrm>
            <a:off x="777240" y="297180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4A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94A9"/>
                </a:solidFill>
                <a:latin typeface="Calibri"/>
                <a:ea typeface="Calibri"/>
                <a:cs typeface="Calibri"/>
                <a:sym typeface="Calibri"/>
              </a:rPr>
              <a:t>uma última conversa com o nosso modelo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46"/>
          <p:cNvSpPr/>
          <p:nvPr/>
        </p:nvSpPr>
        <p:spPr>
          <a:xfrm>
            <a:off x="777240" y="3310128"/>
            <a:ext cx="5669280" cy="658368"/>
          </a:xfrm>
          <a:prstGeom prst="roundRect">
            <a:avLst>
              <a:gd fmla="val 11111" name="adj"/>
            </a:avLst>
          </a:prstGeom>
          <a:solidFill>
            <a:srgbClr val="1B3149"/>
          </a:solidFill>
          <a:ln cap="flat" cmpd="sng" w="15225">
            <a:solidFill>
              <a:srgbClr val="355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46"/>
          <p:cNvSpPr txBox="1"/>
          <p:nvPr/>
        </p:nvSpPr>
        <p:spPr>
          <a:xfrm>
            <a:off x="941832" y="3364992"/>
            <a:ext cx="53400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CE6F0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46"/>
          <p:cNvSpPr txBox="1"/>
          <p:nvPr/>
        </p:nvSpPr>
        <p:spPr>
          <a:xfrm>
            <a:off x="941832" y="3602736"/>
            <a:ext cx="53400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EF3F8"/>
                </a:solidFill>
                <a:latin typeface="Consolas"/>
                <a:ea typeface="Consolas"/>
                <a:cs typeface="Consolas"/>
                <a:sym typeface="Consolas"/>
              </a:rPr>
              <a:t>Qual é a capital da Mongólia?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46"/>
          <p:cNvSpPr/>
          <p:nvPr/>
        </p:nvSpPr>
        <p:spPr>
          <a:xfrm>
            <a:off x="777240" y="4078224"/>
            <a:ext cx="5669280" cy="658368"/>
          </a:xfrm>
          <a:prstGeom prst="roundRect">
            <a:avLst>
              <a:gd fmla="val 11111" name="adj"/>
            </a:avLst>
          </a:prstGeom>
          <a:solidFill>
            <a:srgbClr val="1B3149"/>
          </a:solidFill>
          <a:ln cap="flat" cmpd="sng" w="15225">
            <a:solidFill>
              <a:srgbClr val="3550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46"/>
          <p:cNvSpPr txBox="1"/>
          <p:nvPr/>
        </p:nvSpPr>
        <p:spPr>
          <a:xfrm>
            <a:off x="941832" y="4133088"/>
            <a:ext cx="53400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CE6F0"/>
                </a:solidFill>
                <a:latin typeface="Calibri"/>
                <a:ea typeface="Calibri"/>
                <a:cs typeface="Calibri"/>
                <a:sym typeface="Calibri"/>
              </a:rPr>
              <a:t>ASSISTANT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46"/>
          <p:cNvSpPr txBox="1"/>
          <p:nvPr/>
        </p:nvSpPr>
        <p:spPr>
          <a:xfrm>
            <a:off x="941832" y="4370832"/>
            <a:ext cx="53400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EF3F8"/>
                </a:solidFill>
                <a:latin typeface="Consolas"/>
                <a:ea typeface="Consolas"/>
                <a:cs typeface="Consolas"/>
                <a:sym typeface="Consolas"/>
              </a:rPr>
              <a:t>A capital da Mongólia é Lima.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46"/>
          <p:cNvSpPr txBox="1"/>
          <p:nvPr/>
        </p:nvSpPr>
        <p:spPr>
          <a:xfrm>
            <a:off x="777240" y="48463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3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08A3C"/>
                </a:solidFill>
                <a:latin typeface="Calibri"/>
                <a:ea typeface="Calibri"/>
                <a:cs typeface="Calibri"/>
                <a:sym typeface="Calibri"/>
              </a:rPr>
              <a:t>formato perfeito, confiança total, resposta inventada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46"/>
          <p:cNvSpPr txBox="1"/>
          <p:nvPr/>
        </p:nvSpPr>
        <p:spPr>
          <a:xfrm>
            <a:off x="7863840" y="33101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A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08A3C"/>
                </a:solidFill>
                <a:latin typeface="Calibri"/>
                <a:ea typeface="Calibri"/>
                <a:cs typeface="Calibri"/>
                <a:sym typeface="Calibri"/>
              </a:rPr>
              <a:t>Equipe  ·  Treinamento e fine-tuning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46"/>
          <p:cNvSpPr txBox="1"/>
          <p:nvPr/>
        </p:nvSpPr>
        <p:spPr>
          <a:xfrm>
            <a:off x="7863840" y="3657600"/>
            <a:ext cx="3657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C3D2D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3D2DF"/>
                </a:solidFill>
                <a:latin typeface="Calibri"/>
                <a:ea typeface="Calibri"/>
                <a:cs typeface="Calibri"/>
                <a:sym typeface="Calibri"/>
              </a:rPr>
              <a:t>Gabriel Palhares</a:t>
            </a:r>
            <a:br>
              <a:rPr lang="en-US" sz="1300">
                <a:solidFill>
                  <a:srgbClr val="C3D2D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rgbClr val="C3D2DF"/>
                </a:solidFill>
                <a:latin typeface="Calibri"/>
                <a:ea typeface="Calibri"/>
                <a:cs typeface="Calibri"/>
                <a:sym typeface="Calibri"/>
              </a:rPr>
              <a:t>jolie Pavan</a:t>
            </a:r>
            <a:br>
              <a:rPr lang="en-US" sz="1300">
                <a:solidFill>
                  <a:srgbClr val="C3D2D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rgbClr val="C3D2DF"/>
                </a:solidFill>
                <a:latin typeface="Calibri"/>
                <a:ea typeface="Calibri"/>
                <a:cs typeface="Calibri"/>
                <a:sym typeface="Calibri"/>
              </a:rPr>
              <a:t>Mateus Nery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eminario LLM">
  <a:themeElements>
    <a:clrScheme name="Seminario LLM">
      <a:dk1>
        <a:srgbClr val="0F1C2E"/>
      </a:dk1>
      <a:lt1>
        <a:srgbClr val="FFFFFF"/>
      </a:lt1>
      <a:dk2>
        <a:srgbClr val="4B5D73"/>
      </a:dk2>
      <a:lt2>
        <a:srgbClr val="EFF3F7"/>
      </a:lt2>
      <a:accent1>
        <a:srgbClr val="E08A3C"/>
      </a:accent1>
      <a:accent2>
        <a:srgbClr val="17897B"/>
      </a:accent2>
      <a:accent3>
        <a:srgbClr val="C0392B"/>
      </a:accent3>
      <a:accent4>
        <a:srgbClr val="A55A18"/>
      </a:accent4>
      <a:accent5>
        <a:srgbClr val="0E5F55"/>
      </a:accent5>
      <a:accent6>
        <a:srgbClr val="8494A6"/>
      </a:accent6>
      <a:hlink>
        <a:srgbClr val="17897B"/>
      </a:hlink>
      <a:folHlink>
        <a:srgbClr val="0E5F5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eminario LLM">
  <a:themeElements>
    <a:clrScheme name="Seminario LLM">
      <a:dk1>
        <a:srgbClr val="0F1C2E"/>
      </a:dk1>
      <a:lt1>
        <a:srgbClr val="FFFFFF"/>
      </a:lt1>
      <a:dk2>
        <a:srgbClr val="4B5D73"/>
      </a:dk2>
      <a:lt2>
        <a:srgbClr val="EFF3F7"/>
      </a:lt2>
      <a:accent1>
        <a:srgbClr val="E08A3C"/>
      </a:accent1>
      <a:accent2>
        <a:srgbClr val="17897B"/>
      </a:accent2>
      <a:accent3>
        <a:srgbClr val="C0392B"/>
      </a:accent3>
      <a:accent4>
        <a:srgbClr val="A55A18"/>
      </a:accent4>
      <a:accent5>
        <a:srgbClr val="0E5F55"/>
      </a:accent5>
      <a:accent6>
        <a:srgbClr val="8494A6"/>
      </a:accent6>
      <a:hlink>
        <a:srgbClr val="17897B"/>
      </a:hlink>
      <a:folHlink>
        <a:srgbClr val="0E5F5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