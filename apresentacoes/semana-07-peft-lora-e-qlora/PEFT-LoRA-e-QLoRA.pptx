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9A2ED6-0AEB-45F8-B290-8317CC3EE3F4}">
  <a:tblStyle styleId="{899A2ED6-0AEB-45F8-B290-8317CC3EE3F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Abertura (1 min). Os três cartões são o fio condutor: o mesmo mini-GPT, a mesma tarefa da semana de SFT, ajustado de três formas. O ajuste completo treina todos os 132.352 parâmetros; a LoRA treina 16.384 e deixa o resto congelado; a QLoRA treina os mesmos 16.384, com a base guardada em 4 bits. Os acertos são médias de 3 sementes, cada método com a sua taxa de aprendizado escolhida na validação. A segunda metade da pergunta, 'quando a comparação é válida', é o que dá sentido a esses números.</a:t>
            </a:r>
            <a:endParaRPr/>
          </a:p>
        </p:txBody>
      </p:sp>
      <p:sp>
        <p:nvSpPr>
          <p:cNvPr id="57" name="Google Shape;5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Roteiro (30 s). Mesma estrutura das semanas anteriores. A parte 3 concentra o conteúdo mínimo; todos os números de 'nosso modelo' vêm de treinos reais, com o protocolo descrito no slide 'Nosso laboratório'.</a:t>
            </a:r>
            <a:endParaRPr/>
          </a:p>
        </p:txBody>
      </p:sp>
      <p:sp>
        <p:nvSpPr>
          <p:cNvPr id="88" name="Google Shape;8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Troca de apresentador, se houver. Nesta seção só enquadramos o problema.</a:t>
            </a:r>
            <a:endParaRPr/>
          </a:p>
        </p:txBody>
      </p:sp>
      <p:sp>
        <p:nvSpPr>
          <p:cNvPr id="125" name="Google Shape;12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pergunta (1 min). Ler em voz alta e separar as duas metades. A primeira é técnica: como treinar poucos parâmetros. A segunda é experimental e conversa com a semana 6: se mudarmos o método, a comparação continua justa? O cartão 3 antecipa o achado mais importante do nosso experimento: dar aos dois métodos a mesma taxa de aprendizado favorece um deles, e a conclusão muda conforme a taxa escolhida.</a:t>
            </a:r>
            <a:endParaRPr/>
          </a:p>
        </p:txBody>
      </p:sp>
      <p:sp>
        <p:nvSpPr>
          <p:cNvPr id="136" name="Google Shape;13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Ponte com a semana 6 (1,5 min). A equipe de benchmarks ajustou um Qwen2.5-0.5B com LoRA para classificar sentimento. Cada número da configuração é um assunto de hoje. A conta de baixo usa o config.json oficial do Qwen2.5-0.5B: 24 camadas, dimensão 896 e atenção com 2 cabeças de chave e valor (por isso k e v têm saída 128). O adapter tem 2.162.688 parâmetros, menos de meio por cento do modelo. Não vamos julgar o experimento deles: a pergunta é o que cada escolha controla.</a:t>
            </a:r>
            <a:endParaRPr/>
          </a:p>
        </p:txBody>
      </p:sp>
      <p:sp>
        <p:nvSpPr>
          <p:cNvPr id="167" name="Google Shape;16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Seção curta: o mapa dos métodos e a intuição do baixo rank.</a:t>
            </a:r>
            <a:endParaRPr/>
          </a:p>
        </p:txBody>
      </p:sp>
      <p:sp>
        <p:nvSpPr>
          <p:cNvPr id="196" name="Google Shape;19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Mapa (1,5 min). Os cinco desenhos usam o mesmo esqueleto: tokens entram, passam pela atenção e pela MLP. O que muda é onde fica a parte âmbar, a única que treina. No ajuste completo, tudo é âmbar. Houlsby et al. (2019) inserem blocos-gargalo entre as camadas e chegam a 0,4% do ajuste completo no GLUE com 3,6% dos parâmetros, mas a inferência ganha camadas. Prefix e prompt tuning treinam vetores que entram antes dos tokens; o prompt tuning só alcança o ajuste completo em modelos grandes (T5-XXL, 11B). A LoRA põe um par A·B ao lado de cada matriz e, depois do merge, não custa nada na inferência; no GPT-3, treinou 10.000 vezes menos parâmetros. A QLoRA é a mesma LoRA, com a parte cinza guardada em 4 bits.</a:t>
            </a:r>
            <a:endParaRPr/>
          </a:p>
        </p:txBody>
      </p:sp>
      <p:sp>
        <p:nvSpPr>
          <p:cNvPr id="207" name="Google Shape;2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Intuição (2 min). Tomamos o modelo do ajuste completo e calculamos ΔW = W_ajustado − W_base em cada uma das 8 matrizes lineares. A decomposição em valores singulares diz quanto de ΔW pode ser reconstruído com k direções. As barras âmbar mostram que o desvio é mais concentrado que o próprio peso: é a hipótese de 'posto intrínseco' baixo do artigo da LoRA. Aghajanyan et al. mostraram algo parecido com projeções aleatórias. O contraponto de Biderman et al. é importante: quando a tarefa exige aprender muito, o desvio não é tão pequeno, e a LoRA fica atrás.</a:t>
            </a:r>
            <a:endParaRPr/>
          </a:p>
        </p:txBody>
      </p:sp>
      <p:sp>
        <p:nvSpPr>
          <p:cNvPr id="298" name="Google Shape;2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Início do conteúdo mínimo. Todos os números de 'nosso modelo' vêm do notebook ou de variações dele.</a:t>
            </a:r>
            <a:endParaRPr/>
          </a:p>
        </p:txBody>
      </p:sp>
      <p:sp>
        <p:nvSpPr>
          <p:cNvPr id="314" name="Google Shape;31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Laboratório (2 min). Reaproveitamos o mundo e o modelo da semana de SFT, com uma diferença importante: agora não há replay, para que a comparação seja só entre métodos de ajuste. Os 17 países que não aparecem nas conversas foram divididos em 6 de validação e 11 de teste, por sorteio com semente fixa. A validação só serve para escolher a taxa; o teste só é olhado no fim. Isso é a semana 6 aplicada: configuração congelada, comparação justa, repetição com sementes.</a:t>
            </a:r>
            <a:endParaRPr/>
          </a:p>
        </p:txBody>
      </p:sp>
      <p:sp>
        <p:nvSpPr>
          <p:cNvPr id="325" name="Google Shape;32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 laço (2 min). À esquerda, o laço de treino que já vimos no SFT: o exemplo entra, o modelo prevê ('Roma.'), a perda compara com o alvo ('Oslo.') e o gradiente volta para atualizar os pesos. À direita, o zoom numa das matrizes lineares, com LoRA. A entrada x segue dois caminhos: a matriz W, congelada, e o par A, B. As saídas h_W e h_L são somadas. Na volta, o gradiente atravessa W para chegar às camadas de baixo, mas W não é atualizada: o otimizador só calcula passos e guarda estado para A e B (linhas vermelhas). B começa em zero, então no primeiro passo h_L = 0 e o modelo é idêntico à base. No ajuste completo não existe A·B: o gradiente atualiza cada W diretamente. No nosso modelo, isso é a diferença entre 132.352 e 16.384 parâmetros treináveis; o percentual de 12% é alto porque o modelo é minúsculo (d = 64).</a:t>
            </a:r>
            <a:endParaRPr/>
          </a:p>
        </p:txBody>
      </p:sp>
      <p:sp>
        <p:nvSpPr>
          <p:cNvPr id="351" name="Google Shape;35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Baixo rank (2,5 min). À esquerda, as matrizes desenhadas na escala do nosso modelo: um desvio ΔW de 64 × 64 vira o produto de A (64 × 8, alta e fina) por B (8 × 64, larga e baixa). O produto tem o tamanho de W, mas só pode se mover em 8 direções: posto no máximo r. Num modelo de 7B, com d = 4096, a faixa A seria 512 vezes mais fina que o quadrado, fina demais para aparecer no desenho. À direita, o mesmo mecanismo como no artigo da LoRA: x passa pela matriz pré-treinada e, em paralelo, por A, que estreita de d para r, e por B, que volta de r para d; as duas saídas são somadas em h. B começa em zero, então o treino parte exatamente da base. O fator α/r da fórmula fica para o slide de alpha.</a:t>
            </a:r>
            <a:endParaRPr/>
          </a:p>
        </p:txBody>
      </p:sp>
      <p:sp>
        <p:nvSpPr>
          <p:cNvPr id="421" name="Google Shape;42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Onde entra (2 min). Ler da esquerda para a direita, como um zoom. O modelo é uma pilha de blocos iguais; cada bloco tem atenção e MLP, separadas por LayerNorm; dentro da atenção, a entrada é projetada por três matrizes, W_q, W_k e W_v, e o resultado passa por W_o. Cada uma dessas matrizes, e as duas da MLP, pode ganhar um par A·B em paralelo, que é somado à saída dela. O artigo da LoRA usou só W_q e W_v (as caixas âmbar); a semana 6 usou as quatro da atenção; a QLoRA e o nosso laboratório usam todas as lineares. No nosso mini-GPT, q, k e v estão numa só matriz qkv (64 × 192), então o adapter dela cobre as três juntas. Os resultados de cada escolha vêm no slide de módulos-alvo.</a:t>
            </a:r>
            <a:endParaRPr/>
          </a:p>
        </p:txBody>
      </p:sp>
      <p:sp>
        <p:nvSpPr>
          <p:cNvPr id="467" name="Google Shape;46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Rank (2 min). Cada barra é um rank diferente, com α = 2r, e cada um teve as suas cinco taxas candidatas; a barra é o acerto no teste da taxa escolhida pela validação. O número embaixo é o total de parâmetros treináveis. Rank 1 não bastou; a partir de 2, todos ficaram no nível do ajuste completo, e a ordem entre ranks vizinhos não é confiável: a própria LoRA r = 8 variou de 81% a 91% entre sementes. O cartão vermelho é o cuidado experimental: com α = 2r, ranks maiores têm desvios maiores, e a taxa ótima caiu com o rank. Comparar ranks com uma taxa só teria favorecido alguns deles.</a:t>
            </a:r>
            <a:endParaRPr/>
          </a:p>
        </p:txBody>
      </p:sp>
      <p:sp>
        <p:nvSpPr>
          <p:cNvPr id="563" name="Google Shape;56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SLIDES_API165854097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SLIDES_API165854097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Impacto empírico do Rank na VRAM e parâmetros. O gráfico à esquerda demonstra a relação entre o rank r escolhido e os recursos consumidos. Destaque para o sweet spot entre r=8 e r=16, onde se obtém a maior taxa de acerto com o menor impacto de memória.</a:t>
            </a:r>
            <a:endParaRPr/>
          </a:p>
        </p:txBody>
      </p:sp>
      <p:sp>
        <p:nvSpPr>
          <p:cNvPr id="578" name="Google Shape;578;SLIDES_API165854097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2" name="Google Shape;59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Alpha (1,5 min). Começar pela fórmula: α/r é o volume do desvio. Com α/r = 2, cada unidade de A·B vale o dobro diante de W; com α/r = 0,5, vale metade. No gráfico, mantivemos rank 8 e a mesma taxa, e variamos só alpha. Alpha pequeno deixa o desvio pequeno demais para aprender em 300 passos; subir alpha teve o efeito de subir a taxa, e o acerto foi de 47% (α = 4) a 99% (α = 32). É o comportamento previsto: com Adam, o tamanho de cada passo em A e B não depende da escala do gradiente, então α/r multiplica diretamente o quanto ΔW cresce. Conclusão prática: alpha não é um botão independente da taxa.</a:t>
            </a:r>
            <a:endParaRPr/>
          </a:p>
        </p:txBody>
      </p:sp>
      <p:sp>
        <p:nvSpPr>
          <p:cNvPr id="593" name="Google Shape;59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SLIDES_API114179508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3" name="Google Shape;613;SLIDES_API1141795089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Comparação das curvas de perda com diferentes valores de Alpha. Destaque para a regra prática Alpha = 2r como a curva ideal de convergência. Alpha muito baixo (0.5r) leva à estagnação prematura, enquanto Alpha muito alto (4.0r) gera forte instabilidade e oscilações no gradiente.</a:t>
            </a:r>
            <a:endParaRPr/>
          </a:p>
        </p:txBody>
      </p:sp>
      <p:sp>
        <p:nvSpPr>
          <p:cNvPr id="614" name="Google Shape;614;SLIDES_API1141795089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Módulos-alvo e dropout (2 min). Nossa tarefa depende de copiar o nome do país da pergunta para a resposta, um trabalho da atenção; por isso adapters só na MLP se saíram mal aqui. Isso não contradiz a literatura, que recomenda todas as camadas: mostra que o melhor alvo depende da tarefa, e que a comparação precisa controlar o número de parâmetros (atenção r = 13 contra MLP r = 8). O dropout da LoRA é aplicado só na entrada do caminho A·B, durante o treino; aqui, 0,1 quase não mudou o resultado e 0,3 atrapalhou, num treino curto, sem sinal de sobreajuste para combater.</a:t>
            </a:r>
            <a:endParaRPr/>
          </a:p>
        </p:txBody>
      </p:sp>
      <p:sp>
        <p:nvSpPr>
          <p:cNvPr id="629" name="Google Shape;62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SLIDES_API207705024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SLIDES_API207705024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Detalhamento da partição de VRAM no LoRA. Explicar que a grande vantagem de memória vem de eliminar estados de otimizador para 99% do modelo, permitindo que ~75% da GPU fique dedicada apenas aos pesos base congelados.</a:t>
            </a:r>
            <a:endParaRPr/>
          </a:p>
        </p:txBody>
      </p:sp>
      <p:sp>
        <p:nvSpPr>
          <p:cNvPr id="643" name="Google Shape;643;SLIDES_API207705024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Memória (2 min). À esquerda, a conta exata do nosso modelo em float32: o ajuste completo guarda gradiente e duas médias do Adam para os 132.352 parâmetros; a LoRA, só para os 16.384 do adapter. A QLoRA reduz a barra cinza: as matrizes lineares congeladas passam a ocupar cerca de 4,13 bits por peso. À direita, a mesma conta para modelos reais, a partir do número de parâmetros do config.json. São estimativas sem ativações: num Qwen de 0,5B, as ativações de um lote podem passar dos pesos.</a:t>
            </a:r>
            <a:endParaRPr/>
          </a:p>
        </p:txBody>
      </p:sp>
      <p:sp>
        <p:nvSpPr>
          <p:cNvPr id="658" name="Google Shape;65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LoRA × QLoRA (2,5 min). As quatro ideias da QLoRA estão à esquerda. O histograma é real: os pesos das matrizes lineares do nosso modelo, divididos pelo maior valor do bloco. Os traços âmbar são os 16 níveis do NF4, mais densos perto de zero, onde há mais pesos. Por isso o NF4 erra menos que 4 bits com níveis uniformes. A dupla quantização é a conta do artigo: a escala de 32 bits por bloco de 64 custa 0,5 bit por peso; em 8 bits, mais uma escala a cada 256 blocos, cai para 0,127. No nosso código as escalas viram inteiros de 8 bits, não o float de 8 bits do artigo.</a:t>
            </a:r>
            <a:endParaRPr/>
          </a:p>
        </p:txBody>
      </p:sp>
      <p:sp>
        <p:nvSpPr>
          <p:cNvPr id="674" name="Google Shape;67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QLoRA (2 min). Primeiro a régua: quantizar a base já muda o modelo, ainda que pouco aqui. Ela completa 100% dos fatos e tem perda 0,613 no texto, contra 100% e 0,610 da base original. Num modelo grande, com outliers nos pesos, a diferença pode ser maior; por isso o 'antes' da QLoRA é a base quantizada. Depois, a comparação com 3 sementes: médias de 86%, 86% e 86%, com faixas que se sobrepõem. A conclusão honesta é que os três ficaram no mesmo nível nesta tarefa, e que guardar a base em 4 bits não custou nada visível.</a:t>
            </a:r>
            <a:endParaRPr/>
          </a:p>
        </p:txBody>
      </p:sp>
      <p:sp>
        <p:nvSpPr>
          <p:cNvPr id="723" name="Google Shape;72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Adapter e merge (2,5 min). O adapter é um arquivo pequeno; a base fica intacta e pode servir a vários adapters. O merge soma o desvio aos pesos e elimina o caminho extra. Na LoRA, conferimos: a maior diferença de logits entre adapter e modelo fundido foi 1,4e-5, erro de arredondamento, e o acerto foi idêntico. Na QLoRA há duas armadilhas: o adapter aprendeu a corrigir a base quantizada, então fundir e quantizar de novo, ou aplicá-lo à base original, produz outro modelo. A tabela mostra o quanto isso mudou o acerto no nosso caso. Conclusão de régua: avalie o modelo exatamente como ele vai ser usado.</a:t>
            </a:r>
            <a:endParaRPr/>
          </a:p>
        </p:txBody>
      </p:sp>
      <p:sp>
        <p:nvSpPr>
          <p:cNvPr id="738" name="Google Shape;73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Antes e depois (2 min). As colunas da esquerda medem a tarefa nova nos países de teste; as da direita, o que o pré-treino ensinou. Biderman et al. (2024) mostraram que, em modelos grandes, a LoRA aprende menos e esquece menos. Aqui foi o contrário no esquecimento: perda no texto de 2,57 na LoRA contra 1,62 no ajuste completo (médias de 3 sementes). Uma hipótese, não testada: a taxa da LoRA foi 5 vezes maior e o adapter cobre 12% dos pesos de um modelo minúsculo. É um resultado negativo que vale registrar. A linha da LoRA fundida tem de repetir a da LoRA com adapter; se não repetisse, haveria um bug no merge.</a:t>
            </a:r>
            <a:endParaRPr/>
          </a:p>
        </p:txBody>
      </p:sp>
      <p:sp>
        <p:nvSpPr>
          <p:cNvPr id="755" name="Google Shape;75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régua (2,5 min). Este é o achado central para a segunda metade da pergunta. O ótimo do ajuste completo fica numa taxa menor que o da LoRA; a literatura fala em cerca de 10 vezes (Thinking Machines, 2025; Biderman et al., 2024), e a tabela de hiperparâmetros do próprio artigo da LoRA usa 2e-4 contra 5e-6 no GPT-3. Com uma taxa única, quem vence depende de quem foi favorecido. Repare também que a validação nem sempre escolhe a melhor barra do teste: escolher pelo teste daria números mais altos e otimistas. O número honesto é o da taxa escolhida na validação.</a:t>
            </a:r>
            <a:endParaRPr/>
          </a:p>
        </p:txBody>
      </p:sp>
      <p:sp>
        <p:nvSpPr>
          <p:cNvPr id="766" name="Google Shape;76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Checklist (1,5 min). Cada item foi aplicado no nosso experimento e corresponde a um slide anterior. O item 3, em destaque, é o que mais muda conclusões na prática. Estes seis pontos são o que propomos levar para a comparação 'adaptador contra baseline' do projeto.</a:t>
            </a:r>
            <a:endParaRPr/>
          </a:p>
        </p:txBody>
      </p:sp>
      <p:sp>
        <p:nvSpPr>
          <p:cNvPr id="779" name="Google Shape;77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Seção curta: de onde vêm as ideias e como elas chegam ao projeto.</a:t>
            </a:r>
            <a:endParaRPr/>
          </a:p>
        </p:txBody>
      </p:sp>
      <p:sp>
        <p:nvSpPr>
          <p:cNvPr id="817" name="Google Shape;81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 name="Google Shape;82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Literatura (1-2 min). Não ler tudo. Destacar Hu et al. (a LoRA), Dettmers et al. (a QLoRA) e Biderman et al. (o limite). O texto da Thinking Machines é um blog técnico, não um artigo revisado; usamos só como apoio para a questão da taxa.</a:t>
            </a:r>
            <a:endParaRPr/>
          </a:p>
        </p:txBody>
      </p:sp>
      <p:sp>
        <p:nvSpPr>
          <p:cNvPr id="828" name="Google Shape;82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Projeto (1,5 min). O roadmap pede explicitamente um adaptador de SLM em português avaliado contra um baseline: é exatamente o assunto de hoje. Os três cartões transformam o seminário em decisões para esse entregável. À direita, duas sugestões de recorte para o radar de papers da frente de fine-tuning; são propostas para a equipe discutir, não decisões tomadas.</a:t>
            </a:r>
            <a:endParaRPr/>
          </a:p>
        </p:txBody>
      </p:sp>
      <p:sp>
        <p:nvSpPr>
          <p:cNvPr id="880" name="Google Shape;88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6" name="Google Shape;90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Fechamento. Retomar a pergunta orientadora em voz alta antes de virar o slide.</a:t>
            </a:r>
            <a:endParaRPr/>
          </a:p>
        </p:txBody>
      </p:sp>
      <p:sp>
        <p:nvSpPr>
          <p:cNvPr id="907" name="Google Shape;90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Síntese (1,5 min). Os passos 1 a 5 respondem a primeira metade da pergunta; o passo 6 responde a segunda. No nosso experimento, LoRA e QLoRA, com 12,4% dos pesos treináveis, ficaram no nível do ajuste completo, mas só porque cada método teve a sua busca de taxa.</a:t>
            </a:r>
            <a:endParaRPr/>
          </a:p>
        </p:txBody>
      </p:sp>
      <p:sp>
        <p:nvSpPr>
          <p:cNvPr id="918" name="Google Shape;91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Limites (1,5 min). Separar os limites do método dos limites do nosso experimento. O mais importante do laboratório: no nosso modelo minúsculo a LoRA não é tão 'econômica' quanto num LLM, porque d é 64. Os mecanismos (B = 0, merge, NF4, a régua) valem; as magnitudes, não.</a:t>
            </a:r>
            <a:endParaRPr/>
          </a:p>
        </p:txBody>
      </p:sp>
      <p:sp>
        <p:nvSpPr>
          <p:cNvPr id="951" name="Google Shape;951;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3" name="Google Shape;96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Encerramento. As três linhas resumem a segunda metade da pergunta: o mesmo par de métodos, três conclusões diferentes, conforme a taxa. Bom gancho para perguntas: num experimento do projeto, como garantir que a busca de hiperparâmetros foi justa para os dois lados?</a:t>
            </a:r>
            <a:endParaRPr/>
          </a:p>
        </p:txBody>
      </p:sp>
      <p:sp>
        <p:nvSpPr>
          <p:cNvPr id="964" name="Google Shape;964;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p:cSld name="CAPA">
    <p:bg>
      <p:bgPr>
        <a:solidFill>
          <a:srgbClr val="0F1C2E"/>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777240" y="1188720"/>
            <a:ext cx="7589520" cy="13716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FFFFFF"/>
              </a:buClr>
              <a:buSzPts val="4000"/>
              <a:buFont typeface="Cambria"/>
              <a:buNone/>
              <a:defRPr b="1" i="0" sz="4000" u="none" cap="none" strike="noStrike">
                <a:solidFill>
                  <a:srgbClr val="FFFFFF"/>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TEIRO">
  <p:cSld name="ROTEIRO">
    <p:bg>
      <p:bgPr>
        <a:solidFill>
          <a:srgbClr val="FFFFFF"/>
        </a:solidFill>
      </p:bgPr>
    </p:bg>
    <p:spTree>
      <p:nvGrpSpPr>
        <p:cNvPr id="13" name="Shape 13"/>
        <p:cNvGrpSpPr/>
        <p:nvPr/>
      </p:nvGrpSpPr>
      <p:grpSpPr>
        <a:xfrm>
          <a:off x="0" y="0"/>
          <a:ext cx="0" cy="0"/>
          <a:chOff x="0" y="0"/>
          <a:chExt cx="0" cy="0"/>
        </a:xfrm>
      </p:grpSpPr>
      <p:sp>
        <p:nvSpPr>
          <p:cNvPr id="14" name="Google Shape;14;p3"/>
          <p:cNvSpPr/>
          <p:nvPr/>
        </p:nvSpPr>
        <p:spPr>
          <a:xfrm>
            <a:off x="777240" y="402336"/>
            <a:ext cx="10637215"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050"/>
              <a:buFont typeface="Calibri"/>
              <a:buNone/>
            </a:pPr>
            <a:r>
              <a:rPr b="1" i="0" lang="en-US" sz="1050" u="none" cap="none" strike="noStrike">
                <a:solidFill>
                  <a:srgbClr val="A55A18"/>
                </a:solidFill>
                <a:latin typeface="Calibri"/>
                <a:ea typeface="Calibri"/>
                <a:cs typeface="Calibri"/>
                <a:sym typeface="Calibri"/>
              </a:rPr>
              <a:t>ROTEIRO</a:t>
            </a:r>
            <a:endParaRPr b="0" i="0" sz="1050" u="none" cap="none" strike="noStrike">
              <a:solidFill>
                <a:schemeClr val="dk1"/>
              </a:solidFill>
              <a:latin typeface="Calibri"/>
              <a:ea typeface="Calibri"/>
              <a:cs typeface="Calibri"/>
              <a:sym typeface="Calibri"/>
            </a:endParaRPr>
          </a:p>
        </p:txBody>
      </p:sp>
      <p:sp>
        <p:nvSpPr>
          <p:cNvPr id="15" name="Google Shape;15;p3"/>
          <p:cNvSpPr txBox="1"/>
          <p:nvPr>
            <p:ph type="title"/>
          </p:nvPr>
        </p:nvSpPr>
        <p:spPr>
          <a:xfrm>
            <a:off x="777240" y="676656"/>
            <a:ext cx="10637215" cy="566928"/>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0F1C2E"/>
              </a:buClr>
              <a:buSzPts val="3100"/>
              <a:buFont typeface="Cambria"/>
              <a:buNone/>
              <a:defRPr b="1" i="0" sz="3100" u="none" cap="none" strike="noStrike">
                <a:solidFill>
                  <a:srgbClr val="0F1C2E"/>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p:nvPr/>
        </p:nvSpPr>
        <p:spPr>
          <a:xfrm>
            <a:off x="777240" y="6327648"/>
            <a:ext cx="7315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0" lang="en-US" sz="950" u="none" cap="none" strike="noStrike">
                <a:solidFill>
                  <a:srgbClr val="8494A6"/>
                </a:solidFill>
                <a:latin typeface="Calibri"/>
                <a:ea typeface="Calibri"/>
                <a:cs typeface="Calibri"/>
                <a:sym typeface="Calibri"/>
              </a:rPr>
              <a:t>PEFT, LoRA e QLoRA  ·  Semana 7</a:t>
            </a:r>
            <a:endParaRPr b="0" i="0" sz="950" u="none" cap="none" strike="noStrike">
              <a:solidFill>
                <a:schemeClr val="dk1"/>
              </a:solidFill>
              <a:latin typeface="Calibri"/>
              <a:ea typeface="Calibri"/>
              <a:cs typeface="Calibri"/>
              <a:sym typeface="Calibri"/>
            </a:endParaRPr>
          </a:p>
        </p:txBody>
      </p:sp>
      <p:sp>
        <p:nvSpPr>
          <p:cNvPr id="17" name="Google Shape;17;p3"/>
          <p:cNvSpPr txBox="1"/>
          <p:nvPr>
            <p:ph idx="12"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50" u="none" cap="none" strike="noStrike">
                <a:solidFill>
                  <a:srgbClr val="8494A6"/>
                </a:solidFill>
                <a:latin typeface="Calibri"/>
                <a:ea typeface="Calibri"/>
                <a:cs typeface="Calibri"/>
                <a:sym typeface="Calibri"/>
              </a:defRPr>
            </a:lvl1pPr>
            <a:lvl2pPr indent="0" lvl="1" marL="0" marR="0" algn="r">
              <a:spcBef>
                <a:spcPts val="0"/>
              </a:spcBef>
              <a:buNone/>
              <a:defRPr b="0" i="0" sz="950" u="none" cap="none" strike="noStrike">
                <a:solidFill>
                  <a:srgbClr val="8494A6"/>
                </a:solidFill>
                <a:latin typeface="Calibri"/>
                <a:ea typeface="Calibri"/>
                <a:cs typeface="Calibri"/>
                <a:sym typeface="Calibri"/>
              </a:defRPr>
            </a:lvl2pPr>
            <a:lvl3pPr indent="0" lvl="2" marL="0" marR="0" algn="r">
              <a:spcBef>
                <a:spcPts val="0"/>
              </a:spcBef>
              <a:buNone/>
              <a:defRPr b="0" i="0" sz="950" u="none" cap="none" strike="noStrike">
                <a:solidFill>
                  <a:srgbClr val="8494A6"/>
                </a:solidFill>
                <a:latin typeface="Calibri"/>
                <a:ea typeface="Calibri"/>
                <a:cs typeface="Calibri"/>
                <a:sym typeface="Calibri"/>
              </a:defRPr>
            </a:lvl3pPr>
            <a:lvl4pPr indent="0" lvl="3" marL="0" marR="0" algn="r">
              <a:spcBef>
                <a:spcPts val="0"/>
              </a:spcBef>
              <a:buNone/>
              <a:defRPr b="0" i="0" sz="950" u="none" cap="none" strike="noStrike">
                <a:solidFill>
                  <a:srgbClr val="8494A6"/>
                </a:solidFill>
                <a:latin typeface="Calibri"/>
                <a:ea typeface="Calibri"/>
                <a:cs typeface="Calibri"/>
                <a:sym typeface="Calibri"/>
              </a:defRPr>
            </a:lvl4pPr>
            <a:lvl5pPr indent="0" lvl="4" marL="0" marR="0" algn="r">
              <a:spcBef>
                <a:spcPts val="0"/>
              </a:spcBef>
              <a:buNone/>
              <a:defRPr b="0" i="0" sz="950" u="none" cap="none" strike="noStrike">
                <a:solidFill>
                  <a:srgbClr val="8494A6"/>
                </a:solidFill>
                <a:latin typeface="Calibri"/>
                <a:ea typeface="Calibri"/>
                <a:cs typeface="Calibri"/>
                <a:sym typeface="Calibri"/>
              </a:defRPr>
            </a:lvl5pPr>
            <a:lvl6pPr indent="0" lvl="5" marL="0" marR="0" algn="r">
              <a:spcBef>
                <a:spcPts val="0"/>
              </a:spcBef>
              <a:buNone/>
              <a:defRPr b="0" i="0" sz="950" u="none" cap="none" strike="noStrike">
                <a:solidFill>
                  <a:srgbClr val="8494A6"/>
                </a:solidFill>
                <a:latin typeface="Calibri"/>
                <a:ea typeface="Calibri"/>
                <a:cs typeface="Calibri"/>
                <a:sym typeface="Calibri"/>
              </a:defRPr>
            </a:lvl6pPr>
            <a:lvl7pPr indent="0" lvl="6" marL="0" marR="0" algn="r">
              <a:spcBef>
                <a:spcPts val="0"/>
              </a:spcBef>
              <a:buNone/>
              <a:defRPr b="0" i="0" sz="950" u="none" cap="none" strike="noStrike">
                <a:solidFill>
                  <a:srgbClr val="8494A6"/>
                </a:solidFill>
                <a:latin typeface="Calibri"/>
                <a:ea typeface="Calibri"/>
                <a:cs typeface="Calibri"/>
                <a:sym typeface="Calibri"/>
              </a:defRPr>
            </a:lvl7pPr>
            <a:lvl8pPr indent="0" lvl="7" marL="0" marR="0" algn="r">
              <a:spcBef>
                <a:spcPts val="0"/>
              </a:spcBef>
              <a:buNone/>
              <a:defRPr b="0" i="0" sz="950" u="none" cap="none" strike="noStrike">
                <a:solidFill>
                  <a:srgbClr val="8494A6"/>
                </a:solidFill>
                <a:latin typeface="Calibri"/>
                <a:ea typeface="Calibri"/>
                <a:cs typeface="Calibri"/>
                <a:sym typeface="Calibri"/>
              </a:defRPr>
            </a:lvl8pPr>
            <a:lvl9pPr indent="0" lvl="8" marL="0" marR="0" algn="r">
              <a:spcBef>
                <a:spcPts val="0"/>
              </a:spcBef>
              <a:buNone/>
              <a:defRPr b="0" i="0" sz="950" u="none" cap="none" strike="noStrike">
                <a:solidFill>
                  <a:srgbClr val="8494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SOR">
  <p:cSld name="DIVISOR">
    <p:bg>
      <p:bgPr>
        <a:solidFill>
          <a:srgbClr val="0F1C2E"/>
        </a:solidFill>
      </p:bgPr>
    </p:bg>
    <p:spTree>
      <p:nvGrpSpPr>
        <p:cNvPr id="18" name="Shape 18"/>
        <p:cNvGrpSpPr/>
        <p:nvPr/>
      </p:nvGrpSpPr>
      <p:grpSpPr>
        <a:xfrm>
          <a:off x="0" y="0"/>
          <a:ext cx="0" cy="0"/>
          <a:chOff x="0" y="0"/>
          <a:chExt cx="0" cy="0"/>
        </a:xfrm>
      </p:grpSpPr>
      <p:sp>
        <p:nvSpPr>
          <p:cNvPr id="19" name="Google Shape;19;p4"/>
          <p:cNvSpPr txBox="1"/>
          <p:nvPr>
            <p:ph type="title"/>
          </p:nvPr>
        </p:nvSpPr>
        <p:spPr>
          <a:xfrm>
            <a:off x="2377440" y="2011680"/>
            <a:ext cx="6583680" cy="73152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FFFFFF"/>
              </a:buClr>
              <a:buSzPts val="3600"/>
              <a:buFont typeface="Cambria"/>
              <a:buNone/>
              <a:defRPr b="1" i="0" sz="3600" u="none" cap="none" strike="noStrike">
                <a:solidFill>
                  <a:srgbClr val="FFFFFF"/>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4"/>
          <p:cNvSpPr txBox="1"/>
          <p:nvPr>
            <p:ph idx="12"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50" u="none" cap="none" strike="noStrike">
                <a:solidFill>
                  <a:srgbClr val="5C7086"/>
                </a:solidFill>
                <a:latin typeface="Calibri"/>
                <a:ea typeface="Calibri"/>
                <a:cs typeface="Calibri"/>
                <a:sym typeface="Calibri"/>
              </a:defRPr>
            </a:lvl1pPr>
            <a:lvl2pPr indent="0" lvl="1" marL="0" marR="0" algn="r">
              <a:spcBef>
                <a:spcPts val="0"/>
              </a:spcBef>
              <a:buNone/>
              <a:defRPr b="0" i="0" sz="950" u="none" cap="none" strike="noStrike">
                <a:solidFill>
                  <a:srgbClr val="5C7086"/>
                </a:solidFill>
                <a:latin typeface="Calibri"/>
                <a:ea typeface="Calibri"/>
                <a:cs typeface="Calibri"/>
                <a:sym typeface="Calibri"/>
              </a:defRPr>
            </a:lvl2pPr>
            <a:lvl3pPr indent="0" lvl="2" marL="0" marR="0" algn="r">
              <a:spcBef>
                <a:spcPts val="0"/>
              </a:spcBef>
              <a:buNone/>
              <a:defRPr b="0" i="0" sz="950" u="none" cap="none" strike="noStrike">
                <a:solidFill>
                  <a:srgbClr val="5C7086"/>
                </a:solidFill>
                <a:latin typeface="Calibri"/>
                <a:ea typeface="Calibri"/>
                <a:cs typeface="Calibri"/>
                <a:sym typeface="Calibri"/>
              </a:defRPr>
            </a:lvl3pPr>
            <a:lvl4pPr indent="0" lvl="3" marL="0" marR="0" algn="r">
              <a:spcBef>
                <a:spcPts val="0"/>
              </a:spcBef>
              <a:buNone/>
              <a:defRPr b="0" i="0" sz="950" u="none" cap="none" strike="noStrike">
                <a:solidFill>
                  <a:srgbClr val="5C7086"/>
                </a:solidFill>
                <a:latin typeface="Calibri"/>
                <a:ea typeface="Calibri"/>
                <a:cs typeface="Calibri"/>
                <a:sym typeface="Calibri"/>
              </a:defRPr>
            </a:lvl4pPr>
            <a:lvl5pPr indent="0" lvl="4" marL="0" marR="0" algn="r">
              <a:spcBef>
                <a:spcPts val="0"/>
              </a:spcBef>
              <a:buNone/>
              <a:defRPr b="0" i="0" sz="950" u="none" cap="none" strike="noStrike">
                <a:solidFill>
                  <a:srgbClr val="5C7086"/>
                </a:solidFill>
                <a:latin typeface="Calibri"/>
                <a:ea typeface="Calibri"/>
                <a:cs typeface="Calibri"/>
                <a:sym typeface="Calibri"/>
              </a:defRPr>
            </a:lvl5pPr>
            <a:lvl6pPr indent="0" lvl="5" marL="0" marR="0" algn="r">
              <a:spcBef>
                <a:spcPts val="0"/>
              </a:spcBef>
              <a:buNone/>
              <a:defRPr b="0" i="0" sz="950" u="none" cap="none" strike="noStrike">
                <a:solidFill>
                  <a:srgbClr val="5C7086"/>
                </a:solidFill>
                <a:latin typeface="Calibri"/>
                <a:ea typeface="Calibri"/>
                <a:cs typeface="Calibri"/>
                <a:sym typeface="Calibri"/>
              </a:defRPr>
            </a:lvl6pPr>
            <a:lvl7pPr indent="0" lvl="6" marL="0" marR="0" algn="r">
              <a:spcBef>
                <a:spcPts val="0"/>
              </a:spcBef>
              <a:buNone/>
              <a:defRPr b="0" i="0" sz="950" u="none" cap="none" strike="noStrike">
                <a:solidFill>
                  <a:srgbClr val="5C7086"/>
                </a:solidFill>
                <a:latin typeface="Calibri"/>
                <a:ea typeface="Calibri"/>
                <a:cs typeface="Calibri"/>
                <a:sym typeface="Calibri"/>
              </a:defRPr>
            </a:lvl7pPr>
            <a:lvl8pPr indent="0" lvl="7" marL="0" marR="0" algn="r">
              <a:spcBef>
                <a:spcPts val="0"/>
              </a:spcBef>
              <a:buNone/>
              <a:defRPr b="0" i="0" sz="950" u="none" cap="none" strike="noStrike">
                <a:solidFill>
                  <a:srgbClr val="5C7086"/>
                </a:solidFill>
                <a:latin typeface="Calibri"/>
                <a:ea typeface="Calibri"/>
                <a:cs typeface="Calibri"/>
                <a:sym typeface="Calibri"/>
              </a:defRPr>
            </a:lvl8pPr>
            <a:lvl9pPr indent="0" lvl="8" marL="0" marR="0" algn="r">
              <a:spcBef>
                <a:spcPts val="0"/>
              </a:spcBef>
              <a:buNone/>
              <a:defRPr b="0" i="0" sz="950" u="none" cap="none" strike="noStrike">
                <a:solidFill>
                  <a:srgbClr val="5C708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UDO_1">
  <p:cSld name="CONTEUDO_1">
    <p:bg>
      <p:bgPr>
        <a:solidFill>
          <a:srgbClr val="FFFFFF"/>
        </a:solidFill>
      </p:bgPr>
    </p:bg>
    <p:spTree>
      <p:nvGrpSpPr>
        <p:cNvPr id="21" name="Shape 21"/>
        <p:cNvGrpSpPr/>
        <p:nvPr/>
      </p:nvGrpSpPr>
      <p:grpSpPr>
        <a:xfrm>
          <a:off x="0" y="0"/>
          <a:ext cx="0" cy="0"/>
          <a:chOff x="0" y="0"/>
          <a:chExt cx="0" cy="0"/>
        </a:xfrm>
      </p:grpSpPr>
      <p:sp>
        <p:nvSpPr>
          <p:cNvPr id="22" name="Google Shape;22;p5"/>
          <p:cNvSpPr/>
          <p:nvPr/>
        </p:nvSpPr>
        <p:spPr>
          <a:xfrm>
            <a:off x="777240" y="402336"/>
            <a:ext cx="10637215"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050"/>
              <a:buFont typeface="Calibri"/>
              <a:buNone/>
            </a:pPr>
            <a:r>
              <a:rPr b="1" i="0" lang="en-US" sz="1050" u="none" cap="none" strike="noStrike">
                <a:solidFill>
                  <a:srgbClr val="A55A18"/>
                </a:solidFill>
                <a:latin typeface="Calibri"/>
                <a:ea typeface="Calibri"/>
                <a:cs typeface="Calibri"/>
                <a:sym typeface="Calibri"/>
              </a:rPr>
              <a:t>1 · PERGUNTA E MOTIVAÇÃO</a:t>
            </a:r>
            <a:endParaRPr b="0" i="0" sz="1050" u="none" cap="none" strike="noStrike">
              <a:solidFill>
                <a:schemeClr val="dk1"/>
              </a:solidFill>
              <a:latin typeface="Calibri"/>
              <a:ea typeface="Calibri"/>
              <a:cs typeface="Calibri"/>
              <a:sym typeface="Calibri"/>
            </a:endParaRPr>
          </a:p>
        </p:txBody>
      </p:sp>
      <p:sp>
        <p:nvSpPr>
          <p:cNvPr id="23" name="Google Shape;23;p5"/>
          <p:cNvSpPr txBox="1"/>
          <p:nvPr>
            <p:ph type="title"/>
          </p:nvPr>
        </p:nvSpPr>
        <p:spPr>
          <a:xfrm>
            <a:off x="777240" y="676656"/>
            <a:ext cx="10637215" cy="566928"/>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0F1C2E"/>
              </a:buClr>
              <a:buSzPts val="3100"/>
              <a:buFont typeface="Cambria"/>
              <a:buNone/>
              <a:defRPr b="1" i="0" sz="3100" u="none" cap="none" strike="noStrike">
                <a:solidFill>
                  <a:srgbClr val="0F1C2E"/>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 name="Google Shape;24;p5"/>
          <p:cNvSpPr/>
          <p:nvPr/>
        </p:nvSpPr>
        <p:spPr>
          <a:xfrm>
            <a:off x="777240" y="6327648"/>
            <a:ext cx="7315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0" lang="en-US" sz="950" u="none" cap="none" strike="noStrike">
                <a:solidFill>
                  <a:srgbClr val="8494A6"/>
                </a:solidFill>
                <a:latin typeface="Calibri"/>
                <a:ea typeface="Calibri"/>
                <a:cs typeface="Calibri"/>
                <a:sym typeface="Calibri"/>
              </a:rPr>
              <a:t>PEFT, LoRA e QLoRA  ·  Semana 7</a:t>
            </a:r>
            <a:endParaRPr b="0" i="0" sz="950" u="none" cap="none" strike="noStrike">
              <a:solidFill>
                <a:schemeClr val="dk1"/>
              </a:solidFill>
              <a:latin typeface="Calibri"/>
              <a:ea typeface="Calibri"/>
              <a:cs typeface="Calibri"/>
              <a:sym typeface="Calibri"/>
            </a:endParaRPr>
          </a:p>
        </p:txBody>
      </p:sp>
      <p:sp>
        <p:nvSpPr>
          <p:cNvPr id="25" name="Google Shape;25;p5"/>
          <p:cNvSpPr txBox="1"/>
          <p:nvPr>
            <p:ph idx="12"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50" u="none" cap="none" strike="noStrike">
                <a:solidFill>
                  <a:srgbClr val="8494A6"/>
                </a:solidFill>
                <a:latin typeface="Calibri"/>
                <a:ea typeface="Calibri"/>
                <a:cs typeface="Calibri"/>
                <a:sym typeface="Calibri"/>
              </a:defRPr>
            </a:lvl1pPr>
            <a:lvl2pPr indent="0" lvl="1" marL="0" marR="0" algn="r">
              <a:spcBef>
                <a:spcPts val="0"/>
              </a:spcBef>
              <a:buNone/>
              <a:defRPr b="0" i="0" sz="950" u="none" cap="none" strike="noStrike">
                <a:solidFill>
                  <a:srgbClr val="8494A6"/>
                </a:solidFill>
                <a:latin typeface="Calibri"/>
                <a:ea typeface="Calibri"/>
                <a:cs typeface="Calibri"/>
                <a:sym typeface="Calibri"/>
              </a:defRPr>
            </a:lvl2pPr>
            <a:lvl3pPr indent="0" lvl="2" marL="0" marR="0" algn="r">
              <a:spcBef>
                <a:spcPts val="0"/>
              </a:spcBef>
              <a:buNone/>
              <a:defRPr b="0" i="0" sz="950" u="none" cap="none" strike="noStrike">
                <a:solidFill>
                  <a:srgbClr val="8494A6"/>
                </a:solidFill>
                <a:latin typeface="Calibri"/>
                <a:ea typeface="Calibri"/>
                <a:cs typeface="Calibri"/>
                <a:sym typeface="Calibri"/>
              </a:defRPr>
            </a:lvl3pPr>
            <a:lvl4pPr indent="0" lvl="3" marL="0" marR="0" algn="r">
              <a:spcBef>
                <a:spcPts val="0"/>
              </a:spcBef>
              <a:buNone/>
              <a:defRPr b="0" i="0" sz="950" u="none" cap="none" strike="noStrike">
                <a:solidFill>
                  <a:srgbClr val="8494A6"/>
                </a:solidFill>
                <a:latin typeface="Calibri"/>
                <a:ea typeface="Calibri"/>
                <a:cs typeface="Calibri"/>
                <a:sym typeface="Calibri"/>
              </a:defRPr>
            </a:lvl4pPr>
            <a:lvl5pPr indent="0" lvl="4" marL="0" marR="0" algn="r">
              <a:spcBef>
                <a:spcPts val="0"/>
              </a:spcBef>
              <a:buNone/>
              <a:defRPr b="0" i="0" sz="950" u="none" cap="none" strike="noStrike">
                <a:solidFill>
                  <a:srgbClr val="8494A6"/>
                </a:solidFill>
                <a:latin typeface="Calibri"/>
                <a:ea typeface="Calibri"/>
                <a:cs typeface="Calibri"/>
                <a:sym typeface="Calibri"/>
              </a:defRPr>
            </a:lvl5pPr>
            <a:lvl6pPr indent="0" lvl="5" marL="0" marR="0" algn="r">
              <a:spcBef>
                <a:spcPts val="0"/>
              </a:spcBef>
              <a:buNone/>
              <a:defRPr b="0" i="0" sz="950" u="none" cap="none" strike="noStrike">
                <a:solidFill>
                  <a:srgbClr val="8494A6"/>
                </a:solidFill>
                <a:latin typeface="Calibri"/>
                <a:ea typeface="Calibri"/>
                <a:cs typeface="Calibri"/>
                <a:sym typeface="Calibri"/>
              </a:defRPr>
            </a:lvl6pPr>
            <a:lvl7pPr indent="0" lvl="6" marL="0" marR="0" algn="r">
              <a:spcBef>
                <a:spcPts val="0"/>
              </a:spcBef>
              <a:buNone/>
              <a:defRPr b="0" i="0" sz="950" u="none" cap="none" strike="noStrike">
                <a:solidFill>
                  <a:srgbClr val="8494A6"/>
                </a:solidFill>
                <a:latin typeface="Calibri"/>
                <a:ea typeface="Calibri"/>
                <a:cs typeface="Calibri"/>
                <a:sym typeface="Calibri"/>
              </a:defRPr>
            </a:lvl7pPr>
            <a:lvl8pPr indent="0" lvl="7" marL="0" marR="0" algn="r">
              <a:spcBef>
                <a:spcPts val="0"/>
              </a:spcBef>
              <a:buNone/>
              <a:defRPr b="0" i="0" sz="950" u="none" cap="none" strike="noStrike">
                <a:solidFill>
                  <a:srgbClr val="8494A6"/>
                </a:solidFill>
                <a:latin typeface="Calibri"/>
                <a:ea typeface="Calibri"/>
                <a:cs typeface="Calibri"/>
                <a:sym typeface="Calibri"/>
              </a:defRPr>
            </a:lvl8pPr>
            <a:lvl9pPr indent="0" lvl="8" marL="0" marR="0" algn="r">
              <a:spcBef>
                <a:spcPts val="0"/>
              </a:spcBef>
              <a:buNone/>
              <a:defRPr b="0" i="0" sz="950" u="none" cap="none" strike="noStrike">
                <a:solidFill>
                  <a:srgbClr val="8494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UDO_2">
  <p:cSld name="CONTEUDO_2">
    <p:bg>
      <p:bgPr>
        <a:solidFill>
          <a:srgbClr val="FFFFFF"/>
        </a:solidFill>
      </p:bgPr>
    </p:bg>
    <p:spTree>
      <p:nvGrpSpPr>
        <p:cNvPr id="26" name="Shape 26"/>
        <p:cNvGrpSpPr/>
        <p:nvPr/>
      </p:nvGrpSpPr>
      <p:grpSpPr>
        <a:xfrm>
          <a:off x="0" y="0"/>
          <a:ext cx="0" cy="0"/>
          <a:chOff x="0" y="0"/>
          <a:chExt cx="0" cy="0"/>
        </a:xfrm>
      </p:grpSpPr>
      <p:sp>
        <p:nvSpPr>
          <p:cNvPr id="27" name="Google Shape;27;p6"/>
          <p:cNvSpPr/>
          <p:nvPr/>
        </p:nvSpPr>
        <p:spPr>
          <a:xfrm>
            <a:off x="777240" y="402336"/>
            <a:ext cx="10637215"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050"/>
              <a:buFont typeface="Calibri"/>
              <a:buNone/>
            </a:pPr>
            <a:r>
              <a:rPr b="1" i="0" lang="en-US" sz="1050" u="none" cap="none" strike="noStrike">
                <a:solidFill>
                  <a:srgbClr val="A55A18"/>
                </a:solidFill>
                <a:latin typeface="Calibri"/>
                <a:ea typeface="Calibri"/>
                <a:cs typeface="Calibri"/>
                <a:sym typeface="Calibri"/>
              </a:rPr>
              <a:t>2 · INTUIÇÃO E MAPA CONCEITUAL</a:t>
            </a:r>
            <a:endParaRPr b="0" i="0" sz="1050" u="none" cap="none" strike="noStrike">
              <a:solidFill>
                <a:schemeClr val="dk1"/>
              </a:solidFill>
              <a:latin typeface="Calibri"/>
              <a:ea typeface="Calibri"/>
              <a:cs typeface="Calibri"/>
              <a:sym typeface="Calibri"/>
            </a:endParaRPr>
          </a:p>
        </p:txBody>
      </p:sp>
      <p:sp>
        <p:nvSpPr>
          <p:cNvPr id="28" name="Google Shape;28;p6"/>
          <p:cNvSpPr txBox="1"/>
          <p:nvPr>
            <p:ph type="title"/>
          </p:nvPr>
        </p:nvSpPr>
        <p:spPr>
          <a:xfrm>
            <a:off x="777240" y="676656"/>
            <a:ext cx="10637215" cy="566928"/>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0F1C2E"/>
              </a:buClr>
              <a:buSzPts val="3100"/>
              <a:buFont typeface="Cambria"/>
              <a:buNone/>
              <a:defRPr b="1" i="0" sz="3100" u="none" cap="none" strike="noStrike">
                <a:solidFill>
                  <a:srgbClr val="0F1C2E"/>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6"/>
          <p:cNvSpPr/>
          <p:nvPr/>
        </p:nvSpPr>
        <p:spPr>
          <a:xfrm>
            <a:off x="777240" y="6327648"/>
            <a:ext cx="7315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0" lang="en-US" sz="950" u="none" cap="none" strike="noStrike">
                <a:solidFill>
                  <a:srgbClr val="8494A6"/>
                </a:solidFill>
                <a:latin typeface="Calibri"/>
                <a:ea typeface="Calibri"/>
                <a:cs typeface="Calibri"/>
                <a:sym typeface="Calibri"/>
              </a:rPr>
              <a:t>PEFT, LoRA e QLoRA  ·  Semana 7</a:t>
            </a:r>
            <a:endParaRPr b="0" i="0" sz="950" u="none" cap="none" strike="noStrike">
              <a:solidFill>
                <a:schemeClr val="dk1"/>
              </a:solidFill>
              <a:latin typeface="Calibri"/>
              <a:ea typeface="Calibri"/>
              <a:cs typeface="Calibri"/>
              <a:sym typeface="Calibri"/>
            </a:endParaRPr>
          </a:p>
        </p:txBody>
      </p:sp>
      <p:sp>
        <p:nvSpPr>
          <p:cNvPr id="30" name="Google Shape;30;p6"/>
          <p:cNvSpPr txBox="1"/>
          <p:nvPr>
            <p:ph idx="12"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50" u="none" cap="none" strike="noStrike">
                <a:solidFill>
                  <a:srgbClr val="8494A6"/>
                </a:solidFill>
                <a:latin typeface="Calibri"/>
                <a:ea typeface="Calibri"/>
                <a:cs typeface="Calibri"/>
                <a:sym typeface="Calibri"/>
              </a:defRPr>
            </a:lvl1pPr>
            <a:lvl2pPr indent="0" lvl="1" marL="0" marR="0" algn="r">
              <a:spcBef>
                <a:spcPts val="0"/>
              </a:spcBef>
              <a:buNone/>
              <a:defRPr b="0" i="0" sz="950" u="none" cap="none" strike="noStrike">
                <a:solidFill>
                  <a:srgbClr val="8494A6"/>
                </a:solidFill>
                <a:latin typeface="Calibri"/>
                <a:ea typeface="Calibri"/>
                <a:cs typeface="Calibri"/>
                <a:sym typeface="Calibri"/>
              </a:defRPr>
            </a:lvl2pPr>
            <a:lvl3pPr indent="0" lvl="2" marL="0" marR="0" algn="r">
              <a:spcBef>
                <a:spcPts val="0"/>
              </a:spcBef>
              <a:buNone/>
              <a:defRPr b="0" i="0" sz="950" u="none" cap="none" strike="noStrike">
                <a:solidFill>
                  <a:srgbClr val="8494A6"/>
                </a:solidFill>
                <a:latin typeface="Calibri"/>
                <a:ea typeface="Calibri"/>
                <a:cs typeface="Calibri"/>
                <a:sym typeface="Calibri"/>
              </a:defRPr>
            </a:lvl3pPr>
            <a:lvl4pPr indent="0" lvl="3" marL="0" marR="0" algn="r">
              <a:spcBef>
                <a:spcPts val="0"/>
              </a:spcBef>
              <a:buNone/>
              <a:defRPr b="0" i="0" sz="950" u="none" cap="none" strike="noStrike">
                <a:solidFill>
                  <a:srgbClr val="8494A6"/>
                </a:solidFill>
                <a:latin typeface="Calibri"/>
                <a:ea typeface="Calibri"/>
                <a:cs typeface="Calibri"/>
                <a:sym typeface="Calibri"/>
              </a:defRPr>
            </a:lvl4pPr>
            <a:lvl5pPr indent="0" lvl="4" marL="0" marR="0" algn="r">
              <a:spcBef>
                <a:spcPts val="0"/>
              </a:spcBef>
              <a:buNone/>
              <a:defRPr b="0" i="0" sz="950" u="none" cap="none" strike="noStrike">
                <a:solidFill>
                  <a:srgbClr val="8494A6"/>
                </a:solidFill>
                <a:latin typeface="Calibri"/>
                <a:ea typeface="Calibri"/>
                <a:cs typeface="Calibri"/>
                <a:sym typeface="Calibri"/>
              </a:defRPr>
            </a:lvl5pPr>
            <a:lvl6pPr indent="0" lvl="5" marL="0" marR="0" algn="r">
              <a:spcBef>
                <a:spcPts val="0"/>
              </a:spcBef>
              <a:buNone/>
              <a:defRPr b="0" i="0" sz="950" u="none" cap="none" strike="noStrike">
                <a:solidFill>
                  <a:srgbClr val="8494A6"/>
                </a:solidFill>
                <a:latin typeface="Calibri"/>
                <a:ea typeface="Calibri"/>
                <a:cs typeface="Calibri"/>
                <a:sym typeface="Calibri"/>
              </a:defRPr>
            </a:lvl6pPr>
            <a:lvl7pPr indent="0" lvl="6" marL="0" marR="0" algn="r">
              <a:spcBef>
                <a:spcPts val="0"/>
              </a:spcBef>
              <a:buNone/>
              <a:defRPr b="0" i="0" sz="950" u="none" cap="none" strike="noStrike">
                <a:solidFill>
                  <a:srgbClr val="8494A6"/>
                </a:solidFill>
                <a:latin typeface="Calibri"/>
                <a:ea typeface="Calibri"/>
                <a:cs typeface="Calibri"/>
                <a:sym typeface="Calibri"/>
              </a:defRPr>
            </a:lvl7pPr>
            <a:lvl8pPr indent="0" lvl="7" marL="0" marR="0" algn="r">
              <a:spcBef>
                <a:spcPts val="0"/>
              </a:spcBef>
              <a:buNone/>
              <a:defRPr b="0" i="0" sz="950" u="none" cap="none" strike="noStrike">
                <a:solidFill>
                  <a:srgbClr val="8494A6"/>
                </a:solidFill>
                <a:latin typeface="Calibri"/>
                <a:ea typeface="Calibri"/>
                <a:cs typeface="Calibri"/>
                <a:sym typeface="Calibri"/>
              </a:defRPr>
            </a:lvl8pPr>
            <a:lvl9pPr indent="0" lvl="8" marL="0" marR="0" algn="r">
              <a:spcBef>
                <a:spcPts val="0"/>
              </a:spcBef>
              <a:buNone/>
              <a:defRPr b="0" i="0" sz="950" u="none" cap="none" strike="noStrike">
                <a:solidFill>
                  <a:srgbClr val="8494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UDO_3">
  <p:cSld name="CONTEUDO_3">
    <p:bg>
      <p:bgPr>
        <a:solidFill>
          <a:srgbClr val="FFFFFF"/>
        </a:solidFill>
      </p:bgPr>
    </p:bg>
    <p:spTree>
      <p:nvGrpSpPr>
        <p:cNvPr id="31" name="Shape 31"/>
        <p:cNvGrpSpPr/>
        <p:nvPr/>
      </p:nvGrpSpPr>
      <p:grpSpPr>
        <a:xfrm>
          <a:off x="0" y="0"/>
          <a:ext cx="0" cy="0"/>
          <a:chOff x="0" y="0"/>
          <a:chExt cx="0" cy="0"/>
        </a:xfrm>
      </p:grpSpPr>
      <p:sp>
        <p:nvSpPr>
          <p:cNvPr id="32" name="Google Shape;32;p7"/>
          <p:cNvSpPr/>
          <p:nvPr/>
        </p:nvSpPr>
        <p:spPr>
          <a:xfrm>
            <a:off x="777240" y="402336"/>
            <a:ext cx="10637215"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050"/>
              <a:buFont typeface="Calibri"/>
              <a:buNone/>
            </a:pPr>
            <a:r>
              <a:rPr b="1" i="0" lang="en-US" sz="1050" u="none" cap="none" strike="noStrike">
                <a:solidFill>
                  <a:srgbClr val="A55A18"/>
                </a:solidFill>
                <a:latin typeface="Calibri"/>
                <a:ea typeface="Calibri"/>
                <a:cs typeface="Calibri"/>
                <a:sym typeface="Calibri"/>
              </a:rPr>
              <a:t>3 · EXPLICAÇÃO TÉCNICA</a:t>
            </a:r>
            <a:endParaRPr b="0" i="0" sz="1050" u="none" cap="none" strike="noStrike">
              <a:solidFill>
                <a:schemeClr val="dk1"/>
              </a:solidFill>
              <a:latin typeface="Calibri"/>
              <a:ea typeface="Calibri"/>
              <a:cs typeface="Calibri"/>
              <a:sym typeface="Calibri"/>
            </a:endParaRPr>
          </a:p>
        </p:txBody>
      </p:sp>
      <p:sp>
        <p:nvSpPr>
          <p:cNvPr id="33" name="Google Shape;33;p7"/>
          <p:cNvSpPr txBox="1"/>
          <p:nvPr>
            <p:ph type="title"/>
          </p:nvPr>
        </p:nvSpPr>
        <p:spPr>
          <a:xfrm>
            <a:off x="777240" y="676656"/>
            <a:ext cx="10637215" cy="566928"/>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0F1C2E"/>
              </a:buClr>
              <a:buSzPts val="3100"/>
              <a:buFont typeface="Cambria"/>
              <a:buNone/>
              <a:defRPr b="1" i="0" sz="3100" u="none" cap="none" strike="noStrike">
                <a:solidFill>
                  <a:srgbClr val="0F1C2E"/>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7"/>
          <p:cNvSpPr/>
          <p:nvPr/>
        </p:nvSpPr>
        <p:spPr>
          <a:xfrm>
            <a:off x="777240" y="6327648"/>
            <a:ext cx="7315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0" lang="en-US" sz="950" u="none" cap="none" strike="noStrike">
                <a:solidFill>
                  <a:srgbClr val="8494A6"/>
                </a:solidFill>
                <a:latin typeface="Calibri"/>
                <a:ea typeface="Calibri"/>
                <a:cs typeface="Calibri"/>
                <a:sym typeface="Calibri"/>
              </a:rPr>
              <a:t>PEFT, LoRA e QLoRA  ·  Semana 7</a:t>
            </a:r>
            <a:endParaRPr b="0" i="0" sz="950" u="none" cap="none" strike="noStrike">
              <a:solidFill>
                <a:schemeClr val="dk1"/>
              </a:solidFill>
              <a:latin typeface="Calibri"/>
              <a:ea typeface="Calibri"/>
              <a:cs typeface="Calibri"/>
              <a:sym typeface="Calibri"/>
            </a:endParaRPr>
          </a:p>
        </p:txBody>
      </p:sp>
      <p:sp>
        <p:nvSpPr>
          <p:cNvPr id="35" name="Google Shape;35;p7"/>
          <p:cNvSpPr txBox="1"/>
          <p:nvPr>
            <p:ph idx="12"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50" u="none" cap="none" strike="noStrike">
                <a:solidFill>
                  <a:srgbClr val="8494A6"/>
                </a:solidFill>
                <a:latin typeface="Calibri"/>
                <a:ea typeface="Calibri"/>
                <a:cs typeface="Calibri"/>
                <a:sym typeface="Calibri"/>
              </a:defRPr>
            </a:lvl1pPr>
            <a:lvl2pPr indent="0" lvl="1" marL="0" marR="0" algn="r">
              <a:spcBef>
                <a:spcPts val="0"/>
              </a:spcBef>
              <a:buNone/>
              <a:defRPr b="0" i="0" sz="950" u="none" cap="none" strike="noStrike">
                <a:solidFill>
                  <a:srgbClr val="8494A6"/>
                </a:solidFill>
                <a:latin typeface="Calibri"/>
                <a:ea typeface="Calibri"/>
                <a:cs typeface="Calibri"/>
                <a:sym typeface="Calibri"/>
              </a:defRPr>
            </a:lvl2pPr>
            <a:lvl3pPr indent="0" lvl="2" marL="0" marR="0" algn="r">
              <a:spcBef>
                <a:spcPts val="0"/>
              </a:spcBef>
              <a:buNone/>
              <a:defRPr b="0" i="0" sz="950" u="none" cap="none" strike="noStrike">
                <a:solidFill>
                  <a:srgbClr val="8494A6"/>
                </a:solidFill>
                <a:latin typeface="Calibri"/>
                <a:ea typeface="Calibri"/>
                <a:cs typeface="Calibri"/>
                <a:sym typeface="Calibri"/>
              </a:defRPr>
            </a:lvl3pPr>
            <a:lvl4pPr indent="0" lvl="3" marL="0" marR="0" algn="r">
              <a:spcBef>
                <a:spcPts val="0"/>
              </a:spcBef>
              <a:buNone/>
              <a:defRPr b="0" i="0" sz="950" u="none" cap="none" strike="noStrike">
                <a:solidFill>
                  <a:srgbClr val="8494A6"/>
                </a:solidFill>
                <a:latin typeface="Calibri"/>
                <a:ea typeface="Calibri"/>
                <a:cs typeface="Calibri"/>
                <a:sym typeface="Calibri"/>
              </a:defRPr>
            </a:lvl4pPr>
            <a:lvl5pPr indent="0" lvl="4" marL="0" marR="0" algn="r">
              <a:spcBef>
                <a:spcPts val="0"/>
              </a:spcBef>
              <a:buNone/>
              <a:defRPr b="0" i="0" sz="950" u="none" cap="none" strike="noStrike">
                <a:solidFill>
                  <a:srgbClr val="8494A6"/>
                </a:solidFill>
                <a:latin typeface="Calibri"/>
                <a:ea typeface="Calibri"/>
                <a:cs typeface="Calibri"/>
                <a:sym typeface="Calibri"/>
              </a:defRPr>
            </a:lvl5pPr>
            <a:lvl6pPr indent="0" lvl="5" marL="0" marR="0" algn="r">
              <a:spcBef>
                <a:spcPts val="0"/>
              </a:spcBef>
              <a:buNone/>
              <a:defRPr b="0" i="0" sz="950" u="none" cap="none" strike="noStrike">
                <a:solidFill>
                  <a:srgbClr val="8494A6"/>
                </a:solidFill>
                <a:latin typeface="Calibri"/>
                <a:ea typeface="Calibri"/>
                <a:cs typeface="Calibri"/>
                <a:sym typeface="Calibri"/>
              </a:defRPr>
            </a:lvl6pPr>
            <a:lvl7pPr indent="0" lvl="6" marL="0" marR="0" algn="r">
              <a:spcBef>
                <a:spcPts val="0"/>
              </a:spcBef>
              <a:buNone/>
              <a:defRPr b="0" i="0" sz="950" u="none" cap="none" strike="noStrike">
                <a:solidFill>
                  <a:srgbClr val="8494A6"/>
                </a:solidFill>
                <a:latin typeface="Calibri"/>
                <a:ea typeface="Calibri"/>
                <a:cs typeface="Calibri"/>
                <a:sym typeface="Calibri"/>
              </a:defRPr>
            </a:lvl7pPr>
            <a:lvl8pPr indent="0" lvl="7" marL="0" marR="0" algn="r">
              <a:spcBef>
                <a:spcPts val="0"/>
              </a:spcBef>
              <a:buNone/>
              <a:defRPr b="0" i="0" sz="950" u="none" cap="none" strike="noStrike">
                <a:solidFill>
                  <a:srgbClr val="8494A6"/>
                </a:solidFill>
                <a:latin typeface="Calibri"/>
                <a:ea typeface="Calibri"/>
                <a:cs typeface="Calibri"/>
                <a:sym typeface="Calibri"/>
              </a:defRPr>
            </a:lvl8pPr>
            <a:lvl9pPr indent="0" lvl="8" marL="0" marR="0" algn="r">
              <a:spcBef>
                <a:spcPts val="0"/>
              </a:spcBef>
              <a:buNone/>
              <a:defRPr b="0" i="0" sz="950" u="none" cap="none" strike="noStrike">
                <a:solidFill>
                  <a:srgbClr val="8494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UDO_4">
  <p:cSld name="CONTEUDO_4">
    <p:bg>
      <p:bgPr>
        <a:solidFill>
          <a:srgbClr val="FFFFFF"/>
        </a:solidFill>
      </p:bgPr>
    </p:bg>
    <p:spTree>
      <p:nvGrpSpPr>
        <p:cNvPr id="36" name="Shape 36"/>
        <p:cNvGrpSpPr/>
        <p:nvPr/>
      </p:nvGrpSpPr>
      <p:grpSpPr>
        <a:xfrm>
          <a:off x="0" y="0"/>
          <a:ext cx="0" cy="0"/>
          <a:chOff x="0" y="0"/>
          <a:chExt cx="0" cy="0"/>
        </a:xfrm>
      </p:grpSpPr>
      <p:sp>
        <p:nvSpPr>
          <p:cNvPr id="37" name="Google Shape;37;p8"/>
          <p:cNvSpPr/>
          <p:nvPr/>
        </p:nvSpPr>
        <p:spPr>
          <a:xfrm>
            <a:off x="777240" y="402336"/>
            <a:ext cx="10637215"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050"/>
              <a:buFont typeface="Calibri"/>
              <a:buNone/>
            </a:pPr>
            <a:r>
              <a:rPr b="1" i="0" lang="en-US" sz="1050" u="none" cap="none" strike="noStrike">
                <a:solidFill>
                  <a:srgbClr val="A55A18"/>
                </a:solidFill>
                <a:latin typeface="Calibri"/>
                <a:ea typeface="Calibri"/>
                <a:cs typeface="Calibri"/>
                <a:sym typeface="Calibri"/>
              </a:rPr>
              <a:t>4 · VISUALIZAÇÃO E ARTEFATO</a:t>
            </a:r>
            <a:endParaRPr b="0" i="0" sz="1050" u="none" cap="none" strike="noStrike">
              <a:solidFill>
                <a:schemeClr val="dk1"/>
              </a:solidFill>
              <a:latin typeface="Calibri"/>
              <a:ea typeface="Calibri"/>
              <a:cs typeface="Calibri"/>
              <a:sym typeface="Calibri"/>
            </a:endParaRPr>
          </a:p>
        </p:txBody>
      </p:sp>
      <p:sp>
        <p:nvSpPr>
          <p:cNvPr id="38" name="Google Shape;38;p8"/>
          <p:cNvSpPr txBox="1"/>
          <p:nvPr>
            <p:ph type="title"/>
          </p:nvPr>
        </p:nvSpPr>
        <p:spPr>
          <a:xfrm>
            <a:off x="777240" y="676656"/>
            <a:ext cx="10637215" cy="566928"/>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0F1C2E"/>
              </a:buClr>
              <a:buSzPts val="3100"/>
              <a:buFont typeface="Cambria"/>
              <a:buNone/>
              <a:defRPr b="1" i="0" sz="3100" u="none" cap="none" strike="noStrike">
                <a:solidFill>
                  <a:srgbClr val="0F1C2E"/>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8"/>
          <p:cNvSpPr/>
          <p:nvPr/>
        </p:nvSpPr>
        <p:spPr>
          <a:xfrm>
            <a:off x="777240" y="6327648"/>
            <a:ext cx="7315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0" lang="en-US" sz="950" u="none" cap="none" strike="noStrike">
                <a:solidFill>
                  <a:srgbClr val="8494A6"/>
                </a:solidFill>
                <a:latin typeface="Calibri"/>
                <a:ea typeface="Calibri"/>
                <a:cs typeface="Calibri"/>
                <a:sym typeface="Calibri"/>
              </a:rPr>
              <a:t>PEFT, LoRA e QLoRA  ·  Semana 7</a:t>
            </a:r>
            <a:endParaRPr b="0" i="0" sz="950" u="none" cap="none" strike="noStrike">
              <a:solidFill>
                <a:schemeClr val="dk1"/>
              </a:solidFill>
              <a:latin typeface="Calibri"/>
              <a:ea typeface="Calibri"/>
              <a:cs typeface="Calibri"/>
              <a:sym typeface="Calibri"/>
            </a:endParaRPr>
          </a:p>
        </p:txBody>
      </p:sp>
      <p:sp>
        <p:nvSpPr>
          <p:cNvPr id="40" name="Google Shape;40;p8"/>
          <p:cNvSpPr txBox="1"/>
          <p:nvPr>
            <p:ph idx="12"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50" u="none" cap="none" strike="noStrike">
                <a:solidFill>
                  <a:srgbClr val="8494A6"/>
                </a:solidFill>
                <a:latin typeface="Calibri"/>
                <a:ea typeface="Calibri"/>
                <a:cs typeface="Calibri"/>
                <a:sym typeface="Calibri"/>
              </a:defRPr>
            </a:lvl1pPr>
            <a:lvl2pPr indent="0" lvl="1" marL="0" marR="0" algn="r">
              <a:spcBef>
                <a:spcPts val="0"/>
              </a:spcBef>
              <a:buNone/>
              <a:defRPr b="0" i="0" sz="950" u="none" cap="none" strike="noStrike">
                <a:solidFill>
                  <a:srgbClr val="8494A6"/>
                </a:solidFill>
                <a:latin typeface="Calibri"/>
                <a:ea typeface="Calibri"/>
                <a:cs typeface="Calibri"/>
                <a:sym typeface="Calibri"/>
              </a:defRPr>
            </a:lvl2pPr>
            <a:lvl3pPr indent="0" lvl="2" marL="0" marR="0" algn="r">
              <a:spcBef>
                <a:spcPts val="0"/>
              </a:spcBef>
              <a:buNone/>
              <a:defRPr b="0" i="0" sz="950" u="none" cap="none" strike="noStrike">
                <a:solidFill>
                  <a:srgbClr val="8494A6"/>
                </a:solidFill>
                <a:latin typeface="Calibri"/>
                <a:ea typeface="Calibri"/>
                <a:cs typeface="Calibri"/>
                <a:sym typeface="Calibri"/>
              </a:defRPr>
            </a:lvl3pPr>
            <a:lvl4pPr indent="0" lvl="3" marL="0" marR="0" algn="r">
              <a:spcBef>
                <a:spcPts val="0"/>
              </a:spcBef>
              <a:buNone/>
              <a:defRPr b="0" i="0" sz="950" u="none" cap="none" strike="noStrike">
                <a:solidFill>
                  <a:srgbClr val="8494A6"/>
                </a:solidFill>
                <a:latin typeface="Calibri"/>
                <a:ea typeface="Calibri"/>
                <a:cs typeface="Calibri"/>
                <a:sym typeface="Calibri"/>
              </a:defRPr>
            </a:lvl4pPr>
            <a:lvl5pPr indent="0" lvl="4" marL="0" marR="0" algn="r">
              <a:spcBef>
                <a:spcPts val="0"/>
              </a:spcBef>
              <a:buNone/>
              <a:defRPr b="0" i="0" sz="950" u="none" cap="none" strike="noStrike">
                <a:solidFill>
                  <a:srgbClr val="8494A6"/>
                </a:solidFill>
                <a:latin typeface="Calibri"/>
                <a:ea typeface="Calibri"/>
                <a:cs typeface="Calibri"/>
                <a:sym typeface="Calibri"/>
              </a:defRPr>
            </a:lvl5pPr>
            <a:lvl6pPr indent="0" lvl="5" marL="0" marR="0" algn="r">
              <a:spcBef>
                <a:spcPts val="0"/>
              </a:spcBef>
              <a:buNone/>
              <a:defRPr b="0" i="0" sz="950" u="none" cap="none" strike="noStrike">
                <a:solidFill>
                  <a:srgbClr val="8494A6"/>
                </a:solidFill>
                <a:latin typeface="Calibri"/>
                <a:ea typeface="Calibri"/>
                <a:cs typeface="Calibri"/>
                <a:sym typeface="Calibri"/>
              </a:defRPr>
            </a:lvl6pPr>
            <a:lvl7pPr indent="0" lvl="6" marL="0" marR="0" algn="r">
              <a:spcBef>
                <a:spcPts val="0"/>
              </a:spcBef>
              <a:buNone/>
              <a:defRPr b="0" i="0" sz="950" u="none" cap="none" strike="noStrike">
                <a:solidFill>
                  <a:srgbClr val="8494A6"/>
                </a:solidFill>
                <a:latin typeface="Calibri"/>
                <a:ea typeface="Calibri"/>
                <a:cs typeface="Calibri"/>
                <a:sym typeface="Calibri"/>
              </a:defRPr>
            </a:lvl7pPr>
            <a:lvl8pPr indent="0" lvl="7" marL="0" marR="0" algn="r">
              <a:spcBef>
                <a:spcPts val="0"/>
              </a:spcBef>
              <a:buNone/>
              <a:defRPr b="0" i="0" sz="950" u="none" cap="none" strike="noStrike">
                <a:solidFill>
                  <a:srgbClr val="8494A6"/>
                </a:solidFill>
                <a:latin typeface="Calibri"/>
                <a:ea typeface="Calibri"/>
                <a:cs typeface="Calibri"/>
                <a:sym typeface="Calibri"/>
              </a:defRPr>
            </a:lvl8pPr>
            <a:lvl9pPr indent="0" lvl="8" marL="0" marR="0" algn="r">
              <a:spcBef>
                <a:spcPts val="0"/>
              </a:spcBef>
              <a:buNone/>
              <a:defRPr b="0" i="0" sz="950" u="none" cap="none" strike="noStrike">
                <a:solidFill>
                  <a:srgbClr val="8494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UDO_5">
  <p:cSld name="CONTEUDO_5">
    <p:bg>
      <p:bgPr>
        <a:solidFill>
          <a:srgbClr val="FFFFFF"/>
        </a:solidFill>
      </p:bgPr>
    </p:bg>
    <p:spTree>
      <p:nvGrpSpPr>
        <p:cNvPr id="41" name="Shape 41"/>
        <p:cNvGrpSpPr/>
        <p:nvPr/>
      </p:nvGrpSpPr>
      <p:grpSpPr>
        <a:xfrm>
          <a:off x="0" y="0"/>
          <a:ext cx="0" cy="0"/>
          <a:chOff x="0" y="0"/>
          <a:chExt cx="0" cy="0"/>
        </a:xfrm>
      </p:grpSpPr>
      <p:sp>
        <p:nvSpPr>
          <p:cNvPr id="42" name="Google Shape;42;p9"/>
          <p:cNvSpPr/>
          <p:nvPr/>
        </p:nvSpPr>
        <p:spPr>
          <a:xfrm>
            <a:off x="777240" y="402336"/>
            <a:ext cx="10637215"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050"/>
              <a:buFont typeface="Calibri"/>
              <a:buNone/>
            </a:pPr>
            <a:r>
              <a:rPr b="1" i="0" lang="en-US" sz="1050" u="none" cap="none" strike="noStrike">
                <a:solidFill>
                  <a:srgbClr val="A55A18"/>
                </a:solidFill>
                <a:latin typeface="Calibri"/>
                <a:ea typeface="Calibri"/>
                <a:cs typeface="Calibri"/>
                <a:sym typeface="Calibri"/>
              </a:rPr>
              <a:t>5 · LITERATURA E PROJETO</a:t>
            </a:r>
            <a:endParaRPr b="0" i="0" sz="1050" u="none" cap="none" strike="noStrike">
              <a:solidFill>
                <a:schemeClr val="dk1"/>
              </a:solidFill>
              <a:latin typeface="Calibri"/>
              <a:ea typeface="Calibri"/>
              <a:cs typeface="Calibri"/>
              <a:sym typeface="Calibri"/>
            </a:endParaRPr>
          </a:p>
        </p:txBody>
      </p:sp>
      <p:sp>
        <p:nvSpPr>
          <p:cNvPr id="43" name="Google Shape;43;p9"/>
          <p:cNvSpPr txBox="1"/>
          <p:nvPr>
            <p:ph type="title"/>
          </p:nvPr>
        </p:nvSpPr>
        <p:spPr>
          <a:xfrm>
            <a:off x="777240" y="676656"/>
            <a:ext cx="10637215" cy="566928"/>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0F1C2E"/>
              </a:buClr>
              <a:buSzPts val="3100"/>
              <a:buFont typeface="Cambria"/>
              <a:buNone/>
              <a:defRPr b="1" i="0" sz="3100" u="none" cap="none" strike="noStrike">
                <a:solidFill>
                  <a:srgbClr val="0F1C2E"/>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9"/>
          <p:cNvSpPr/>
          <p:nvPr/>
        </p:nvSpPr>
        <p:spPr>
          <a:xfrm>
            <a:off x="777240" y="6327648"/>
            <a:ext cx="7315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0" lang="en-US" sz="950" u="none" cap="none" strike="noStrike">
                <a:solidFill>
                  <a:srgbClr val="8494A6"/>
                </a:solidFill>
                <a:latin typeface="Calibri"/>
                <a:ea typeface="Calibri"/>
                <a:cs typeface="Calibri"/>
                <a:sym typeface="Calibri"/>
              </a:rPr>
              <a:t>PEFT, LoRA e QLoRA  ·  Semana 7</a:t>
            </a:r>
            <a:endParaRPr b="0" i="0" sz="950" u="none" cap="none" strike="noStrike">
              <a:solidFill>
                <a:schemeClr val="dk1"/>
              </a:solidFill>
              <a:latin typeface="Calibri"/>
              <a:ea typeface="Calibri"/>
              <a:cs typeface="Calibri"/>
              <a:sym typeface="Calibri"/>
            </a:endParaRPr>
          </a:p>
        </p:txBody>
      </p:sp>
      <p:sp>
        <p:nvSpPr>
          <p:cNvPr id="45" name="Google Shape;45;p9"/>
          <p:cNvSpPr txBox="1"/>
          <p:nvPr>
            <p:ph idx="12"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50" u="none" cap="none" strike="noStrike">
                <a:solidFill>
                  <a:srgbClr val="8494A6"/>
                </a:solidFill>
                <a:latin typeface="Calibri"/>
                <a:ea typeface="Calibri"/>
                <a:cs typeface="Calibri"/>
                <a:sym typeface="Calibri"/>
              </a:defRPr>
            </a:lvl1pPr>
            <a:lvl2pPr indent="0" lvl="1" marL="0" marR="0" algn="r">
              <a:spcBef>
                <a:spcPts val="0"/>
              </a:spcBef>
              <a:buNone/>
              <a:defRPr b="0" i="0" sz="950" u="none" cap="none" strike="noStrike">
                <a:solidFill>
                  <a:srgbClr val="8494A6"/>
                </a:solidFill>
                <a:latin typeface="Calibri"/>
                <a:ea typeface="Calibri"/>
                <a:cs typeface="Calibri"/>
                <a:sym typeface="Calibri"/>
              </a:defRPr>
            </a:lvl2pPr>
            <a:lvl3pPr indent="0" lvl="2" marL="0" marR="0" algn="r">
              <a:spcBef>
                <a:spcPts val="0"/>
              </a:spcBef>
              <a:buNone/>
              <a:defRPr b="0" i="0" sz="950" u="none" cap="none" strike="noStrike">
                <a:solidFill>
                  <a:srgbClr val="8494A6"/>
                </a:solidFill>
                <a:latin typeface="Calibri"/>
                <a:ea typeface="Calibri"/>
                <a:cs typeface="Calibri"/>
                <a:sym typeface="Calibri"/>
              </a:defRPr>
            </a:lvl3pPr>
            <a:lvl4pPr indent="0" lvl="3" marL="0" marR="0" algn="r">
              <a:spcBef>
                <a:spcPts val="0"/>
              </a:spcBef>
              <a:buNone/>
              <a:defRPr b="0" i="0" sz="950" u="none" cap="none" strike="noStrike">
                <a:solidFill>
                  <a:srgbClr val="8494A6"/>
                </a:solidFill>
                <a:latin typeface="Calibri"/>
                <a:ea typeface="Calibri"/>
                <a:cs typeface="Calibri"/>
                <a:sym typeface="Calibri"/>
              </a:defRPr>
            </a:lvl4pPr>
            <a:lvl5pPr indent="0" lvl="4" marL="0" marR="0" algn="r">
              <a:spcBef>
                <a:spcPts val="0"/>
              </a:spcBef>
              <a:buNone/>
              <a:defRPr b="0" i="0" sz="950" u="none" cap="none" strike="noStrike">
                <a:solidFill>
                  <a:srgbClr val="8494A6"/>
                </a:solidFill>
                <a:latin typeface="Calibri"/>
                <a:ea typeface="Calibri"/>
                <a:cs typeface="Calibri"/>
                <a:sym typeface="Calibri"/>
              </a:defRPr>
            </a:lvl5pPr>
            <a:lvl6pPr indent="0" lvl="5" marL="0" marR="0" algn="r">
              <a:spcBef>
                <a:spcPts val="0"/>
              </a:spcBef>
              <a:buNone/>
              <a:defRPr b="0" i="0" sz="950" u="none" cap="none" strike="noStrike">
                <a:solidFill>
                  <a:srgbClr val="8494A6"/>
                </a:solidFill>
                <a:latin typeface="Calibri"/>
                <a:ea typeface="Calibri"/>
                <a:cs typeface="Calibri"/>
                <a:sym typeface="Calibri"/>
              </a:defRPr>
            </a:lvl6pPr>
            <a:lvl7pPr indent="0" lvl="6" marL="0" marR="0" algn="r">
              <a:spcBef>
                <a:spcPts val="0"/>
              </a:spcBef>
              <a:buNone/>
              <a:defRPr b="0" i="0" sz="950" u="none" cap="none" strike="noStrike">
                <a:solidFill>
                  <a:srgbClr val="8494A6"/>
                </a:solidFill>
                <a:latin typeface="Calibri"/>
                <a:ea typeface="Calibri"/>
                <a:cs typeface="Calibri"/>
                <a:sym typeface="Calibri"/>
              </a:defRPr>
            </a:lvl7pPr>
            <a:lvl8pPr indent="0" lvl="7" marL="0" marR="0" algn="r">
              <a:spcBef>
                <a:spcPts val="0"/>
              </a:spcBef>
              <a:buNone/>
              <a:defRPr b="0" i="0" sz="950" u="none" cap="none" strike="noStrike">
                <a:solidFill>
                  <a:srgbClr val="8494A6"/>
                </a:solidFill>
                <a:latin typeface="Calibri"/>
                <a:ea typeface="Calibri"/>
                <a:cs typeface="Calibri"/>
                <a:sym typeface="Calibri"/>
              </a:defRPr>
            </a:lvl8pPr>
            <a:lvl9pPr indent="0" lvl="8" marL="0" marR="0" algn="r">
              <a:spcBef>
                <a:spcPts val="0"/>
              </a:spcBef>
              <a:buNone/>
              <a:defRPr b="0" i="0" sz="950" u="none" cap="none" strike="noStrike">
                <a:solidFill>
                  <a:srgbClr val="8494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UDO_6">
  <p:cSld name="CONTEUDO_6">
    <p:bg>
      <p:bgPr>
        <a:solidFill>
          <a:srgbClr val="FFFFFF"/>
        </a:solidFill>
      </p:bgPr>
    </p:bg>
    <p:spTree>
      <p:nvGrpSpPr>
        <p:cNvPr id="46" name="Shape 46"/>
        <p:cNvGrpSpPr/>
        <p:nvPr/>
      </p:nvGrpSpPr>
      <p:grpSpPr>
        <a:xfrm>
          <a:off x="0" y="0"/>
          <a:ext cx="0" cy="0"/>
          <a:chOff x="0" y="0"/>
          <a:chExt cx="0" cy="0"/>
        </a:xfrm>
      </p:grpSpPr>
      <p:sp>
        <p:nvSpPr>
          <p:cNvPr id="47" name="Google Shape;47;p10"/>
          <p:cNvSpPr/>
          <p:nvPr/>
        </p:nvSpPr>
        <p:spPr>
          <a:xfrm>
            <a:off x="777240" y="402336"/>
            <a:ext cx="10637215"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050"/>
              <a:buFont typeface="Calibri"/>
              <a:buNone/>
            </a:pPr>
            <a:r>
              <a:rPr b="1" i="0" lang="en-US" sz="1050" u="none" cap="none" strike="noStrike">
                <a:solidFill>
                  <a:srgbClr val="A55A18"/>
                </a:solidFill>
                <a:latin typeface="Calibri"/>
                <a:ea typeface="Calibri"/>
                <a:cs typeface="Calibri"/>
                <a:sym typeface="Calibri"/>
              </a:rPr>
              <a:t>6 · SÍNTESE E LIMITES</a:t>
            </a:r>
            <a:endParaRPr b="0" i="0" sz="1050" u="none" cap="none" strike="noStrike">
              <a:solidFill>
                <a:schemeClr val="dk1"/>
              </a:solidFill>
              <a:latin typeface="Calibri"/>
              <a:ea typeface="Calibri"/>
              <a:cs typeface="Calibri"/>
              <a:sym typeface="Calibri"/>
            </a:endParaRPr>
          </a:p>
        </p:txBody>
      </p:sp>
      <p:sp>
        <p:nvSpPr>
          <p:cNvPr id="48" name="Google Shape;48;p10"/>
          <p:cNvSpPr txBox="1"/>
          <p:nvPr>
            <p:ph type="title"/>
          </p:nvPr>
        </p:nvSpPr>
        <p:spPr>
          <a:xfrm>
            <a:off x="777240" y="676656"/>
            <a:ext cx="10637215" cy="566928"/>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0F1C2E"/>
              </a:buClr>
              <a:buSzPts val="3100"/>
              <a:buFont typeface="Cambria"/>
              <a:buNone/>
              <a:defRPr b="1" i="0" sz="3100" u="none" cap="none" strike="noStrike">
                <a:solidFill>
                  <a:srgbClr val="0F1C2E"/>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 name="Google Shape;49;p10"/>
          <p:cNvSpPr/>
          <p:nvPr/>
        </p:nvSpPr>
        <p:spPr>
          <a:xfrm>
            <a:off x="777240" y="6327648"/>
            <a:ext cx="7315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0" lang="en-US" sz="950" u="none" cap="none" strike="noStrike">
                <a:solidFill>
                  <a:srgbClr val="8494A6"/>
                </a:solidFill>
                <a:latin typeface="Calibri"/>
                <a:ea typeface="Calibri"/>
                <a:cs typeface="Calibri"/>
                <a:sym typeface="Calibri"/>
              </a:rPr>
              <a:t>PEFT, LoRA e QLoRA  ·  Semana 7</a:t>
            </a:r>
            <a:endParaRPr b="0" i="0" sz="950" u="none" cap="none" strike="noStrike">
              <a:solidFill>
                <a:schemeClr val="dk1"/>
              </a:solidFill>
              <a:latin typeface="Calibri"/>
              <a:ea typeface="Calibri"/>
              <a:cs typeface="Calibri"/>
              <a:sym typeface="Calibri"/>
            </a:endParaRPr>
          </a:p>
        </p:txBody>
      </p:sp>
      <p:sp>
        <p:nvSpPr>
          <p:cNvPr id="50" name="Google Shape;50;p10"/>
          <p:cNvSpPr txBox="1"/>
          <p:nvPr>
            <p:ph idx="12"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50" u="none" cap="none" strike="noStrike">
                <a:solidFill>
                  <a:srgbClr val="8494A6"/>
                </a:solidFill>
                <a:latin typeface="Calibri"/>
                <a:ea typeface="Calibri"/>
                <a:cs typeface="Calibri"/>
                <a:sym typeface="Calibri"/>
              </a:defRPr>
            </a:lvl1pPr>
            <a:lvl2pPr indent="0" lvl="1" marL="0" marR="0" algn="r">
              <a:spcBef>
                <a:spcPts val="0"/>
              </a:spcBef>
              <a:buNone/>
              <a:defRPr b="0" i="0" sz="950" u="none" cap="none" strike="noStrike">
                <a:solidFill>
                  <a:srgbClr val="8494A6"/>
                </a:solidFill>
                <a:latin typeface="Calibri"/>
                <a:ea typeface="Calibri"/>
                <a:cs typeface="Calibri"/>
                <a:sym typeface="Calibri"/>
              </a:defRPr>
            </a:lvl2pPr>
            <a:lvl3pPr indent="0" lvl="2" marL="0" marR="0" algn="r">
              <a:spcBef>
                <a:spcPts val="0"/>
              </a:spcBef>
              <a:buNone/>
              <a:defRPr b="0" i="0" sz="950" u="none" cap="none" strike="noStrike">
                <a:solidFill>
                  <a:srgbClr val="8494A6"/>
                </a:solidFill>
                <a:latin typeface="Calibri"/>
                <a:ea typeface="Calibri"/>
                <a:cs typeface="Calibri"/>
                <a:sym typeface="Calibri"/>
              </a:defRPr>
            </a:lvl3pPr>
            <a:lvl4pPr indent="0" lvl="3" marL="0" marR="0" algn="r">
              <a:spcBef>
                <a:spcPts val="0"/>
              </a:spcBef>
              <a:buNone/>
              <a:defRPr b="0" i="0" sz="950" u="none" cap="none" strike="noStrike">
                <a:solidFill>
                  <a:srgbClr val="8494A6"/>
                </a:solidFill>
                <a:latin typeface="Calibri"/>
                <a:ea typeface="Calibri"/>
                <a:cs typeface="Calibri"/>
                <a:sym typeface="Calibri"/>
              </a:defRPr>
            </a:lvl4pPr>
            <a:lvl5pPr indent="0" lvl="4" marL="0" marR="0" algn="r">
              <a:spcBef>
                <a:spcPts val="0"/>
              </a:spcBef>
              <a:buNone/>
              <a:defRPr b="0" i="0" sz="950" u="none" cap="none" strike="noStrike">
                <a:solidFill>
                  <a:srgbClr val="8494A6"/>
                </a:solidFill>
                <a:latin typeface="Calibri"/>
                <a:ea typeface="Calibri"/>
                <a:cs typeface="Calibri"/>
                <a:sym typeface="Calibri"/>
              </a:defRPr>
            </a:lvl5pPr>
            <a:lvl6pPr indent="0" lvl="5" marL="0" marR="0" algn="r">
              <a:spcBef>
                <a:spcPts val="0"/>
              </a:spcBef>
              <a:buNone/>
              <a:defRPr b="0" i="0" sz="950" u="none" cap="none" strike="noStrike">
                <a:solidFill>
                  <a:srgbClr val="8494A6"/>
                </a:solidFill>
                <a:latin typeface="Calibri"/>
                <a:ea typeface="Calibri"/>
                <a:cs typeface="Calibri"/>
                <a:sym typeface="Calibri"/>
              </a:defRPr>
            </a:lvl6pPr>
            <a:lvl7pPr indent="0" lvl="6" marL="0" marR="0" algn="r">
              <a:spcBef>
                <a:spcPts val="0"/>
              </a:spcBef>
              <a:buNone/>
              <a:defRPr b="0" i="0" sz="950" u="none" cap="none" strike="noStrike">
                <a:solidFill>
                  <a:srgbClr val="8494A6"/>
                </a:solidFill>
                <a:latin typeface="Calibri"/>
                <a:ea typeface="Calibri"/>
                <a:cs typeface="Calibri"/>
                <a:sym typeface="Calibri"/>
              </a:defRPr>
            </a:lvl7pPr>
            <a:lvl8pPr indent="0" lvl="7" marL="0" marR="0" algn="r">
              <a:spcBef>
                <a:spcPts val="0"/>
              </a:spcBef>
              <a:buNone/>
              <a:defRPr b="0" i="0" sz="950" u="none" cap="none" strike="noStrike">
                <a:solidFill>
                  <a:srgbClr val="8494A6"/>
                </a:solidFill>
                <a:latin typeface="Calibri"/>
                <a:ea typeface="Calibri"/>
                <a:cs typeface="Calibri"/>
                <a:sym typeface="Calibri"/>
              </a:defRPr>
            </a:lvl8pPr>
            <a:lvl9pPr indent="0" lvl="8" marL="0" marR="0" algn="r">
              <a:spcBef>
                <a:spcPts val="0"/>
              </a:spcBef>
              <a:buNone/>
              <a:defRPr b="0" i="0" sz="950" u="none" cap="none" strike="noStrike">
                <a:solidFill>
                  <a:srgbClr val="8494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CHAMENTO">
  <p:cSld name="FECHAMENTO">
    <p:bg>
      <p:bgPr>
        <a:solidFill>
          <a:srgbClr val="0F1C2E"/>
        </a:solidFill>
      </p:bgPr>
    </p:bg>
    <p:spTree>
      <p:nvGrpSpPr>
        <p:cNvPr id="51" name="Shape 51"/>
        <p:cNvGrpSpPr/>
        <p:nvPr/>
      </p:nvGrpSpPr>
      <p:grpSpPr>
        <a:xfrm>
          <a:off x="0" y="0"/>
          <a:ext cx="0" cy="0"/>
          <a:chOff x="0" y="0"/>
          <a:chExt cx="0" cy="0"/>
        </a:xfrm>
      </p:grpSpPr>
      <p:sp>
        <p:nvSpPr>
          <p:cNvPr id="52" name="Google Shape;52;p11"/>
          <p:cNvSpPr txBox="1"/>
          <p:nvPr>
            <p:ph type="title"/>
          </p:nvPr>
        </p:nvSpPr>
        <p:spPr>
          <a:xfrm>
            <a:off x="777240" y="1005840"/>
            <a:ext cx="7315200" cy="100584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FFFFFF"/>
              </a:buClr>
              <a:buSzPts val="5400"/>
              <a:buFont typeface="Cambria"/>
              <a:buNone/>
              <a:defRPr b="1" i="0" sz="5400" u="none" cap="none" strike="noStrike">
                <a:solidFill>
                  <a:srgbClr val="FFFFFF"/>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3" name="Shape 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50" u="none" cap="none" strike="noStrike">
                <a:solidFill>
                  <a:srgbClr val="8494A6"/>
                </a:solidFill>
                <a:latin typeface="Calibri"/>
                <a:ea typeface="Calibri"/>
                <a:cs typeface="Calibri"/>
                <a:sym typeface="Calibri"/>
              </a:defRPr>
            </a:lvl1pPr>
            <a:lvl2pPr indent="0" lvl="1" marL="0" marR="0" rtl="0" algn="r">
              <a:spcBef>
                <a:spcPts val="0"/>
              </a:spcBef>
              <a:buNone/>
              <a:defRPr b="0" i="0" sz="950" u="none" cap="none" strike="noStrike">
                <a:solidFill>
                  <a:srgbClr val="8494A6"/>
                </a:solidFill>
                <a:latin typeface="Calibri"/>
                <a:ea typeface="Calibri"/>
                <a:cs typeface="Calibri"/>
                <a:sym typeface="Calibri"/>
              </a:defRPr>
            </a:lvl2pPr>
            <a:lvl3pPr indent="0" lvl="2" marL="0" marR="0" rtl="0" algn="r">
              <a:spcBef>
                <a:spcPts val="0"/>
              </a:spcBef>
              <a:buNone/>
              <a:defRPr b="0" i="0" sz="950" u="none" cap="none" strike="noStrike">
                <a:solidFill>
                  <a:srgbClr val="8494A6"/>
                </a:solidFill>
                <a:latin typeface="Calibri"/>
                <a:ea typeface="Calibri"/>
                <a:cs typeface="Calibri"/>
                <a:sym typeface="Calibri"/>
              </a:defRPr>
            </a:lvl3pPr>
            <a:lvl4pPr indent="0" lvl="3" marL="0" marR="0" rtl="0" algn="r">
              <a:spcBef>
                <a:spcPts val="0"/>
              </a:spcBef>
              <a:buNone/>
              <a:defRPr b="0" i="0" sz="950" u="none" cap="none" strike="noStrike">
                <a:solidFill>
                  <a:srgbClr val="8494A6"/>
                </a:solidFill>
                <a:latin typeface="Calibri"/>
                <a:ea typeface="Calibri"/>
                <a:cs typeface="Calibri"/>
                <a:sym typeface="Calibri"/>
              </a:defRPr>
            </a:lvl4pPr>
            <a:lvl5pPr indent="0" lvl="4" marL="0" marR="0" rtl="0" algn="r">
              <a:spcBef>
                <a:spcPts val="0"/>
              </a:spcBef>
              <a:buNone/>
              <a:defRPr b="0" i="0" sz="950" u="none" cap="none" strike="noStrike">
                <a:solidFill>
                  <a:srgbClr val="8494A6"/>
                </a:solidFill>
                <a:latin typeface="Calibri"/>
                <a:ea typeface="Calibri"/>
                <a:cs typeface="Calibri"/>
                <a:sym typeface="Calibri"/>
              </a:defRPr>
            </a:lvl5pPr>
            <a:lvl6pPr indent="0" lvl="5" marL="0" marR="0" rtl="0" algn="r">
              <a:spcBef>
                <a:spcPts val="0"/>
              </a:spcBef>
              <a:buNone/>
              <a:defRPr b="0" i="0" sz="950" u="none" cap="none" strike="noStrike">
                <a:solidFill>
                  <a:srgbClr val="8494A6"/>
                </a:solidFill>
                <a:latin typeface="Calibri"/>
                <a:ea typeface="Calibri"/>
                <a:cs typeface="Calibri"/>
                <a:sym typeface="Calibri"/>
              </a:defRPr>
            </a:lvl6pPr>
            <a:lvl7pPr indent="0" lvl="6" marL="0" marR="0" rtl="0" algn="r">
              <a:spcBef>
                <a:spcPts val="0"/>
              </a:spcBef>
              <a:buNone/>
              <a:defRPr b="0" i="0" sz="950" u="none" cap="none" strike="noStrike">
                <a:solidFill>
                  <a:srgbClr val="8494A6"/>
                </a:solidFill>
                <a:latin typeface="Calibri"/>
                <a:ea typeface="Calibri"/>
                <a:cs typeface="Calibri"/>
                <a:sym typeface="Calibri"/>
              </a:defRPr>
            </a:lvl7pPr>
            <a:lvl8pPr indent="0" lvl="7" marL="0" marR="0" rtl="0" algn="r">
              <a:spcBef>
                <a:spcPts val="0"/>
              </a:spcBef>
              <a:buNone/>
              <a:defRPr b="0" i="0" sz="950" u="none" cap="none" strike="noStrike">
                <a:solidFill>
                  <a:srgbClr val="8494A6"/>
                </a:solidFill>
                <a:latin typeface="Calibri"/>
                <a:ea typeface="Calibri"/>
                <a:cs typeface="Calibri"/>
                <a:sym typeface="Calibri"/>
              </a:defRPr>
            </a:lvl8pPr>
            <a:lvl9pPr indent="0" lvl="8" marL="0" marR="0" rtl="0" algn="r">
              <a:spcBef>
                <a:spcPts val="0"/>
              </a:spcBef>
              <a:buNone/>
              <a:defRPr b="0" i="0" sz="950" u="none" cap="none" strike="noStrike">
                <a:solidFill>
                  <a:srgbClr val="8494A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title"/>
          </p:nvPr>
        </p:nvSpPr>
        <p:spPr>
          <a:xfrm>
            <a:off x="777240" y="1188720"/>
            <a:ext cx="7589520"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Ajustar sem mexer em tudo</a:t>
            </a:r>
            <a:endParaRPr sz="4000"/>
          </a:p>
        </p:txBody>
      </p:sp>
      <p:sp>
        <p:nvSpPr>
          <p:cNvPr id="60" name="Google Shape;60;p13"/>
          <p:cNvSpPr txBox="1"/>
          <p:nvPr/>
        </p:nvSpPr>
        <p:spPr>
          <a:xfrm>
            <a:off x="777240" y="777240"/>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150"/>
              <a:buFont typeface="Calibri"/>
              <a:buNone/>
            </a:pPr>
            <a:r>
              <a:rPr b="1" i="0" lang="en-US" sz="1150" u="none" cap="none" strike="noStrike">
                <a:solidFill>
                  <a:srgbClr val="E08A3C"/>
                </a:solidFill>
                <a:latin typeface="Calibri"/>
                <a:ea typeface="Calibri"/>
                <a:cs typeface="Calibri"/>
                <a:sym typeface="Calibri"/>
              </a:rPr>
              <a:t>SEMINÁRIO  ·  SEMANA 7  ·  EQUIPE DE TREINAMENTO E FINE-TUNING</a:t>
            </a:r>
            <a:endParaRPr b="0" i="0" sz="1150" u="none" cap="none" strike="noStrike">
              <a:solidFill>
                <a:schemeClr val="dk1"/>
              </a:solidFill>
              <a:latin typeface="Calibri"/>
              <a:ea typeface="Calibri"/>
              <a:cs typeface="Calibri"/>
              <a:sym typeface="Calibri"/>
            </a:endParaRPr>
          </a:p>
        </p:txBody>
      </p:sp>
      <p:sp>
        <p:nvSpPr>
          <p:cNvPr id="61" name="Google Shape;61;p13"/>
          <p:cNvSpPr txBox="1"/>
          <p:nvPr/>
        </p:nvSpPr>
        <p:spPr>
          <a:xfrm>
            <a:off x="777240" y="2011680"/>
            <a:ext cx="7772400" cy="77724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AFC0D1"/>
              </a:buClr>
              <a:buSzPts val="1700"/>
              <a:buFont typeface="Calibri"/>
              <a:buNone/>
            </a:pPr>
            <a:r>
              <a:rPr b="0" i="0" lang="en-US" sz="1700" u="none" cap="none" strike="noStrike">
                <a:solidFill>
                  <a:srgbClr val="AFC0D1"/>
                </a:solidFill>
                <a:latin typeface="Calibri"/>
                <a:ea typeface="Calibri"/>
                <a:cs typeface="Calibri"/>
                <a:sym typeface="Calibri"/>
              </a:rPr>
              <a:t>PEFT, LoRA e QLoRA: como adaptar um modelo atualizando poucos</a:t>
            </a:r>
            <a:endParaRPr b="0" i="0" sz="1700" u="none" cap="none" strike="noStrike">
              <a:solidFill>
                <a:schemeClr val="dk1"/>
              </a:solidFill>
              <a:latin typeface="Calibri"/>
              <a:ea typeface="Calibri"/>
              <a:cs typeface="Calibri"/>
              <a:sym typeface="Calibri"/>
            </a:endParaRPr>
          </a:p>
          <a:p>
            <a:pPr indent="0" lvl="0" marL="0" marR="0" rtl="0" algn="l">
              <a:lnSpc>
                <a:spcPct val="147058"/>
              </a:lnSpc>
              <a:spcBef>
                <a:spcPts val="0"/>
              </a:spcBef>
              <a:spcAft>
                <a:spcPts val="0"/>
              </a:spcAft>
              <a:buClr>
                <a:srgbClr val="AFC0D1"/>
              </a:buClr>
              <a:buSzPts val="1700"/>
              <a:buFont typeface="Calibri"/>
              <a:buNone/>
            </a:pPr>
            <a:r>
              <a:rPr b="0" i="0" lang="en-US" sz="1700" u="none" cap="none" strike="noStrike">
                <a:solidFill>
                  <a:srgbClr val="AFC0D1"/>
                </a:solidFill>
                <a:latin typeface="Calibri"/>
                <a:ea typeface="Calibri"/>
                <a:cs typeface="Calibri"/>
                <a:sym typeface="Calibri"/>
              </a:rPr>
              <a:t>parâmetros, e quando essa economia ainda permite comparar</a:t>
            </a:r>
            <a:endParaRPr b="0" i="0" sz="1700" u="none" cap="none" strike="noStrike">
              <a:solidFill>
                <a:schemeClr val="dk1"/>
              </a:solidFill>
              <a:latin typeface="Calibri"/>
              <a:ea typeface="Calibri"/>
              <a:cs typeface="Calibri"/>
              <a:sym typeface="Calibri"/>
            </a:endParaRPr>
          </a:p>
        </p:txBody>
      </p:sp>
      <p:sp>
        <p:nvSpPr>
          <p:cNvPr id="62" name="Google Shape;62;p13"/>
          <p:cNvSpPr txBox="1"/>
          <p:nvPr/>
        </p:nvSpPr>
        <p:spPr>
          <a:xfrm>
            <a:off x="777240" y="3127248"/>
            <a:ext cx="7315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94A9"/>
              </a:buClr>
              <a:buSzPts val="1100"/>
              <a:buFont typeface="Calibri"/>
              <a:buNone/>
            </a:pPr>
            <a:r>
              <a:rPr b="0" i="0" lang="en-US" sz="1100" u="none" cap="none" strike="noStrike">
                <a:solidFill>
                  <a:srgbClr val="7F94A9"/>
                </a:solidFill>
                <a:latin typeface="Calibri"/>
                <a:ea typeface="Calibri"/>
                <a:cs typeface="Calibri"/>
                <a:sym typeface="Calibri"/>
              </a:rPr>
              <a:t>o mesmo modelo, três formas de ajustar: o que cada uma treina</a:t>
            </a:r>
            <a:endParaRPr b="0" i="0" sz="1100" u="none" cap="none" strike="noStrike">
              <a:solidFill>
                <a:schemeClr val="dk1"/>
              </a:solidFill>
              <a:latin typeface="Calibri"/>
              <a:ea typeface="Calibri"/>
              <a:cs typeface="Calibri"/>
              <a:sym typeface="Calibri"/>
            </a:endParaRPr>
          </a:p>
        </p:txBody>
      </p:sp>
      <p:sp>
        <p:nvSpPr>
          <p:cNvPr id="63" name="Google Shape;63;p13"/>
          <p:cNvSpPr/>
          <p:nvPr/>
        </p:nvSpPr>
        <p:spPr>
          <a:xfrm>
            <a:off x="777240" y="3474720"/>
            <a:ext cx="2423160" cy="2057400"/>
          </a:xfrm>
          <a:prstGeom prst="roundRect">
            <a:avLst>
              <a:gd fmla="val 3556" name="adj"/>
            </a:avLst>
          </a:prstGeom>
          <a:solidFill>
            <a:srgbClr val="1B3149"/>
          </a:solidFill>
          <a:ln cap="flat" cmpd="sng" w="15225">
            <a:solidFill>
              <a:srgbClr val="3550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txBox="1"/>
          <p:nvPr/>
        </p:nvSpPr>
        <p:spPr>
          <a:xfrm>
            <a:off x="978408" y="3584448"/>
            <a:ext cx="2057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D2DF"/>
              </a:buClr>
              <a:buSzPts val="1050"/>
              <a:buFont typeface="Calibri"/>
              <a:buNone/>
            </a:pPr>
            <a:r>
              <a:rPr b="1" i="0" lang="en-US" sz="1050" u="none" cap="none" strike="noStrike">
                <a:solidFill>
                  <a:srgbClr val="C3D2DF"/>
                </a:solidFill>
                <a:latin typeface="Calibri"/>
                <a:ea typeface="Calibri"/>
                <a:cs typeface="Calibri"/>
                <a:sym typeface="Calibri"/>
              </a:rPr>
              <a:t>AJUSTE COMPLETO</a:t>
            </a:r>
            <a:endParaRPr b="0" i="0" sz="1050" u="none" cap="none" strike="noStrike">
              <a:solidFill>
                <a:schemeClr val="dk1"/>
              </a:solidFill>
              <a:latin typeface="Calibri"/>
              <a:ea typeface="Calibri"/>
              <a:cs typeface="Calibri"/>
              <a:sym typeface="Calibri"/>
            </a:endParaRPr>
          </a:p>
        </p:txBody>
      </p:sp>
      <p:sp>
        <p:nvSpPr>
          <p:cNvPr id="65" name="Google Shape;65;p13"/>
          <p:cNvSpPr txBox="1"/>
          <p:nvPr/>
        </p:nvSpPr>
        <p:spPr>
          <a:xfrm>
            <a:off x="978408" y="3877056"/>
            <a:ext cx="2057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132.352</a:t>
            </a:r>
            <a:endParaRPr b="0" i="0" sz="3000" u="none" cap="none" strike="noStrike">
              <a:solidFill>
                <a:schemeClr val="dk1"/>
              </a:solidFill>
              <a:latin typeface="Calibri"/>
              <a:ea typeface="Calibri"/>
              <a:cs typeface="Calibri"/>
              <a:sym typeface="Calibri"/>
            </a:endParaRPr>
          </a:p>
        </p:txBody>
      </p:sp>
      <p:sp>
        <p:nvSpPr>
          <p:cNvPr id="66" name="Google Shape;66;p13"/>
          <p:cNvSpPr txBox="1"/>
          <p:nvPr/>
        </p:nvSpPr>
        <p:spPr>
          <a:xfrm>
            <a:off x="978408" y="4462272"/>
            <a:ext cx="2057400" cy="5029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AFC0D1"/>
              </a:buClr>
              <a:buSzPts val="1150"/>
              <a:buFont typeface="Calibri"/>
              <a:buNone/>
            </a:pPr>
            <a:r>
              <a:rPr b="0" i="0" lang="en-US" sz="1150" u="none" cap="none" strike="noStrike">
                <a:solidFill>
                  <a:srgbClr val="AFC0D1"/>
                </a:solidFill>
                <a:latin typeface="Calibri"/>
                <a:ea typeface="Calibri"/>
                <a:cs typeface="Calibri"/>
                <a:sym typeface="Calibri"/>
              </a:rPr>
              <a:t>parâmetros treináveis</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AFC0D1"/>
              </a:buClr>
              <a:buSzPts val="1150"/>
              <a:buFont typeface="Calibri"/>
              <a:buNone/>
            </a:pPr>
            <a:r>
              <a:rPr b="0" i="0" lang="en-US" sz="1150" u="none" cap="none" strike="noStrike">
                <a:solidFill>
                  <a:srgbClr val="AFC0D1"/>
                </a:solidFill>
                <a:latin typeface="Calibri"/>
                <a:ea typeface="Calibri"/>
                <a:cs typeface="Calibri"/>
                <a:sym typeface="Calibri"/>
              </a:rPr>
              <a:t>todos os pesos</a:t>
            </a:r>
            <a:endParaRPr b="0" i="0" sz="1150" u="none" cap="none" strike="noStrike">
              <a:solidFill>
                <a:schemeClr val="dk1"/>
              </a:solidFill>
              <a:latin typeface="Calibri"/>
              <a:ea typeface="Calibri"/>
              <a:cs typeface="Calibri"/>
              <a:sym typeface="Calibri"/>
            </a:endParaRPr>
          </a:p>
        </p:txBody>
      </p:sp>
      <p:sp>
        <p:nvSpPr>
          <p:cNvPr id="67" name="Google Shape;67;p13"/>
          <p:cNvSpPr txBox="1"/>
          <p:nvPr/>
        </p:nvSpPr>
        <p:spPr>
          <a:xfrm>
            <a:off x="978408" y="5074920"/>
            <a:ext cx="2057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E6F0"/>
              </a:buClr>
              <a:buSzPts val="1250"/>
              <a:buFont typeface="Calibri"/>
              <a:buNone/>
            </a:pPr>
            <a:r>
              <a:rPr b="1" i="0" lang="en-US" sz="1250" u="none" cap="none" strike="noStrike">
                <a:solidFill>
                  <a:srgbClr val="DCE6F0"/>
                </a:solidFill>
                <a:latin typeface="Calibri"/>
                <a:ea typeface="Calibri"/>
                <a:cs typeface="Calibri"/>
                <a:sym typeface="Calibri"/>
              </a:rPr>
              <a:t>86% de acerto no teste</a:t>
            </a:r>
            <a:endParaRPr b="0" i="0" sz="1250" u="none" cap="none" strike="noStrike">
              <a:solidFill>
                <a:schemeClr val="dk1"/>
              </a:solidFill>
              <a:latin typeface="Calibri"/>
              <a:ea typeface="Calibri"/>
              <a:cs typeface="Calibri"/>
              <a:sym typeface="Calibri"/>
            </a:endParaRPr>
          </a:p>
        </p:txBody>
      </p:sp>
      <p:sp>
        <p:nvSpPr>
          <p:cNvPr id="68" name="Google Shape;68;p13"/>
          <p:cNvSpPr/>
          <p:nvPr/>
        </p:nvSpPr>
        <p:spPr>
          <a:xfrm>
            <a:off x="3401568" y="3474720"/>
            <a:ext cx="2423160" cy="2057400"/>
          </a:xfrm>
          <a:prstGeom prst="roundRect">
            <a:avLst>
              <a:gd fmla="val 3556" name="adj"/>
            </a:avLst>
          </a:prstGeom>
          <a:solidFill>
            <a:srgbClr val="1B3149"/>
          </a:solidFill>
          <a:ln cap="flat" cmpd="sng" w="15225">
            <a:solidFill>
              <a:srgbClr val="3550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txBox="1"/>
          <p:nvPr/>
        </p:nvSpPr>
        <p:spPr>
          <a:xfrm>
            <a:off x="3602736" y="3584448"/>
            <a:ext cx="2057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050"/>
              <a:buFont typeface="Calibri"/>
              <a:buNone/>
            </a:pPr>
            <a:r>
              <a:rPr b="1" i="0" lang="en-US" sz="1050" u="none" cap="none" strike="noStrike">
                <a:solidFill>
                  <a:srgbClr val="E08A3C"/>
                </a:solidFill>
                <a:latin typeface="Calibri"/>
                <a:ea typeface="Calibri"/>
                <a:cs typeface="Calibri"/>
                <a:sym typeface="Calibri"/>
              </a:rPr>
              <a:t>LORA</a:t>
            </a:r>
            <a:endParaRPr b="0" i="0" sz="1050" u="none" cap="none" strike="noStrike">
              <a:solidFill>
                <a:schemeClr val="dk1"/>
              </a:solidFill>
              <a:latin typeface="Calibri"/>
              <a:ea typeface="Calibri"/>
              <a:cs typeface="Calibri"/>
              <a:sym typeface="Calibri"/>
            </a:endParaRPr>
          </a:p>
        </p:txBody>
      </p:sp>
      <p:sp>
        <p:nvSpPr>
          <p:cNvPr id="70" name="Google Shape;70;p13"/>
          <p:cNvSpPr txBox="1"/>
          <p:nvPr/>
        </p:nvSpPr>
        <p:spPr>
          <a:xfrm>
            <a:off x="3602736" y="3877056"/>
            <a:ext cx="2057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16.384</a:t>
            </a:r>
            <a:endParaRPr b="0" i="0" sz="3000" u="none" cap="none" strike="noStrike">
              <a:solidFill>
                <a:schemeClr val="dk1"/>
              </a:solidFill>
              <a:latin typeface="Calibri"/>
              <a:ea typeface="Calibri"/>
              <a:cs typeface="Calibri"/>
              <a:sym typeface="Calibri"/>
            </a:endParaRPr>
          </a:p>
        </p:txBody>
      </p:sp>
      <p:sp>
        <p:nvSpPr>
          <p:cNvPr id="71" name="Google Shape;71;p13"/>
          <p:cNvSpPr txBox="1"/>
          <p:nvPr/>
        </p:nvSpPr>
        <p:spPr>
          <a:xfrm>
            <a:off x="3602736" y="4462272"/>
            <a:ext cx="2057400" cy="5029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AFC0D1"/>
              </a:buClr>
              <a:buSzPts val="1150"/>
              <a:buFont typeface="Calibri"/>
              <a:buNone/>
            </a:pPr>
            <a:r>
              <a:rPr b="0" i="0" lang="en-US" sz="1150" u="none" cap="none" strike="noStrike">
                <a:solidFill>
                  <a:srgbClr val="AFC0D1"/>
                </a:solidFill>
                <a:latin typeface="Calibri"/>
                <a:ea typeface="Calibri"/>
                <a:cs typeface="Calibri"/>
                <a:sym typeface="Calibri"/>
              </a:rPr>
              <a:t>parâmetros treináveis</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AFC0D1"/>
              </a:buClr>
              <a:buSzPts val="1150"/>
              <a:buFont typeface="Calibri"/>
              <a:buNone/>
            </a:pPr>
            <a:r>
              <a:rPr b="0" i="0" lang="en-US" sz="1150" u="none" cap="none" strike="noStrike">
                <a:solidFill>
                  <a:srgbClr val="AFC0D1"/>
                </a:solidFill>
                <a:latin typeface="Calibri"/>
                <a:ea typeface="Calibri"/>
                <a:cs typeface="Calibri"/>
                <a:sym typeface="Calibri"/>
              </a:rPr>
              <a:t>pesos congelados + adapters</a:t>
            </a:r>
            <a:endParaRPr b="0" i="0" sz="1150" u="none" cap="none" strike="noStrike">
              <a:solidFill>
                <a:schemeClr val="dk1"/>
              </a:solidFill>
              <a:latin typeface="Calibri"/>
              <a:ea typeface="Calibri"/>
              <a:cs typeface="Calibri"/>
              <a:sym typeface="Calibri"/>
            </a:endParaRPr>
          </a:p>
        </p:txBody>
      </p:sp>
      <p:sp>
        <p:nvSpPr>
          <p:cNvPr id="72" name="Google Shape;72;p13"/>
          <p:cNvSpPr txBox="1"/>
          <p:nvPr/>
        </p:nvSpPr>
        <p:spPr>
          <a:xfrm>
            <a:off x="3602736" y="5074920"/>
            <a:ext cx="2057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250"/>
              <a:buFont typeface="Calibri"/>
              <a:buNone/>
            </a:pPr>
            <a:r>
              <a:rPr b="1" i="0" lang="en-US" sz="1250" u="none" cap="none" strike="noStrike">
                <a:solidFill>
                  <a:srgbClr val="E08A3C"/>
                </a:solidFill>
                <a:latin typeface="Calibri"/>
                <a:ea typeface="Calibri"/>
                <a:cs typeface="Calibri"/>
                <a:sym typeface="Calibri"/>
              </a:rPr>
              <a:t>86% de acerto no teste</a:t>
            </a:r>
            <a:endParaRPr b="0" i="0" sz="1250" u="none" cap="none" strike="noStrike">
              <a:solidFill>
                <a:schemeClr val="dk1"/>
              </a:solidFill>
              <a:latin typeface="Calibri"/>
              <a:ea typeface="Calibri"/>
              <a:cs typeface="Calibri"/>
              <a:sym typeface="Calibri"/>
            </a:endParaRPr>
          </a:p>
        </p:txBody>
      </p:sp>
      <p:sp>
        <p:nvSpPr>
          <p:cNvPr id="73" name="Google Shape;73;p13"/>
          <p:cNvSpPr/>
          <p:nvPr/>
        </p:nvSpPr>
        <p:spPr>
          <a:xfrm>
            <a:off x="6025896" y="3474720"/>
            <a:ext cx="2423160" cy="2057400"/>
          </a:xfrm>
          <a:prstGeom prst="roundRect">
            <a:avLst>
              <a:gd fmla="val 3556" name="adj"/>
            </a:avLst>
          </a:prstGeom>
          <a:solidFill>
            <a:srgbClr val="1B3149"/>
          </a:solidFill>
          <a:ln cap="flat" cmpd="sng" w="15225">
            <a:solidFill>
              <a:srgbClr val="3550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txBox="1"/>
          <p:nvPr/>
        </p:nvSpPr>
        <p:spPr>
          <a:xfrm>
            <a:off x="6227064" y="3584448"/>
            <a:ext cx="2057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050"/>
              <a:buFont typeface="Calibri"/>
              <a:buNone/>
            </a:pPr>
            <a:r>
              <a:rPr b="1" i="0" lang="en-US" sz="1050" u="none" cap="none" strike="noStrike">
                <a:solidFill>
                  <a:srgbClr val="E08A3C"/>
                </a:solidFill>
                <a:latin typeface="Calibri"/>
                <a:ea typeface="Calibri"/>
                <a:cs typeface="Calibri"/>
                <a:sym typeface="Calibri"/>
              </a:rPr>
              <a:t>QLORA</a:t>
            </a:r>
            <a:endParaRPr b="0" i="0" sz="1050" u="none" cap="none" strike="noStrike">
              <a:solidFill>
                <a:schemeClr val="dk1"/>
              </a:solidFill>
              <a:latin typeface="Calibri"/>
              <a:ea typeface="Calibri"/>
              <a:cs typeface="Calibri"/>
              <a:sym typeface="Calibri"/>
            </a:endParaRPr>
          </a:p>
        </p:txBody>
      </p:sp>
      <p:sp>
        <p:nvSpPr>
          <p:cNvPr id="75" name="Google Shape;75;p13"/>
          <p:cNvSpPr txBox="1"/>
          <p:nvPr/>
        </p:nvSpPr>
        <p:spPr>
          <a:xfrm>
            <a:off x="6227064" y="3877056"/>
            <a:ext cx="2057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16.384</a:t>
            </a:r>
            <a:endParaRPr b="0" i="0" sz="3000" u="none" cap="none" strike="noStrike">
              <a:solidFill>
                <a:schemeClr val="dk1"/>
              </a:solidFill>
              <a:latin typeface="Calibri"/>
              <a:ea typeface="Calibri"/>
              <a:cs typeface="Calibri"/>
              <a:sym typeface="Calibri"/>
            </a:endParaRPr>
          </a:p>
        </p:txBody>
      </p:sp>
      <p:sp>
        <p:nvSpPr>
          <p:cNvPr id="76" name="Google Shape;76;p13"/>
          <p:cNvSpPr txBox="1"/>
          <p:nvPr/>
        </p:nvSpPr>
        <p:spPr>
          <a:xfrm>
            <a:off x="6227064" y="4462272"/>
            <a:ext cx="2057400" cy="5029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AFC0D1"/>
              </a:buClr>
              <a:buSzPts val="1150"/>
              <a:buFont typeface="Calibri"/>
              <a:buNone/>
            </a:pPr>
            <a:r>
              <a:rPr b="0" i="0" lang="en-US" sz="1150" u="none" cap="none" strike="noStrike">
                <a:solidFill>
                  <a:srgbClr val="AFC0D1"/>
                </a:solidFill>
                <a:latin typeface="Calibri"/>
                <a:ea typeface="Calibri"/>
                <a:cs typeface="Calibri"/>
                <a:sym typeface="Calibri"/>
              </a:rPr>
              <a:t>parâmetros treináveis</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AFC0D1"/>
              </a:buClr>
              <a:buSzPts val="1150"/>
              <a:buFont typeface="Calibri"/>
              <a:buNone/>
            </a:pPr>
            <a:r>
              <a:rPr b="0" i="0" lang="en-US" sz="1150" u="none" cap="none" strike="noStrike">
                <a:solidFill>
                  <a:srgbClr val="AFC0D1"/>
                </a:solidFill>
                <a:latin typeface="Calibri"/>
                <a:ea typeface="Calibri"/>
                <a:cs typeface="Calibri"/>
                <a:sym typeface="Calibri"/>
              </a:rPr>
              <a:t>base em 4 bits + adapters</a:t>
            </a:r>
            <a:endParaRPr b="0" i="0" sz="1150" u="none" cap="none" strike="noStrike">
              <a:solidFill>
                <a:schemeClr val="dk1"/>
              </a:solidFill>
              <a:latin typeface="Calibri"/>
              <a:ea typeface="Calibri"/>
              <a:cs typeface="Calibri"/>
              <a:sym typeface="Calibri"/>
            </a:endParaRPr>
          </a:p>
        </p:txBody>
      </p:sp>
      <p:sp>
        <p:nvSpPr>
          <p:cNvPr id="77" name="Google Shape;77;p13"/>
          <p:cNvSpPr txBox="1"/>
          <p:nvPr/>
        </p:nvSpPr>
        <p:spPr>
          <a:xfrm>
            <a:off x="6227064" y="5074920"/>
            <a:ext cx="2057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250"/>
              <a:buFont typeface="Calibri"/>
              <a:buNone/>
            </a:pPr>
            <a:r>
              <a:rPr b="1" i="0" lang="en-US" sz="1250" u="none" cap="none" strike="noStrike">
                <a:solidFill>
                  <a:srgbClr val="E08A3C"/>
                </a:solidFill>
                <a:latin typeface="Calibri"/>
                <a:ea typeface="Calibri"/>
                <a:cs typeface="Calibri"/>
                <a:sym typeface="Calibri"/>
              </a:rPr>
              <a:t>86% de acerto no teste</a:t>
            </a:r>
            <a:endParaRPr b="0" i="0" sz="1250" u="none" cap="none" strike="noStrike">
              <a:solidFill>
                <a:schemeClr val="dk1"/>
              </a:solidFill>
              <a:latin typeface="Calibri"/>
              <a:ea typeface="Calibri"/>
              <a:cs typeface="Calibri"/>
              <a:sym typeface="Calibri"/>
            </a:endParaRPr>
          </a:p>
        </p:txBody>
      </p:sp>
      <p:sp>
        <p:nvSpPr>
          <p:cNvPr id="78" name="Google Shape;78;p13"/>
          <p:cNvSpPr txBox="1"/>
          <p:nvPr/>
        </p:nvSpPr>
        <p:spPr>
          <a:xfrm>
            <a:off x="777240" y="5623560"/>
            <a:ext cx="7772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94A9"/>
              </a:buClr>
              <a:buSzPts val="1050"/>
              <a:buFont typeface="Calibri"/>
              <a:buNone/>
            </a:pPr>
            <a:r>
              <a:rPr b="0" i="1" lang="en-US" sz="1050" u="none" cap="none" strike="noStrike">
                <a:solidFill>
                  <a:srgbClr val="7F94A9"/>
                </a:solidFill>
                <a:latin typeface="Calibri"/>
                <a:ea typeface="Calibri"/>
                <a:cs typeface="Calibri"/>
                <a:sym typeface="Calibri"/>
              </a:rPr>
              <a:t>mini-GPT de 132.352 parâmetros treinado para este seminário; acerto médio de 3 sementes</a:t>
            </a:r>
            <a:endParaRPr b="0" i="0" sz="1050" u="none" cap="none" strike="noStrike">
              <a:solidFill>
                <a:schemeClr val="dk1"/>
              </a:solidFill>
              <a:latin typeface="Calibri"/>
              <a:ea typeface="Calibri"/>
              <a:cs typeface="Calibri"/>
              <a:sym typeface="Calibri"/>
            </a:endParaRPr>
          </a:p>
        </p:txBody>
      </p:sp>
      <p:cxnSp>
        <p:nvCxnSpPr>
          <p:cNvPr id="79" name="Google Shape;79;p13"/>
          <p:cNvCxnSpPr/>
          <p:nvPr/>
        </p:nvCxnSpPr>
        <p:spPr>
          <a:xfrm>
            <a:off x="8732520" y="1188720"/>
            <a:ext cx="0" cy="4480560"/>
          </a:xfrm>
          <a:prstGeom prst="straightConnector1">
            <a:avLst/>
          </a:prstGeom>
          <a:noFill/>
          <a:ln cap="flat" cmpd="sng" w="12700">
            <a:solidFill>
              <a:srgbClr val="35506B"/>
            </a:solidFill>
            <a:prstDash val="solid"/>
            <a:round/>
            <a:headEnd len="sm" w="sm" type="none"/>
            <a:tailEnd len="sm" w="sm" type="none"/>
          </a:ln>
        </p:spPr>
      </p:cxnSp>
      <p:sp>
        <p:nvSpPr>
          <p:cNvPr id="80" name="Google Shape;80;p13"/>
          <p:cNvSpPr txBox="1"/>
          <p:nvPr/>
        </p:nvSpPr>
        <p:spPr>
          <a:xfrm>
            <a:off x="9098280" y="118872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100"/>
              <a:buFont typeface="Calibri"/>
              <a:buNone/>
            </a:pPr>
            <a:r>
              <a:rPr b="1" i="0" lang="en-US" sz="1100" u="none" cap="none" strike="noStrike">
                <a:solidFill>
                  <a:srgbClr val="E08A3C"/>
                </a:solidFill>
                <a:latin typeface="Calibri"/>
                <a:ea typeface="Calibri"/>
                <a:cs typeface="Calibri"/>
                <a:sym typeface="Calibri"/>
              </a:rPr>
              <a:t>A pergunta</a:t>
            </a:r>
            <a:endParaRPr b="0" i="0" sz="1100" u="none" cap="none" strike="noStrike">
              <a:solidFill>
                <a:schemeClr val="dk1"/>
              </a:solidFill>
              <a:latin typeface="Calibri"/>
              <a:ea typeface="Calibri"/>
              <a:cs typeface="Calibri"/>
              <a:sym typeface="Calibri"/>
            </a:endParaRPr>
          </a:p>
        </p:txBody>
      </p:sp>
      <p:sp>
        <p:nvSpPr>
          <p:cNvPr id="81" name="Google Shape;81;p13"/>
          <p:cNvSpPr txBox="1"/>
          <p:nvPr/>
        </p:nvSpPr>
        <p:spPr>
          <a:xfrm>
            <a:off x="9098280" y="1536192"/>
            <a:ext cx="2377440" cy="1737360"/>
          </a:xfrm>
          <a:prstGeom prst="rect">
            <a:avLst/>
          </a:prstGeom>
          <a:noFill/>
          <a:ln>
            <a:noFill/>
          </a:ln>
        </p:spPr>
        <p:txBody>
          <a:bodyPr anchorCtr="0" anchor="t" bIns="0" lIns="0" spcFirstLastPara="1" rIns="0" wrap="square" tIns="0">
            <a:noAutofit/>
          </a:bodyPr>
          <a:lstStyle/>
          <a:p>
            <a:pPr indent="0" lvl="0" marL="0" marR="0" rtl="0" algn="l">
              <a:lnSpc>
                <a:spcPct val="152000"/>
              </a:lnSpc>
              <a:spcBef>
                <a:spcPts val="0"/>
              </a:spcBef>
              <a:spcAft>
                <a:spcPts val="0"/>
              </a:spcAft>
              <a:buClr>
                <a:srgbClr val="AFC0D1"/>
              </a:buClr>
              <a:buSzPts val="1250"/>
              <a:buFont typeface="Calibri"/>
              <a:buNone/>
            </a:pPr>
            <a:r>
              <a:rPr b="0" i="0" lang="en-US" sz="1250" u="none" cap="none" strike="noStrike">
                <a:solidFill>
                  <a:srgbClr val="AFC0D1"/>
                </a:solidFill>
                <a:latin typeface="Calibri"/>
                <a:ea typeface="Calibri"/>
                <a:cs typeface="Calibri"/>
                <a:sym typeface="Calibri"/>
              </a:rPr>
              <a:t>Como adaptar um modelo atualizando poucos parâmetros, e quando essa economia ainda preserva uma comparação válida?</a:t>
            </a:r>
            <a:endParaRPr b="0" i="0" sz="1250" u="none" cap="none" strike="noStrike">
              <a:solidFill>
                <a:schemeClr val="dk1"/>
              </a:solidFill>
              <a:latin typeface="Calibri"/>
              <a:ea typeface="Calibri"/>
              <a:cs typeface="Calibri"/>
              <a:sym typeface="Calibri"/>
            </a:endParaRPr>
          </a:p>
        </p:txBody>
      </p:sp>
      <p:sp>
        <p:nvSpPr>
          <p:cNvPr id="82" name="Google Shape;82;p13"/>
          <p:cNvSpPr txBox="1"/>
          <p:nvPr/>
        </p:nvSpPr>
        <p:spPr>
          <a:xfrm>
            <a:off x="9098280" y="3337560"/>
            <a:ext cx="2331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100"/>
              <a:buFont typeface="Calibri"/>
              <a:buNone/>
            </a:pPr>
            <a:r>
              <a:rPr b="1" i="0" lang="en-US" sz="1100" u="none" cap="none" strike="noStrike">
                <a:solidFill>
                  <a:srgbClr val="E08A3C"/>
                </a:solidFill>
                <a:latin typeface="Calibri"/>
                <a:ea typeface="Calibri"/>
                <a:cs typeface="Calibri"/>
                <a:sym typeface="Calibri"/>
              </a:rPr>
              <a:t>Conteúdo da seção 3</a:t>
            </a:r>
            <a:endParaRPr b="0" i="0" sz="1100" u="none" cap="none" strike="noStrike">
              <a:solidFill>
                <a:schemeClr val="dk1"/>
              </a:solidFill>
              <a:latin typeface="Calibri"/>
              <a:ea typeface="Calibri"/>
              <a:cs typeface="Calibri"/>
              <a:sym typeface="Calibri"/>
            </a:endParaRPr>
          </a:p>
        </p:txBody>
      </p:sp>
      <p:sp>
        <p:nvSpPr>
          <p:cNvPr id="83" name="Google Shape;83;p13"/>
          <p:cNvSpPr txBox="1"/>
          <p:nvPr/>
        </p:nvSpPr>
        <p:spPr>
          <a:xfrm>
            <a:off x="9098280" y="3657600"/>
            <a:ext cx="2377440" cy="2011680"/>
          </a:xfrm>
          <a:prstGeom prst="rect">
            <a:avLst/>
          </a:prstGeom>
          <a:noFill/>
          <a:ln>
            <a:noFill/>
          </a:ln>
        </p:spPr>
        <p:txBody>
          <a:bodyPr anchorCtr="0" anchor="t" bIns="0" lIns="0" spcFirstLastPara="1" rIns="0" wrap="square" tIns="0">
            <a:noAutofit/>
          </a:bodyPr>
          <a:lstStyle/>
          <a:p>
            <a:pPr indent="-342900" lvl="0" marL="342900" marR="0" rtl="0" algn="l">
              <a:lnSpc>
                <a:spcPct val="139130"/>
              </a:lnSpc>
              <a:spcBef>
                <a:spcPts val="0"/>
              </a:spcBef>
              <a:spcAft>
                <a:spcPts val="0"/>
              </a:spcAft>
              <a:buClr>
                <a:srgbClr val="8FA3B7"/>
              </a:buClr>
              <a:buSzPts val="1150"/>
              <a:buFont typeface="Calibri"/>
              <a:buChar char="•"/>
            </a:pPr>
            <a:r>
              <a:rPr b="0" i="0" lang="en-US" sz="1150" u="none" cap="none" strike="noStrike">
                <a:solidFill>
                  <a:srgbClr val="8FA3B7"/>
                </a:solidFill>
                <a:latin typeface="Calibri"/>
                <a:ea typeface="Calibri"/>
                <a:cs typeface="Calibri"/>
                <a:sym typeface="Calibri"/>
              </a:rPr>
              <a:t>ajuste completo × PEFT</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300"/>
              </a:spcBef>
              <a:spcAft>
                <a:spcPts val="0"/>
              </a:spcAft>
              <a:buClr>
                <a:srgbClr val="8FA3B7"/>
              </a:buClr>
              <a:buSzPts val="1150"/>
              <a:buFont typeface="Calibri"/>
              <a:buChar char="•"/>
            </a:pPr>
            <a:r>
              <a:rPr b="0" i="0" lang="en-US" sz="1150" u="none" cap="none" strike="noStrike">
                <a:solidFill>
                  <a:srgbClr val="8FA3B7"/>
                </a:solidFill>
                <a:latin typeface="Calibri"/>
                <a:ea typeface="Calibri"/>
                <a:cs typeface="Calibri"/>
                <a:sym typeface="Calibri"/>
              </a:rPr>
              <a:t>pesos congelados e adapters</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300"/>
              </a:spcBef>
              <a:spcAft>
                <a:spcPts val="0"/>
              </a:spcAft>
              <a:buClr>
                <a:srgbClr val="8FA3B7"/>
              </a:buClr>
              <a:buSzPts val="1150"/>
              <a:buFont typeface="Calibri"/>
              <a:buChar char="•"/>
            </a:pPr>
            <a:r>
              <a:rPr b="0" i="0" lang="en-US" sz="1150" u="none" cap="none" strike="noStrike">
                <a:solidFill>
                  <a:srgbClr val="8FA3B7"/>
                </a:solidFill>
                <a:latin typeface="Calibri"/>
                <a:ea typeface="Calibri"/>
                <a:cs typeface="Calibri"/>
                <a:sym typeface="Calibri"/>
              </a:rPr>
              <a:t>atualização de baixo rank</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300"/>
              </a:spcBef>
              <a:spcAft>
                <a:spcPts val="0"/>
              </a:spcAft>
              <a:buClr>
                <a:srgbClr val="8FA3B7"/>
              </a:buClr>
              <a:buSzPts val="1150"/>
              <a:buFont typeface="Calibri"/>
              <a:buChar char="•"/>
            </a:pPr>
            <a:r>
              <a:rPr b="0" i="0" lang="en-US" sz="1150" u="none" cap="none" strike="noStrike">
                <a:solidFill>
                  <a:srgbClr val="8FA3B7"/>
                </a:solidFill>
                <a:latin typeface="Calibri"/>
                <a:ea typeface="Calibri"/>
                <a:cs typeface="Calibri"/>
                <a:sym typeface="Calibri"/>
              </a:rPr>
              <a:t>rank, alpha, dropout, módulos</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300"/>
              </a:spcBef>
              <a:spcAft>
                <a:spcPts val="0"/>
              </a:spcAft>
              <a:buClr>
                <a:srgbClr val="8FA3B7"/>
              </a:buClr>
              <a:buSzPts val="1150"/>
              <a:buFont typeface="Calibri"/>
              <a:buChar char="•"/>
            </a:pPr>
            <a:r>
              <a:rPr b="0" i="0" lang="en-US" sz="1150" u="none" cap="none" strike="noStrike">
                <a:solidFill>
                  <a:srgbClr val="8FA3B7"/>
                </a:solidFill>
                <a:latin typeface="Calibri"/>
                <a:ea typeface="Calibri"/>
                <a:cs typeface="Calibri"/>
                <a:sym typeface="Calibri"/>
              </a:rPr>
              <a:t>parâmetros e memória</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300"/>
              </a:spcBef>
              <a:spcAft>
                <a:spcPts val="0"/>
              </a:spcAft>
              <a:buClr>
                <a:srgbClr val="8FA3B7"/>
              </a:buClr>
              <a:buSzPts val="1150"/>
              <a:buFont typeface="Calibri"/>
              <a:buChar char="•"/>
            </a:pPr>
            <a:r>
              <a:rPr b="0" i="0" lang="en-US" sz="1150" u="none" cap="none" strike="noStrike">
                <a:solidFill>
                  <a:srgbClr val="8FA3B7"/>
                </a:solidFill>
                <a:latin typeface="Calibri"/>
                <a:ea typeface="Calibri"/>
                <a:cs typeface="Calibri"/>
                <a:sym typeface="Calibri"/>
              </a:rPr>
              <a:t>LoRA × QLoRA</a:t>
            </a:r>
            <a:endParaRPr b="0" i="0" sz="1150" u="none" cap="none" strike="noStrike">
              <a:solidFill>
                <a:schemeClr val="dk1"/>
              </a:solidFill>
              <a:latin typeface="Calibri"/>
              <a:ea typeface="Calibri"/>
              <a:cs typeface="Calibri"/>
              <a:sym typeface="Calibri"/>
            </a:endParaRPr>
          </a:p>
          <a:p>
            <a:pPr indent="-342900" lvl="0" marL="342900" marR="0" rtl="0" algn="l">
              <a:lnSpc>
                <a:spcPct val="139130"/>
              </a:lnSpc>
              <a:spcBef>
                <a:spcPts val="300"/>
              </a:spcBef>
              <a:spcAft>
                <a:spcPts val="0"/>
              </a:spcAft>
              <a:buClr>
                <a:srgbClr val="8FA3B7"/>
              </a:buClr>
              <a:buSzPts val="1150"/>
              <a:buFont typeface="Calibri"/>
              <a:buChar char="•"/>
            </a:pPr>
            <a:r>
              <a:rPr b="0" i="0" lang="en-US" sz="1150" u="none" cap="none" strike="noStrike">
                <a:solidFill>
                  <a:srgbClr val="8FA3B7"/>
                </a:solidFill>
                <a:latin typeface="Calibri"/>
                <a:ea typeface="Calibri"/>
                <a:cs typeface="Calibri"/>
                <a:sym typeface="Calibri"/>
              </a:rPr>
              <a:t>adapter, merge e antes/depois</a:t>
            </a:r>
            <a:endParaRPr b="0" i="0" sz="1150" u="none" cap="none" strike="noStrike">
              <a:solidFill>
                <a:schemeClr val="dk1"/>
              </a:solidFill>
              <a:latin typeface="Calibri"/>
              <a:ea typeface="Calibri"/>
              <a:cs typeface="Calibri"/>
              <a:sym typeface="Calibri"/>
            </a:endParaRPr>
          </a:p>
        </p:txBody>
      </p:sp>
      <p:sp>
        <p:nvSpPr>
          <p:cNvPr id="84" name="Google Shape;84;p13"/>
          <p:cNvSpPr txBox="1"/>
          <p:nvPr/>
        </p:nvSpPr>
        <p:spPr>
          <a:xfrm>
            <a:off x="777240" y="6144768"/>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788D"/>
              </a:buClr>
              <a:buSzPts val="1100"/>
              <a:buFont typeface="Calibri"/>
              <a:buNone/>
            </a:pPr>
            <a:r>
              <a:rPr b="0" i="0" lang="en-US" sz="1100" u="none" cap="none" strike="noStrike">
                <a:solidFill>
                  <a:srgbClr val="63788D"/>
                </a:solidFill>
                <a:latin typeface="Calibri"/>
                <a:ea typeface="Calibri"/>
                <a:cs typeface="Calibri"/>
                <a:sym typeface="Calibri"/>
              </a:rPr>
              <a:t>Universidade Federal de Goiás  ·  Inteligência Artificial  ·  2026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Estrutura da apresentação</a:t>
            </a:r>
            <a:endParaRPr sz="3100"/>
          </a:p>
        </p:txBody>
      </p:sp>
      <p:sp>
        <p:nvSpPr>
          <p:cNvPr id="91" name="Google Shape;91;p14"/>
          <p:cNvSpPr/>
          <p:nvPr/>
        </p:nvSpPr>
        <p:spPr>
          <a:xfrm>
            <a:off x="777240" y="1517904"/>
            <a:ext cx="10637215" cy="713232"/>
          </a:xfrm>
          <a:prstGeom prst="roundRect">
            <a:avLst>
              <a:gd fmla="val 10256"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1051560" y="1691640"/>
            <a:ext cx="365760" cy="365760"/>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txBox="1"/>
          <p:nvPr/>
        </p:nvSpPr>
        <p:spPr>
          <a:xfrm>
            <a:off x="1051560" y="169164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94" name="Google Shape;94;p14"/>
          <p:cNvSpPr txBox="1"/>
          <p:nvPr/>
        </p:nvSpPr>
        <p:spPr>
          <a:xfrm>
            <a:off x="1645920" y="1609344"/>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750"/>
              <a:buFont typeface="Cambria"/>
              <a:buNone/>
            </a:pPr>
            <a:r>
              <a:rPr b="1" i="0" lang="en-US" sz="1750" u="none" cap="none" strike="noStrike">
                <a:solidFill>
                  <a:srgbClr val="0F1C2E"/>
                </a:solidFill>
                <a:latin typeface="Cambria"/>
                <a:ea typeface="Cambria"/>
                <a:cs typeface="Cambria"/>
                <a:sym typeface="Cambria"/>
              </a:rPr>
              <a:t>Pergunta e motivação</a:t>
            </a:r>
            <a:endParaRPr b="0" i="0" sz="1750" u="none" cap="none" strike="noStrike">
              <a:solidFill>
                <a:schemeClr val="dk1"/>
              </a:solidFill>
              <a:latin typeface="Calibri"/>
              <a:ea typeface="Calibri"/>
              <a:cs typeface="Calibri"/>
              <a:sym typeface="Calibri"/>
            </a:endParaRPr>
          </a:p>
        </p:txBody>
      </p:sp>
      <p:sp>
        <p:nvSpPr>
          <p:cNvPr id="95" name="Google Shape;95;p14"/>
          <p:cNvSpPr txBox="1"/>
          <p:nvPr/>
        </p:nvSpPr>
        <p:spPr>
          <a:xfrm>
            <a:off x="1645920" y="1911096"/>
            <a:ext cx="7863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Por que não treinar tudo, e o que a economia custa na comparação.</a:t>
            </a:r>
            <a:endParaRPr b="0" i="0" sz="1300" u="none" cap="none" strike="noStrike">
              <a:solidFill>
                <a:schemeClr val="dk1"/>
              </a:solidFill>
              <a:latin typeface="Calibri"/>
              <a:ea typeface="Calibri"/>
              <a:cs typeface="Calibri"/>
              <a:sym typeface="Calibri"/>
            </a:endParaRPr>
          </a:p>
        </p:txBody>
      </p:sp>
      <p:sp>
        <p:nvSpPr>
          <p:cNvPr id="96" name="Google Shape;96;p14"/>
          <p:cNvSpPr/>
          <p:nvPr/>
        </p:nvSpPr>
        <p:spPr>
          <a:xfrm>
            <a:off x="777240" y="2304288"/>
            <a:ext cx="10637215" cy="713232"/>
          </a:xfrm>
          <a:prstGeom prst="roundRect">
            <a:avLst>
              <a:gd fmla="val 10256"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1051560" y="2478024"/>
            <a:ext cx="365760" cy="365760"/>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txBox="1"/>
          <p:nvPr/>
        </p:nvSpPr>
        <p:spPr>
          <a:xfrm>
            <a:off x="1051560" y="247802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99" name="Google Shape;99;p14"/>
          <p:cNvSpPr txBox="1"/>
          <p:nvPr/>
        </p:nvSpPr>
        <p:spPr>
          <a:xfrm>
            <a:off x="1645920" y="2395728"/>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750"/>
              <a:buFont typeface="Cambria"/>
              <a:buNone/>
            </a:pPr>
            <a:r>
              <a:rPr b="1" i="0" lang="en-US" sz="1750" u="none" cap="none" strike="noStrike">
                <a:solidFill>
                  <a:srgbClr val="0F1C2E"/>
                </a:solidFill>
                <a:latin typeface="Cambria"/>
                <a:ea typeface="Cambria"/>
                <a:cs typeface="Cambria"/>
                <a:sym typeface="Cambria"/>
              </a:rPr>
              <a:t>Intuição e mapa conceitual</a:t>
            </a:r>
            <a:endParaRPr b="0" i="0" sz="1750" u="none" cap="none" strike="noStrike">
              <a:solidFill>
                <a:schemeClr val="dk1"/>
              </a:solidFill>
              <a:latin typeface="Calibri"/>
              <a:ea typeface="Calibri"/>
              <a:cs typeface="Calibri"/>
              <a:sym typeface="Calibri"/>
            </a:endParaRPr>
          </a:p>
        </p:txBody>
      </p:sp>
      <p:sp>
        <p:nvSpPr>
          <p:cNvPr id="100" name="Google Shape;100;p14"/>
          <p:cNvSpPr txBox="1"/>
          <p:nvPr/>
        </p:nvSpPr>
        <p:spPr>
          <a:xfrm>
            <a:off x="1645920" y="2697480"/>
            <a:ext cx="7863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As famílias de PEFT e por que um desvio de baixo rank basta.</a:t>
            </a:r>
            <a:endParaRPr b="0" i="0" sz="1300" u="none" cap="none" strike="noStrike">
              <a:solidFill>
                <a:schemeClr val="dk1"/>
              </a:solidFill>
              <a:latin typeface="Calibri"/>
              <a:ea typeface="Calibri"/>
              <a:cs typeface="Calibri"/>
              <a:sym typeface="Calibri"/>
            </a:endParaRPr>
          </a:p>
        </p:txBody>
      </p:sp>
      <p:sp>
        <p:nvSpPr>
          <p:cNvPr id="101" name="Google Shape;101;p14"/>
          <p:cNvSpPr/>
          <p:nvPr/>
        </p:nvSpPr>
        <p:spPr>
          <a:xfrm>
            <a:off x="777240" y="3090672"/>
            <a:ext cx="10637215" cy="713232"/>
          </a:xfrm>
          <a:prstGeom prst="roundRect">
            <a:avLst>
              <a:gd fmla="val 10256" name="adj"/>
            </a:avLst>
          </a:prstGeom>
          <a:solidFill>
            <a:srgbClr val="FBEFE1"/>
          </a:solidFill>
          <a:ln cap="flat" cmpd="sng" w="152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1051560" y="3264408"/>
            <a:ext cx="365760" cy="365760"/>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txBox="1"/>
          <p:nvPr/>
        </p:nvSpPr>
        <p:spPr>
          <a:xfrm>
            <a:off x="1051560" y="326440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104" name="Google Shape;104;p14"/>
          <p:cNvSpPr txBox="1"/>
          <p:nvPr/>
        </p:nvSpPr>
        <p:spPr>
          <a:xfrm>
            <a:off x="1645920" y="3182112"/>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750"/>
              <a:buFont typeface="Cambria"/>
              <a:buNone/>
            </a:pPr>
            <a:r>
              <a:rPr b="1" i="0" lang="en-US" sz="1750" u="none" cap="none" strike="noStrike">
                <a:solidFill>
                  <a:srgbClr val="0F1C2E"/>
                </a:solidFill>
                <a:latin typeface="Cambria"/>
                <a:ea typeface="Cambria"/>
                <a:cs typeface="Cambria"/>
                <a:sym typeface="Cambria"/>
              </a:rPr>
              <a:t>Explicação técnica</a:t>
            </a:r>
            <a:endParaRPr b="0" i="0" sz="1750" u="none" cap="none" strike="noStrike">
              <a:solidFill>
                <a:schemeClr val="dk1"/>
              </a:solidFill>
              <a:latin typeface="Calibri"/>
              <a:ea typeface="Calibri"/>
              <a:cs typeface="Calibri"/>
              <a:sym typeface="Calibri"/>
            </a:endParaRPr>
          </a:p>
        </p:txBody>
      </p:sp>
      <p:sp>
        <p:nvSpPr>
          <p:cNvPr id="105" name="Google Shape;105;p14"/>
          <p:cNvSpPr txBox="1"/>
          <p:nvPr/>
        </p:nvSpPr>
        <p:spPr>
          <a:xfrm>
            <a:off x="1645920" y="3483864"/>
            <a:ext cx="7863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LoRA, seus hiperparâmetros, memória, QLoRA, merge e comparação justa.</a:t>
            </a:r>
            <a:endParaRPr b="0" i="0" sz="1300" u="none" cap="none" strike="noStrike">
              <a:solidFill>
                <a:schemeClr val="dk1"/>
              </a:solidFill>
              <a:latin typeface="Calibri"/>
              <a:ea typeface="Calibri"/>
              <a:cs typeface="Calibri"/>
              <a:sym typeface="Calibri"/>
            </a:endParaRPr>
          </a:p>
        </p:txBody>
      </p:sp>
      <p:sp>
        <p:nvSpPr>
          <p:cNvPr id="106" name="Google Shape;106;p14"/>
          <p:cNvSpPr/>
          <p:nvPr/>
        </p:nvSpPr>
        <p:spPr>
          <a:xfrm>
            <a:off x="777240" y="3877056"/>
            <a:ext cx="10637215" cy="713232"/>
          </a:xfrm>
          <a:prstGeom prst="roundRect">
            <a:avLst>
              <a:gd fmla="val 10256"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1051560" y="4050792"/>
            <a:ext cx="365760" cy="365760"/>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txBox="1"/>
          <p:nvPr/>
        </p:nvSpPr>
        <p:spPr>
          <a:xfrm>
            <a:off x="1051560" y="405079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a:t>
            </a:r>
            <a:endParaRPr b="0" i="0" sz="1500" u="none" cap="none" strike="noStrike">
              <a:solidFill>
                <a:schemeClr val="dk1"/>
              </a:solidFill>
              <a:latin typeface="Calibri"/>
              <a:ea typeface="Calibri"/>
              <a:cs typeface="Calibri"/>
              <a:sym typeface="Calibri"/>
            </a:endParaRPr>
          </a:p>
        </p:txBody>
      </p:sp>
      <p:sp>
        <p:nvSpPr>
          <p:cNvPr id="109" name="Google Shape;109;p14"/>
          <p:cNvSpPr txBox="1"/>
          <p:nvPr/>
        </p:nvSpPr>
        <p:spPr>
          <a:xfrm>
            <a:off x="1645920" y="3968496"/>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750"/>
              <a:buFont typeface="Cambria"/>
              <a:buNone/>
            </a:pPr>
            <a:r>
              <a:rPr b="1" i="0" lang="en-US" sz="1750" u="none" cap="none" strike="noStrike">
                <a:solidFill>
                  <a:srgbClr val="0F1C2E"/>
                </a:solidFill>
                <a:latin typeface="Cambria"/>
                <a:ea typeface="Cambria"/>
                <a:cs typeface="Cambria"/>
                <a:sym typeface="Cambria"/>
              </a:rPr>
              <a:t>Visualização e artefato</a:t>
            </a:r>
            <a:endParaRPr b="0" i="0" sz="1750" u="none" cap="none" strike="noStrike">
              <a:solidFill>
                <a:schemeClr val="dk1"/>
              </a:solidFill>
              <a:latin typeface="Calibri"/>
              <a:ea typeface="Calibri"/>
              <a:cs typeface="Calibri"/>
              <a:sym typeface="Calibri"/>
            </a:endParaRPr>
          </a:p>
        </p:txBody>
      </p:sp>
      <p:sp>
        <p:nvSpPr>
          <p:cNvPr id="110" name="Google Shape;110;p14"/>
          <p:cNvSpPr txBox="1"/>
          <p:nvPr/>
        </p:nvSpPr>
        <p:spPr>
          <a:xfrm>
            <a:off x="1645920" y="4270248"/>
            <a:ext cx="7863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LoRA e QLoRA implementadas do zero num notebook.</a:t>
            </a:r>
            <a:endParaRPr b="0" i="0" sz="1300" u="none" cap="none" strike="noStrike">
              <a:solidFill>
                <a:schemeClr val="dk1"/>
              </a:solidFill>
              <a:latin typeface="Calibri"/>
              <a:ea typeface="Calibri"/>
              <a:cs typeface="Calibri"/>
              <a:sym typeface="Calibri"/>
            </a:endParaRPr>
          </a:p>
        </p:txBody>
      </p:sp>
      <p:sp>
        <p:nvSpPr>
          <p:cNvPr id="111" name="Google Shape;111;p14"/>
          <p:cNvSpPr/>
          <p:nvPr/>
        </p:nvSpPr>
        <p:spPr>
          <a:xfrm>
            <a:off x="777240" y="4663440"/>
            <a:ext cx="10637215" cy="713232"/>
          </a:xfrm>
          <a:prstGeom prst="roundRect">
            <a:avLst>
              <a:gd fmla="val 10256"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1051560" y="4837176"/>
            <a:ext cx="365760" cy="365760"/>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txBox="1"/>
          <p:nvPr/>
        </p:nvSpPr>
        <p:spPr>
          <a:xfrm>
            <a:off x="1051560" y="483717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5</a:t>
            </a:r>
            <a:endParaRPr b="0" i="0" sz="1500" u="none" cap="none" strike="noStrike">
              <a:solidFill>
                <a:schemeClr val="dk1"/>
              </a:solidFill>
              <a:latin typeface="Calibri"/>
              <a:ea typeface="Calibri"/>
              <a:cs typeface="Calibri"/>
              <a:sym typeface="Calibri"/>
            </a:endParaRPr>
          </a:p>
        </p:txBody>
      </p:sp>
      <p:sp>
        <p:nvSpPr>
          <p:cNvPr id="114" name="Google Shape;114;p14"/>
          <p:cNvSpPr txBox="1"/>
          <p:nvPr/>
        </p:nvSpPr>
        <p:spPr>
          <a:xfrm>
            <a:off x="1645920" y="4754880"/>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750"/>
              <a:buFont typeface="Cambria"/>
              <a:buNone/>
            </a:pPr>
            <a:r>
              <a:rPr b="1" i="0" lang="en-US" sz="1750" u="none" cap="none" strike="noStrike">
                <a:solidFill>
                  <a:srgbClr val="0F1C2E"/>
                </a:solidFill>
                <a:latin typeface="Cambria"/>
                <a:ea typeface="Cambria"/>
                <a:cs typeface="Cambria"/>
                <a:sym typeface="Cambria"/>
              </a:rPr>
              <a:t>Literatura e projeto</a:t>
            </a:r>
            <a:endParaRPr b="0" i="0" sz="1750" u="none" cap="none" strike="noStrike">
              <a:solidFill>
                <a:schemeClr val="dk1"/>
              </a:solidFill>
              <a:latin typeface="Calibri"/>
              <a:ea typeface="Calibri"/>
              <a:cs typeface="Calibri"/>
              <a:sym typeface="Calibri"/>
            </a:endParaRPr>
          </a:p>
        </p:txBody>
      </p:sp>
      <p:sp>
        <p:nvSpPr>
          <p:cNvPr id="115" name="Google Shape;115;p14"/>
          <p:cNvSpPr txBox="1"/>
          <p:nvPr/>
        </p:nvSpPr>
        <p:spPr>
          <a:xfrm>
            <a:off x="1645920" y="5056632"/>
            <a:ext cx="7863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Os artigos da área e o adaptador que o projeto precisa entregar.</a:t>
            </a:r>
            <a:endParaRPr b="0" i="0" sz="1300" u="none" cap="none" strike="noStrike">
              <a:solidFill>
                <a:schemeClr val="dk1"/>
              </a:solidFill>
              <a:latin typeface="Calibri"/>
              <a:ea typeface="Calibri"/>
              <a:cs typeface="Calibri"/>
              <a:sym typeface="Calibri"/>
            </a:endParaRPr>
          </a:p>
        </p:txBody>
      </p:sp>
      <p:sp>
        <p:nvSpPr>
          <p:cNvPr id="116" name="Google Shape;116;p14"/>
          <p:cNvSpPr/>
          <p:nvPr/>
        </p:nvSpPr>
        <p:spPr>
          <a:xfrm>
            <a:off x="777240" y="5449824"/>
            <a:ext cx="10637215" cy="713232"/>
          </a:xfrm>
          <a:prstGeom prst="roundRect">
            <a:avLst>
              <a:gd fmla="val 10256"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p:nvPr/>
        </p:nvSpPr>
        <p:spPr>
          <a:xfrm>
            <a:off x="1051560" y="5623560"/>
            <a:ext cx="365760" cy="365760"/>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txBox="1"/>
          <p:nvPr/>
        </p:nvSpPr>
        <p:spPr>
          <a:xfrm>
            <a:off x="1051560" y="56235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6</a:t>
            </a:r>
            <a:endParaRPr b="0" i="0" sz="1500" u="none" cap="none" strike="noStrike">
              <a:solidFill>
                <a:schemeClr val="dk1"/>
              </a:solidFill>
              <a:latin typeface="Calibri"/>
              <a:ea typeface="Calibri"/>
              <a:cs typeface="Calibri"/>
              <a:sym typeface="Calibri"/>
            </a:endParaRPr>
          </a:p>
        </p:txBody>
      </p:sp>
      <p:sp>
        <p:nvSpPr>
          <p:cNvPr id="119" name="Google Shape;119;p14"/>
          <p:cNvSpPr txBox="1"/>
          <p:nvPr/>
        </p:nvSpPr>
        <p:spPr>
          <a:xfrm>
            <a:off x="1645920" y="5541264"/>
            <a:ext cx="5029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750"/>
              <a:buFont typeface="Cambria"/>
              <a:buNone/>
            </a:pPr>
            <a:r>
              <a:rPr b="1" i="0" lang="en-US" sz="1750" u="none" cap="none" strike="noStrike">
                <a:solidFill>
                  <a:srgbClr val="0F1C2E"/>
                </a:solidFill>
                <a:latin typeface="Cambria"/>
                <a:ea typeface="Cambria"/>
                <a:cs typeface="Cambria"/>
                <a:sym typeface="Cambria"/>
              </a:rPr>
              <a:t>Síntese e limites</a:t>
            </a:r>
            <a:endParaRPr b="0" i="0" sz="1750" u="none" cap="none" strike="noStrike">
              <a:solidFill>
                <a:schemeClr val="dk1"/>
              </a:solidFill>
              <a:latin typeface="Calibri"/>
              <a:ea typeface="Calibri"/>
              <a:cs typeface="Calibri"/>
              <a:sym typeface="Calibri"/>
            </a:endParaRPr>
          </a:p>
        </p:txBody>
      </p:sp>
      <p:sp>
        <p:nvSpPr>
          <p:cNvPr id="120" name="Google Shape;120;p14"/>
          <p:cNvSpPr txBox="1"/>
          <p:nvPr/>
        </p:nvSpPr>
        <p:spPr>
          <a:xfrm>
            <a:off x="1645920" y="5843016"/>
            <a:ext cx="78638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O que a economia preserva e o que ela pode esconder.</a:t>
            </a:r>
            <a:endParaRPr b="0" i="0" sz="1300" u="none" cap="none" strike="noStrike">
              <a:solidFill>
                <a:schemeClr val="dk1"/>
              </a:solidFill>
              <a:latin typeface="Calibri"/>
              <a:ea typeface="Calibri"/>
              <a:cs typeface="Calibri"/>
              <a:sym typeface="Calibri"/>
            </a:endParaRPr>
          </a:p>
        </p:txBody>
      </p:sp>
      <p:sp>
        <p:nvSpPr>
          <p:cNvPr id="121" name="Google Shape;121;p14"/>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nvSpPr>
        <p:spPr>
          <a:xfrm>
            <a:off x="777240" y="1783080"/>
            <a:ext cx="146304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9600"/>
              <a:buFont typeface="Cambria"/>
              <a:buNone/>
            </a:pPr>
            <a:r>
              <a:rPr b="1" i="0" lang="en-US" sz="9600" u="none" cap="none" strike="noStrike">
                <a:solidFill>
                  <a:srgbClr val="E08A3C"/>
                </a:solidFill>
                <a:latin typeface="Cambria"/>
                <a:ea typeface="Cambria"/>
                <a:cs typeface="Cambria"/>
                <a:sym typeface="Cambria"/>
              </a:rPr>
              <a:t>1</a:t>
            </a:r>
            <a:endParaRPr b="0" i="0" sz="9600" u="none" cap="none" strike="noStrike">
              <a:solidFill>
                <a:schemeClr val="dk1"/>
              </a:solidFill>
              <a:latin typeface="Calibri"/>
              <a:ea typeface="Calibri"/>
              <a:cs typeface="Calibri"/>
              <a:sym typeface="Calibri"/>
            </a:endParaRPr>
          </a:p>
        </p:txBody>
      </p:sp>
      <p:sp>
        <p:nvSpPr>
          <p:cNvPr id="128" name="Google Shape;128;p15"/>
          <p:cNvSpPr txBox="1"/>
          <p:nvPr>
            <p:ph type="title"/>
          </p:nvPr>
        </p:nvSpPr>
        <p:spPr>
          <a:xfrm>
            <a:off x="2377440" y="2011680"/>
            <a:ext cx="6583680" cy="73152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FFFFFF"/>
              </a:buClr>
              <a:buSzPts val="3600"/>
              <a:buFont typeface="Cambria"/>
              <a:buNone/>
            </a:pPr>
            <a:r>
              <a:rPr b="1" lang="en-US" sz="3600">
                <a:solidFill>
                  <a:srgbClr val="FFFFFF"/>
                </a:solidFill>
                <a:latin typeface="Cambria"/>
                <a:ea typeface="Cambria"/>
                <a:cs typeface="Cambria"/>
                <a:sym typeface="Cambria"/>
              </a:rPr>
              <a:t>Pergunta e motivação</a:t>
            </a:r>
            <a:endParaRPr sz="3600"/>
          </a:p>
        </p:txBody>
      </p:sp>
      <p:sp>
        <p:nvSpPr>
          <p:cNvPr id="129" name="Google Shape;129;p15"/>
          <p:cNvSpPr txBox="1"/>
          <p:nvPr/>
        </p:nvSpPr>
        <p:spPr>
          <a:xfrm>
            <a:off x="2404872" y="2761488"/>
            <a:ext cx="65836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BACB"/>
              </a:buClr>
              <a:buSzPts val="1500"/>
              <a:buFont typeface="Calibri"/>
              <a:buNone/>
            </a:pPr>
            <a:r>
              <a:rPr b="0" i="0" lang="en-US" sz="1500" u="none" cap="none" strike="noStrike">
                <a:solidFill>
                  <a:srgbClr val="A9BACB"/>
                </a:solidFill>
                <a:latin typeface="Calibri"/>
                <a:ea typeface="Calibri"/>
                <a:cs typeface="Calibri"/>
                <a:sym typeface="Calibri"/>
              </a:rPr>
              <a:t>Por que não treinar tudo, e o que a economia custa na comparação.</a:t>
            </a:r>
            <a:endParaRPr b="0" i="0" sz="1500" u="none" cap="none" strike="noStrike">
              <a:solidFill>
                <a:schemeClr val="dk1"/>
              </a:solidFill>
              <a:latin typeface="Calibri"/>
              <a:ea typeface="Calibri"/>
              <a:cs typeface="Calibri"/>
              <a:sym typeface="Calibri"/>
            </a:endParaRPr>
          </a:p>
        </p:txBody>
      </p:sp>
      <p:cxnSp>
        <p:nvCxnSpPr>
          <p:cNvPr id="130" name="Google Shape;130;p15"/>
          <p:cNvCxnSpPr/>
          <p:nvPr/>
        </p:nvCxnSpPr>
        <p:spPr>
          <a:xfrm>
            <a:off x="8732520" y="1691640"/>
            <a:ext cx="0" cy="3566160"/>
          </a:xfrm>
          <a:prstGeom prst="straightConnector1">
            <a:avLst/>
          </a:prstGeom>
          <a:noFill/>
          <a:ln cap="flat" cmpd="sng" w="12700">
            <a:solidFill>
              <a:srgbClr val="35506B"/>
            </a:solidFill>
            <a:prstDash val="solid"/>
            <a:round/>
            <a:headEnd len="sm" w="sm" type="none"/>
            <a:tailEnd len="sm" w="sm" type="none"/>
          </a:ln>
        </p:spPr>
      </p:cxnSp>
      <p:sp>
        <p:nvSpPr>
          <p:cNvPr id="131" name="Google Shape;131;p15"/>
          <p:cNvSpPr txBox="1"/>
          <p:nvPr/>
        </p:nvSpPr>
        <p:spPr>
          <a:xfrm>
            <a:off x="9098280" y="1691640"/>
            <a:ext cx="2377440" cy="3566160"/>
          </a:xfrm>
          <a:prstGeom prst="rect">
            <a:avLst/>
          </a:prstGeom>
          <a:noFill/>
          <a:ln>
            <a:noFill/>
          </a:ln>
        </p:spPr>
        <p:txBody>
          <a:bodyPr anchorCtr="0" anchor="t" bIns="0" lIns="0" spcFirstLastPara="1" rIns="0" wrap="square" tIns="0">
            <a:noAutofit/>
          </a:bodyPr>
          <a:lstStyle/>
          <a:p>
            <a:pPr indent="-342900" lvl="0" marL="342900" marR="0" rtl="0" algn="l">
              <a:lnSpc>
                <a:spcPct val="144000"/>
              </a:lnSpc>
              <a:spcBef>
                <a:spcPts val="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A pergunta orientadora</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O preço do ajuste completo</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LoRA já apareceu na semana 6</a:t>
            </a:r>
            <a:endParaRPr b="0" i="0" sz="1250" u="none" cap="none" strike="noStrike">
              <a:solidFill>
                <a:schemeClr val="dk1"/>
              </a:solidFill>
              <a:latin typeface="Calibri"/>
              <a:ea typeface="Calibri"/>
              <a:cs typeface="Calibri"/>
              <a:sym typeface="Calibri"/>
            </a:endParaRPr>
          </a:p>
        </p:txBody>
      </p:sp>
      <p:sp>
        <p:nvSpPr>
          <p:cNvPr id="132" name="Google Shape;132;p15"/>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5C7086"/>
                </a:solidFill>
                <a:latin typeface="Calibri"/>
                <a:ea typeface="Calibri"/>
                <a:cs typeface="Calibri"/>
                <a:sym typeface="Calibri"/>
              </a:rPr>
              <a:t>‹#›</a:t>
            </a:fld>
            <a:endParaRPr b="0" i="0" sz="950" u="none" cap="none" strike="noStrike">
              <a:solidFill>
                <a:srgbClr val="5C708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6"/>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A pergunta orientadora</a:t>
            </a:r>
            <a:endParaRPr sz="3100"/>
          </a:p>
        </p:txBody>
      </p:sp>
      <p:sp>
        <p:nvSpPr>
          <p:cNvPr id="139" name="Google Shape;139;p16"/>
          <p:cNvSpPr/>
          <p:nvPr/>
        </p:nvSpPr>
        <p:spPr>
          <a:xfrm>
            <a:off x="777240" y="1463040"/>
            <a:ext cx="10637215" cy="1188720"/>
          </a:xfrm>
          <a:prstGeom prst="roundRect">
            <a:avLst>
              <a:gd fmla="val 6154" name="adj"/>
            </a:avLst>
          </a:prstGeom>
          <a:solidFill>
            <a:srgbClr val="0F1C2E"/>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txBox="1"/>
          <p:nvPr/>
        </p:nvSpPr>
        <p:spPr>
          <a:xfrm>
            <a:off x="1234440" y="1463040"/>
            <a:ext cx="9722815" cy="1188720"/>
          </a:xfrm>
          <a:prstGeom prst="rect">
            <a:avLst/>
          </a:prstGeom>
          <a:noFill/>
          <a:ln>
            <a:noFill/>
          </a:ln>
        </p:spPr>
        <p:txBody>
          <a:bodyPr anchorCtr="0" anchor="ctr" bIns="0" lIns="0" spcFirstLastPara="1" rIns="0" wrap="square" tIns="0">
            <a:noAutofit/>
          </a:bodyPr>
          <a:lstStyle/>
          <a:p>
            <a:pPr indent="0" lvl="0" marL="0" marR="0" rtl="0" algn="l">
              <a:lnSpc>
                <a:spcPct val="143478"/>
              </a:lnSpc>
              <a:spcBef>
                <a:spcPts val="0"/>
              </a:spcBef>
              <a:spcAft>
                <a:spcPts val="0"/>
              </a:spcAft>
              <a:buClr>
                <a:srgbClr val="FFFFFF"/>
              </a:buClr>
              <a:buSzPts val="2300"/>
              <a:buFont typeface="Cambria"/>
              <a:buNone/>
            </a:pPr>
            <a:r>
              <a:rPr b="0" i="1" lang="en-US" sz="2300" u="none" cap="none" strike="noStrike">
                <a:solidFill>
                  <a:srgbClr val="FFFFFF"/>
                </a:solidFill>
                <a:latin typeface="Cambria"/>
                <a:ea typeface="Cambria"/>
                <a:cs typeface="Cambria"/>
                <a:sym typeface="Cambria"/>
              </a:rPr>
              <a:t>Como adaptar um modelo atualizando poucos parâmetros,</a:t>
            </a:r>
            <a:endParaRPr b="0" i="0" sz="2300" u="none" cap="none" strike="noStrike">
              <a:solidFill>
                <a:schemeClr val="dk1"/>
              </a:solidFill>
              <a:latin typeface="Calibri"/>
              <a:ea typeface="Calibri"/>
              <a:cs typeface="Calibri"/>
              <a:sym typeface="Calibri"/>
            </a:endParaRPr>
          </a:p>
          <a:p>
            <a:pPr indent="0" lvl="0" marL="0" marR="0" rtl="0" algn="l">
              <a:lnSpc>
                <a:spcPct val="143478"/>
              </a:lnSpc>
              <a:spcBef>
                <a:spcPts val="0"/>
              </a:spcBef>
              <a:spcAft>
                <a:spcPts val="0"/>
              </a:spcAft>
              <a:buClr>
                <a:srgbClr val="FFFFFF"/>
              </a:buClr>
              <a:buSzPts val="2300"/>
              <a:buFont typeface="Cambria"/>
              <a:buNone/>
            </a:pPr>
            <a:r>
              <a:rPr b="0" i="1" lang="en-US" sz="2300" u="none" cap="none" strike="noStrike">
                <a:solidFill>
                  <a:srgbClr val="FFFFFF"/>
                </a:solidFill>
                <a:latin typeface="Cambria"/>
                <a:ea typeface="Cambria"/>
                <a:cs typeface="Cambria"/>
                <a:sym typeface="Cambria"/>
              </a:rPr>
              <a:t>e quando essa economia ainda preserva uma comparação válida?</a:t>
            </a:r>
            <a:endParaRPr b="0" i="0" sz="2300" u="none" cap="none" strike="noStrike">
              <a:solidFill>
                <a:schemeClr val="dk1"/>
              </a:solidFill>
              <a:latin typeface="Calibri"/>
              <a:ea typeface="Calibri"/>
              <a:cs typeface="Calibri"/>
              <a:sym typeface="Calibri"/>
            </a:endParaRPr>
          </a:p>
        </p:txBody>
      </p:sp>
      <p:sp>
        <p:nvSpPr>
          <p:cNvPr id="141" name="Google Shape;141;p16"/>
          <p:cNvSpPr/>
          <p:nvPr/>
        </p:nvSpPr>
        <p:spPr>
          <a:xfrm>
            <a:off x="777240" y="2880360"/>
            <a:ext cx="3362858" cy="2834640"/>
          </a:xfrm>
          <a:prstGeom prst="roundRect">
            <a:avLst>
              <a:gd fmla="val 2581" name="adj"/>
            </a:avLst>
          </a:prstGeom>
          <a:solidFill>
            <a:srgbClr val="FBEFE1"/>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
          <p:cNvSpPr/>
          <p:nvPr/>
        </p:nvSpPr>
        <p:spPr>
          <a:xfrm>
            <a:off x="1051560" y="3127248"/>
            <a:ext cx="402336" cy="402336"/>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6"/>
          <p:cNvSpPr txBox="1"/>
          <p:nvPr/>
        </p:nvSpPr>
        <p:spPr>
          <a:xfrm>
            <a:off x="1051560" y="31272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144" name="Google Shape;144;p16"/>
          <p:cNvSpPr txBox="1"/>
          <p:nvPr/>
        </p:nvSpPr>
        <p:spPr>
          <a:xfrm>
            <a:off x="1581912" y="3054096"/>
            <a:ext cx="235701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900"/>
              <a:buFont typeface="Cambria"/>
              <a:buNone/>
            </a:pPr>
            <a:r>
              <a:rPr b="1" i="0" lang="en-US" sz="1900" u="none" cap="none" strike="noStrike">
                <a:solidFill>
                  <a:srgbClr val="0F1C2E"/>
                </a:solidFill>
                <a:latin typeface="Cambria"/>
                <a:ea typeface="Cambria"/>
                <a:cs typeface="Cambria"/>
                <a:sym typeface="Cambria"/>
              </a:rPr>
              <a:t>Economia</a:t>
            </a:r>
            <a:endParaRPr b="0" i="0" sz="1900" u="none" cap="none" strike="noStrike">
              <a:solidFill>
                <a:schemeClr val="dk1"/>
              </a:solidFill>
              <a:latin typeface="Calibri"/>
              <a:ea typeface="Calibri"/>
              <a:cs typeface="Calibri"/>
              <a:sym typeface="Calibri"/>
            </a:endParaRPr>
          </a:p>
        </p:txBody>
      </p:sp>
      <p:sp>
        <p:nvSpPr>
          <p:cNvPr id="145" name="Google Shape;145;p16"/>
          <p:cNvSpPr txBox="1"/>
          <p:nvPr/>
        </p:nvSpPr>
        <p:spPr>
          <a:xfrm>
            <a:off x="1051560" y="3730752"/>
            <a:ext cx="281421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300"/>
              <a:buFont typeface="Calibri"/>
              <a:buNone/>
            </a:pPr>
            <a:r>
              <a:rPr b="0" i="1" lang="en-US" sz="1300" u="none" cap="none" strike="noStrike">
                <a:solidFill>
                  <a:srgbClr val="A55A18"/>
                </a:solidFill>
                <a:latin typeface="Calibri"/>
                <a:ea typeface="Calibri"/>
                <a:cs typeface="Calibri"/>
                <a:sym typeface="Calibri"/>
              </a:rPr>
              <a:t>treinar uma fração</a:t>
            </a:r>
            <a:endParaRPr b="0" i="0" sz="1300" u="none" cap="none" strike="noStrike">
              <a:solidFill>
                <a:schemeClr val="dk1"/>
              </a:solidFill>
              <a:latin typeface="Calibri"/>
              <a:ea typeface="Calibri"/>
              <a:cs typeface="Calibri"/>
              <a:sym typeface="Calibri"/>
            </a:endParaRPr>
          </a:p>
        </p:txBody>
      </p:sp>
      <p:sp>
        <p:nvSpPr>
          <p:cNvPr id="146" name="Google Shape;146;p16"/>
          <p:cNvSpPr txBox="1"/>
          <p:nvPr/>
        </p:nvSpPr>
        <p:spPr>
          <a:xfrm>
            <a:off x="1051560" y="4059936"/>
            <a:ext cx="2814218" cy="1143000"/>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Congelar o modelo e treinar só um adapter reduz gradientes, estado do otimizador e o tamanho do que se salva.</a:t>
            </a:r>
            <a:endParaRPr b="0" i="0" sz="1350" u="none" cap="none" strike="noStrike">
              <a:solidFill>
                <a:schemeClr val="dk1"/>
              </a:solidFill>
              <a:latin typeface="Calibri"/>
              <a:ea typeface="Calibri"/>
              <a:cs typeface="Calibri"/>
              <a:sym typeface="Calibri"/>
            </a:endParaRPr>
          </a:p>
        </p:txBody>
      </p:sp>
      <p:sp>
        <p:nvSpPr>
          <p:cNvPr id="147" name="Google Shape;147;p16"/>
          <p:cNvSpPr txBox="1"/>
          <p:nvPr/>
        </p:nvSpPr>
        <p:spPr>
          <a:xfrm>
            <a:off x="1051560" y="5248656"/>
            <a:ext cx="281421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200"/>
              <a:buFont typeface="Consolas"/>
              <a:buNone/>
            </a:pPr>
            <a:r>
              <a:rPr b="0" i="0" lang="en-US" sz="1200" u="none" cap="none" strike="noStrike">
                <a:solidFill>
                  <a:srgbClr val="A55A18"/>
                </a:solidFill>
                <a:latin typeface="Consolas"/>
                <a:ea typeface="Consolas"/>
                <a:cs typeface="Consolas"/>
                <a:sym typeface="Consolas"/>
              </a:rPr>
              <a:t>12,4% dos pesos no nosso modelo</a:t>
            </a:r>
            <a:endParaRPr b="0" i="0" sz="1200" u="none" cap="none" strike="noStrike">
              <a:solidFill>
                <a:schemeClr val="dk1"/>
              </a:solidFill>
              <a:latin typeface="Calibri"/>
              <a:ea typeface="Calibri"/>
              <a:cs typeface="Calibri"/>
              <a:sym typeface="Calibri"/>
            </a:endParaRPr>
          </a:p>
        </p:txBody>
      </p:sp>
      <p:sp>
        <p:nvSpPr>
          <p:cNvPr id="148" name="Google Shape;148;p16"/>
          <p:cNvSpPr/>
          <p:nvPr/>
        </p:nvSpPr>
        <p:spPr>
          <a:xfrm>
            <a:off x="4414418" y="2880360"/>
            <a:ext cx="3362858" cy="2834640"/>
          </a:xfrm>
          <a:prstGeom prst="roundRect">
            <a:avLst>
              <a:gd fmla="val 2581" name="adj"/>
            </a:avLst>
          </a:prstGeom>
          <a:solidFill>
            <a:srgbClr val="E1F0ED"/>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6"/>
          <p:cNvSpPr/>
          <p:nvPr/>
        </p:nvSpPr>
        <p:spPr>
          <a:xfrm>
            <a:off x="4688738" y="3127248"/>
            <a:ext cx="402336" cy="402336"/>
          </a:xfrm>
          <a:prstGeom prst="ellipse">
            <a:avLst/>
          </a:prstGeom>
          <a:solidFill>
            <a:srgbClr val="17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6"/>
          <p:cNvSpPr txBox="1"/>
          <p:nvPr/>
        </p:nvSpPr>
        <p:spPr>
          <a:xfrm>
            <a:off x="4688738" y="31272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151" name="Google Shape;151;p16"/>
          <p:cNvSpPr txBox="1"/>
          <p:nvPr/>
        </p:nvSpPr>
        <p:spPr>
          <a:xfrm>
            <a:off x="5219090" y="3054096"/>
            <a:ext cx="235701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900"/>
              <a:buFont typeface="Cambria"/>
              <a:buNone/>
            </a:pPr>
            <a:r>
              <a:rPr b="1" i="0" lang="en-US" sz="1900" u="none" cap="none" strike="noStrike">
                <a:solidFill>
                  <a:srgbClr val="0F1C2E"/>
                </a:solidFill>
                <a:latin typeface="Cambria"/>
                <a:ea typeface="Cambria"/>
                <a:cs typeface="Cambria"/>
                <a:sym typeface="Cambria"/>
              </a:rPr>
              <a:t>Mecanismo</a:t>
            </a:r>
            <a:endParaRPr b="0" i="0" sz="1900" u="none" cap="none" strike="noStrike">
              <a:solidFill>
                <a:schemeClr val="dk1"/>
              </a:solidFill>
              <a:latin typeface="Calibri"/>
              <a:ea typeface="Calibri"/>
              <a:cs typeface="Calibri"/>
              <a:sym typeface="Calibri"/>
            </a:endParaRPr>
          </a:p>
        </p:txBody>
      </p:sp>
      <p:sp>
        <p:nvSpPr>
          <p:cNvPr id="152" name="Google Shape;152;p16"/>
          <p:cNvSpPr txBox="1"/>
          <p:nvPr/>
        </p:nvSpPr>
        <p:spPr>
          <a:xfrm>
            <a:off x="4688738" y="3730752"/>
            <a:ext cx="281421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5F55"/>
              </a:buClr>
              <a:buSzPts val="1300"/>
              <a:buFont typeface="Calibri"/>
              <a:buNone/>
            </a:pPr>
            <a:r>
              <a:rPr b="0" i="1" lang="en-US" sz="1300" u="none" cap="none" strike="noStrike">
                <a:solidFill>
                  <a:srgbClr val="0E5F55"/>
                </a:solidFill>
                <a:latin typeface="Calibri"/>
                <a:ea typeface="Calibri"/>
                <a:cs typeface="Calibri"/>
                <a:sym typeface="Calibri"/>
              </a:rPr>
              <a:t>um desvio de baixo rank</a:t>
            </a:r>
            <a:endParaRPr b="0" i="0" sz="1300" u="none" cap="none" strike="noStrike">
              <a:solidFill>
                <a:schemeClr val="dk1"/>
              </a:solidFill>
              <a:latin typeface="Calibri"/>
              <a:ea typeface="Calibri"/>
              <a:cs typeface="Calibri"/>
              <a:sym typeface="Calibri"/>
            </a:endParaRPr>
          </a:p>
        </p:txBody>
      </p:sp>
      <p:sp>
        <p:nvSpPr>
          <p:cNvPr id="153" name="Google Shape;153;p16"/>
          <p:cNvSpPr txBox="1"/>
          <p:nvPr/>
        </p:nvSpPr>
        <p:spPr>
          <a:xfrm>
            <a:off x="4688738" y="4059936"/>
            <a:ext cx="2814218" cy="1143000"/>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A LoRA soma a cada matriz congelada um desvio (α/r)·A·B, com A e B finas. A base fica intacta.</a:t>
            </a:r>
            <a:endParaRPr b="0" i="0" sz="1350" u="none" cap="none" strike="noStrike">
              <a:solidFill>
                <a:schemeClr val="dk1"/>
              </a:solidFill>
              <a:latin typeface="Calibri"/>
              <a:ea typeface="Calibri"/>
              <a:cs typeface="Calibri"/>
              <a:sym typeface="Calibri"/>
            </a:endParaRPr>
          </a:p>
        </p:txBody>
      </p:sp>
      <p:sp>
        <p:nvSpPr>
          <p:cNvPr id="154" name="Google Shape;154;p16"/>
          <p:cNvSpPr txBox="1"/>
          <p:nvPr/>
        </p:nvSpPr>
        <p:spPr>
          <a:xfrm>
            <a:off x="4688738" y="5248656"/>
            <a:ext cx="281421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5F55"/>
              </a:buClr>
              <a:buSzPts val="1200"/>
              <a:buFont typeface="Consolas"/>
              <a:buNone/>
            </a:pPr>
            <a:r>
              <a:rPr b="0" i="0" lang="en-US" sz="1200" u="none" cap="none" strike="noStrike">
                <a:solidFill>
                  <a:srgbClr val="0E5F55"/>
                </a:solidFill>
                <a:latin typeface="Consolas"/>
                <a:ea typeface="Consolas"/>
                <a:cs typeface="Consolas"/>
                <a:sym typeface="Consolas"/>
              </a:rPr>
              <a:t>W' = W + (α/r)·A·B</a:t>
            </a:r>
            <a:endParaRPr b="0" i="0" sz="1200" u="none" cap="none" strike="noStrike">
              <a:solidFill>
                <a:schemeClr val="dk1"/>
              </a:solidFill>
              <a:latin typeface="Calibri"/>
              <a:ea typeface="Calibri"/>
              <a:cs typeface="Calibri"/>
              <a:sym typeface="Calibri"/>
            </a:endParaRPr>
          </a:p>
        </p:txBody>
      </p:sp>
      <p:sp>
        <p:nvSpPr>
          <p:cNvPr id="155" name="Google Shape;155;p16"/>
          <p:cNvSpPr/>
          <p:nvPr/>
        </p:nvSpPr>
        <p:spPr>
          <a:xfrm>
            <a:off x="8051597" y="2880360"/>
            <a:ext cx="3362858" cy="2834640"/>
          </a:xfrm>
          <a:prstGeom prst="roundRect">
            <a:avLst>
              <a:gd fmla="val 2581" name="adj"/>
            </a:avLst>
          </a:prstGeom>
          <a:solidFill>
            <a:srgbClr val="F8E3E0"/>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6"/>
          <p:cNvSpPr/>
          <p:nvPr/>
        </p:nvSpPr>
        <p:spPr>
          <a:xfrm>
            <a:off x="8325917" y="3127248"/>
            <a:ext cx="402336" cy="402336"/>
          </a:xfrm>
          <a:prstGeom prst="ellipse">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txBox="1"/>
          <p:nvPr/>
        </p:nvSpPr>
        <p:spPr>
          <a:xfrm>
            <a:off x="8325917" y="31272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158" name="Google Shape;158;p16"/>
          <p:cNvSpPr txBox="1"/>
          <p:nvPr/>
        </p:nvSpPr>
        <p:spPr>
          <a:xfrm>
            <a:off x="8856269" y="3054096"/>
            <a:ext cx="235701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900"/>
              <a:buFont typeface="Cambria"/>
              <a:buNone/>
            </a:pPr>
            <a:r>
              <a:rPr b="1" i="0" lang="en-US" sz="1900" u="none" cap="none" strike="noStrike">
                <a:solidFill>
                  <a:srgbClr val="0F1C2E"/>
                </a:solidFill>
                <a:latin typeface="Cambria"/>
                <a:ea typeface="Cambria"/>
                <a:cs typeface="Cambria"/>
                <a:sym typeface="Cambria"/>
              </a:rPr>
              <a:t>Validade</a:t>
            </a:r>
            <a:endParaRPr b="0" i="0" sz="1900" u="none" cap="none" strike="noStrike">
              <a:solidFill>
                <a:schemeClr val="dk1"/>
              </a:solidFill>
              <a:latin typeface="Calibri"/>
              <a:ea typeface="Calibri"/>
              <a:cs typeface="Calibri"/>
              <a:sym typeface="Calibri"/>
            </a:endParaRPr>
          </a:p>
        </p:txBody>
      </p:sp>
      <p:sp>
        <p:nvSpPr>
          <p:cNvPr id="159" name="Google Shape;159;p16"/>
          <p:cNvSpPr txBox="1"/>
          <p:nvPr/>
        </p:nvSpPr>
        <p:spPr>
          <a:xfrm>
            <a:off x="8325917" y="3730752"/>
            <a:ext cx="281421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300"/>
              <a:buFont typeface="Calibri"/>
              <a:buNone/>
            </a:pPr>
            <a:r>
              <a:rPr b="0" i="1" lang="en-US" sz="1300" u="none" cap="none" strike="noStrike">
                <a:solidFill>
                  <a:srgbClr val="C0392B"/>
                </a:solidFill>
                <a:latin typeface="Calibri"/>
                <a:ea typeface="Calibri"/>
                <a:cs typeface="Calibri"/>
                <a:sym typeface="Calibri"/>
              </a:rPr>
              <a:t>comparar com a mesma régua</a:t>
            </a:r>
            <a:endParaRPr b="0" i="0" sz="1300" u="none" cap="none" strike="noStrike">
              <a:solidFill>
                <a:schemeClr val="dk1"/>
              </a:solidFill>
              <a:latin typeface="Calibri"/>
              <a:ea typeface="Calibri"/>
              <a:cs typeface="Calibri"/>
              <a:sym typeface="Calibri"/>
            </a:endParaRPr>
          </a:p>
        </p:txBody>
      </p:sp>
      <p:sp>
        <p:nvSpPr>
          <p:cNvPr id="160" name="Google Shape;160;p16"/>
          <p:cNvSpPr txBox="1"/>
          <p:nvPr/>
        </p:nvSpPr>
        <p:spPr>
          <a:xfrm>
            <a:off x="8325917" y="4059936"/>
            <a:ext cx="2814218" cy="1143000"/>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Cada método precisa da sua busca de hiperparâmetros, escolhida na validação, e do 'antes' certo.</a:t>
            </a:r>
            <a:endParaRPr b="0" i="0" sz="1350" u="none" cap="none" strike="noStrike">
              <a:solidFill>
                <a:schemeClr val="dk1"/>
              </a:solidFill>
              <a:latin typeface="Calibri"/>
              <a:ea typeface="Calibri"/>
              <a:cs typeface="Calibri"/>
              <a:sym typeface="Calibri"/>
            </a:endParaRPr>
          </a:p>
        </p:txBody>
      </p:sp>
      <p:sp>
        <p:nvSpPr>
          <p:cNvPr id="161" name="Google Shape;161;p16"/>
          <p:cNvSpPr txBox="1"/>
          <p:nvPr/>
        </p:nvSpPr>
        <p:spPr>
          <a:xfrm>
            <a:off x="8325917" y="5248656"/>
            <a:ext cx="281421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onsolas"/>
              <a:buNone/>
            </a:pPr>
            <a:r>
              <a:rPr b="0" i="0" lang="en-US" sz="1200" u="none" cap="none" strike="noStrike">
                <a:solidFill>
                  <a:srgbClr val="C0392B"/>
                </a:solidFill>
                <a:latin typeface="Consolas"/>
                <a:ea typeface="Consolas"/>
                <a:cs typeface="Consolas"/>
                <a:sym typeface="Consolas"/>
              </a:rPr>
              <a:t>taxa única inverte a conclusão</a:t>
            </a:r>
            <a:endParaRPr b="0" i="0" sz="1200" u="none" cap="none" strike="noStrike">
              <a:solidFill>
                <a:schemeClr val="dk1"/>
              </a:solidFill>
              <a:latin typeface="Calibri"/>
              <a:ea typeface="Calibri"/>
              <a:cs typeface="Calibri"/>
              <a:sym typeface="Calibri"/>
            </a:endParaRPr>
          </a:p>
        </p:txBody>
      </p:sp>
      <p:sp>
        <p:nvSpPr>
          <p:cNvPr id="162" name="Google Shape;162;p16"/>
          <p:cNvSpPr txBox="1"/>
          <p:nvPr/>
        </p:nvSpPr>
        <p:spPr>
          <a:xfrm>
            <a:off x="777240" y="5870448"/>
            <a:ext cx="10637215"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1200"/>
              <a:buFont typeface="Calibri"/>
              <a:buNone/>
            </a:pPr>
            <a:r>
              <a:rPr b="0" i="1" lang="en-US" sz="1200" u="none" cap="none" strike="noStrike">
                <a:solidFill>
                  <a:srgbClr val="8494A6"/>
                </a:solidFill>
                <a:latin typeface="Calibri"/>
                <a:ea typeface="Calibri"/>
                <a:cs typeface="Calibri"/>
                <a:sym typeface="Calibri"/>
              </a:rPr>
              <a:t>As duas metades da pergunta organizam a seção 3: primeiro o mecanismo e o custo, depois a régua.</a:t>
            </a:r>
            <a:endParaRPr b="0" i="0" sz="1200" u="none" cap="none" strike="noStrike">
              <a:solidFill>
                <a:schemeClr val="dk1"/>
              </a:solidFill>
              <a:latin typeface="Calibri"/>
              <a:ea typeface="Calibri"/>
              <a:cs typeface="Calibri"/>
              <a:sym typeface="Calibri"/>
            </a:endParaRPr>
          </a:p>
        </p:txBody>
      </p:sp>
      <p:sp>
        <p:nvSpPr>
          <p:cNvPr id="163" name="Google Shape;163;p16"/>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7"/>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A LoRA já apareceu na semana 6</a:t>
            </a:r>
            <a:endParaRPr sz="3100"/>
          </a:p>
        </p:txBody>
      </p:sp>
      <p:sp>
        <p:nvSpPr>
          <p:cNvPr id="170" name="Google Shape;170;p17"/>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No experimento da outra equipe, uma linha de configuração decidia o ajuste. Hoje explicamos cada número dela.</a:t>
            </a:r>
            <a:endParaRPr b="0" i="0" sz="1450" u="none" cap="none" strike="noStrike">
              <a:solidFill>
                <a:schemeClr val="dk1"/>
              </a:solidFill>
              <a:latin typeface="Calibri"/>
              <a:ea typeface="Calibri"/>
              <a:cs typeface="Calibri"/>
              <a:sym typeface="Calibri"/>
            </a:endParaRPr>
          </a:p>
        </p:txBody>
      </p:sp>
      <p:sp>
        <p:nvSpPr>
          <p:cNvPr id="171" name="Google Shape;171;p17"/>
          <p:cNvSpPr/>
          <p:nvPr/>
        </p:nvSpPr>
        <p:spPr>
          <a:xfrm>
            <a:off x="777240" y="1828800"/>
            <a:ext cx="5852160" cy="2103120"/>
          </a:xfrm>
          <a:prstGeom prst="roundRect">
            <a:avLst>
              <a:gd fmla="val 3478" name="adj"/>
            </a:avLst>
          </a:prstGeom>
          <a:solidFill>
            <a:srgbClr val="0F1C2E"/>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txBox="1"/>
          <p:nvPr/>
        </p:nvSpPr>
        <p:spPr>
          <a:xfrm>
            <a:off x="1097280" y="1828800"/>
            <a:ext cx="5394960" cy="210312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8FA3B7"/>
              </a:buClr>
              <a:buSzPts val="1400"/>
              <a:buFont typeface="Consolas"/>
              <a:buNone/>
            </a:pPr>
            <a:r>
              <a:rPr b="0" i="0" lang="en-US" sz="1400" u="none" cap="none" strike="noStrike">
                <a:solidFill>
                  <a:srgbClr val="8FA3B7"/>
                </a:solidFill>
                <a:latin typeface="Consolas"/>
                <a:ea typeface="Consolas"/>
                <a:cs typeface="Consolas"/>
                <a:sym typeface="Consolas"/>
              </a:rPr>
              <a:t>model</a:t>
            </a:r>
            <a:r>
              <a:rPr b="0" i="0" lang="en-US" sz="1400" u="none" cap="none" strike="noStrike">
                <a:solidFill>
                  <a:srgbClr val="DCE6F0"/>
                </a:solidFill>
                <a:latin typeface="Consolas"/>
                <a:ea typeface="Consolas"/>
                <a:cs typeface="Consolas"/>
                <a:sym typeface="Consolas"/>
              </a:rPr>
              <a:t> = "Qwen/Qwen2.5-0.5B-Instruct"</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8FA3B7"/>
              </a:buClr>
              <a:buSzPts val="1400"/>
              <a:buFont typeface="Consolas"/>
              <a:buNone/>
            </a:pPr>
            <a:r>
              <a:rPr b="0" i="0" lang="en-US" sz="1400" u="none" cap="none" strike="noStrike">
                <a:solidFill>
                  <a:srgbClr val="8FA3B7"/>
                </a:solidFill>
                <a:latin typeface="Consolas"/>
                <a:ea typeface="Consolas"/>
                <a:cs typeface="Consolas"/>
                <a:sym typeface="Consolas"/>
              </a:rPr>
              <a:t>lora</a:t>
            </a:r>
            <a:r>
              <a:rPr b="0" i="0" lang="en-US" sz="1400" u="none" cap="none" strike="noStrike">
                <a:solidFill>
                  <a:srgbClr val="DCE6F0"/>
                </a:solidFill>
                <a:latin typeface="Consolas"/>
                <a:ea typeface="Consolas"/>
                <a:cs typeface="Consolas"/>
                <a:sym typeface="Consolas"/>
              </a:rPr>
              <a:t> = dict(r=16, alpha=32,</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DCE6F0"/>
              </a:buClr>
              <a:buSzPts val="1400"/>
              <a:buFont typeface="Consolas"/>
              <a:buNone/>
            </a:pPr>
            <a:r>
              <a:rPr b="0" i="0" lang="en-US" sz="1400" u="none" cap="none" strike="noStrike">
                <a:solidFill>
                  <a:srgbClr val="DCE6F0"/>
                </a:solidFill>
                <a:latin typeface="Consolas"/>
                <a:ea typeface="Consolas"/>
                <a:cs typeface="Consolas"/>
                <a:sym typeface="Consolas"/>
              </a:rPr>
              <a:t>            dropout=0.05,</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DCE6F0"/>
              </a:buClr>
              <a:buSzPts val="1400"/>
              <a:buFont typeface="Consolas"/>
              <a:buNone/>
            </a:pPr>
            <a:r>
              <a:rPr b="0" i="0" lang="en-US" sz="1400" u="none" cap="none" strike="noStrike">
                <a:solidFill>
                  <a:srgbClr val="DCE6F0"/>
                </a:solidFill>
                <a:latin typeface="Consolas"/>
                <a:ea typeface="Consolas"/>
                <a:cs typeface="Consolas"/>
                <a:sym typeface="Consolas"/>
              </a:rPr>
              <a:t>            target=["q_proj", "k_proj",</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DCE6F0"/>
              </a:buClr>
              <a:buSzPts val="1400"/>
              <a:buFont typeface="Consolas"/>
              <a:buNone/>
            </a:pPr>
            <a:r>
              <a:rPr b="0" i="0" lang="en-US" sz="1400" u="none" cap="none" strike="noStrike">
                <a:solidFill>
                  <a:srgbClr val="DCE6F0"/>
                </a:solidFill>
                <a:latin typeface="Consolas"/>
                <a:ea typeface="Consolas"/>
                <a:cs typeface="Consolas"/>
                <a:sym typeface="Consolas"/>
              </a:rPr>
              <a:t>                    "v_proj", "o_proj"])</a:t>
            </a:r>
            <a:endParaRPr b="0" i="0" sz="14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8FA3B7"/>
              </a:buClr>
              <a:buSzPts val="1400"/>
              <a:buFont typeface="Consolas"/>
              <a:buNone/>
            </a:pPr>
            <a:r>
              <a:rPr b="0" i="0" lang="en-US" sz="1400" u="none" cap="none" strike="noStrike">
                <a:solidFill>
                  <a:srgbClr val="8FA3B7"/>
                </a:solidFill>
                <a:latin typeface="Consolas"/>
                <a:ea typeface="Consolas"/>
                <a:cs typeface="Consolas"/>
                <a:sym typeface="Consolas"/>
              </a:rPr>
              <a:t>lr</a:t>
            </a:r>
            <a:r>
              <a:rPr b="0" i="0" lang="en-US" sz="1400" u="none" cap="none" strike="noStrike">
                <a:solidFill>
                  <a:srgbClr val="DCE6F0"/>
                </a:solidFill>
                <a:latin typeface="Consolas"/>
                <a:ea typeface="Consolas"/>
                <a:cs typeface="Consolas"/>
                <a:sym typeface="Consolas"/>
              </a:rPr>
              <a:t> = 2e-4</a:t>
            </a:r>
            <a:endParaRPr b="0" i="0" sz="1400" u="none" cap="none" strike="noStrike">
              <a:solidFill>
                <a:schemeClr val="dk1"/>
              </a:solidFill>
              <a:latin typeface="Calibri"/>
              <a:ea typeface="Calibri"/>
              <a:cs typeface="Calibri"/>
              <a:sym typeface="Calibri"/>
            </a:endParaRPr>
          </a:p>
        </p:txBody>
      </p:sp>
      <p:sp>
        <p:nvSpPr>
          <p:cNvPr id="173" name="Google Shape;173;p17"/>
          <p:cNvSpPr txBox="1"/>
          <p:nvPr/>
        </p:nvSpPr>
        <p:spPr>
          <a:xfrm>
            <a:off x="777240" y="3986784"/>
            <a:ext cx="5852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1100"/>
              <a:buFont typeface="Calibri"/>
              <a:buNone/>
            </a:pPr>
            <a:r>
              <a:rPr b="0" i="1" lang="en-US" sz="1100" u="none" cap="none" strike="noStrike">
                <a:solidFill>
                  <a:srgbClr val="8494A6"/>
                </a:solidFill>
                <a:latin typeface="Calibri"/>
                <a:ea typeface="Calibri"/>
                <a:cs typeface="Calibri"/>
                <a:sym typeface="Calibri"/>
              </a:rPr>
              <a:t>trecho do notebook da semana 6 (equipe de benchmarks)</a:t>
            </a:r>
            <a:endParaRPr b="0" i="0" sz="1100" u="none" cap="none" strike="noStrike">
              <a:solidFill>
                <a:schemeClr val="dk1"/>
              </a:solidFill>
              <a:latin typeface="Calibri"/>
              <a:ea typeface="Calibri"/>
              <a:cs typeface="Calibri"/>
              <a:sym typeface="Calibri"/>
            </a:endParaRPr>
          </a:p>
        </p:txBody>
      </p:sp>
      <p:sp>
        <p:nvSpPr>
          <p:cNvPr id="174" name="Google Shape;174;p17"/>
          <p:cNvSpPr/>
          <p:nvPr/>
        </p:nvSpPr>
        <p:spPr>
          <a:xfrm>
            <a:off x="6995160" y="1865376"/>
            <a:ext cx="1417320" cy="365760"/>
          </a:xfrm>
          <a:prstGeom prst="roundRect">
            <a:avLst>
              <a:gd fmla="val 15000" name="adj"/>
            </a:avLst>
          </a:prstGeom>
          <a:solidFill>
            <a:srgbClr val="FBEFE1"/>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
          <p:cNvSpPr txBox="1"/>
          <p:nvPr/>
        </p:nvSpPr>
        <p:spPr>
          <a:xfrm>
            <a:off x="6995160" y="1865376"/>
            <a:ext cx="1417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1200"/>
              <a:buFont typeface="Consolas"/>
              <a:buNone/>
            </a:pPr>
            <a:r>
              <a:rPr b="0" i="0" lang="en-US" sz="1200" u="none" cap="none" strike="noStrike">
                <a:solidFill>
                  <a:srgbClr val="A55A18"/>
                </a:solidFill>
                <a:latin typeface="Consolas"/>
                <a:ea typeface="Consolas"/>
                <a:cs typeface="Consolas"/>
                <a:sym typeface="Consolas"/>
              </a:rPr>
              <a:t>r=16</a:t>
            </a:r>
            <a:endParaRPr b="0" i="0" sz="1200" u="none" cap="none" strike="noStrike">
              <a:solidFill>
                <a:schemeClr val="dk1"/>
              </a:solidFill>
              <a:latin typeface="Calibri"/>
              <a:ea typeface="Calibri"/>
              <a:cs typeface="Calibri"/>
              <a:sym typeface="Calibri"/>
            </a:endParaRPr>
          </a:p>
        </p:txBody>
      </p:sp>
      <p:sp>
        <p:nvSpPr>
          <p:cNvPr id="176" name="Google Shape;176;p17"/>
          <p:cNvSpPr txBox="1"/>
          <p:nvPr/>
        </p:nvSpPr>
        <p:spPr>
          <a:xfrm>
            <a:off x="8549640" y="1810512"/>
            <a:ext cx="2864815" cy="50292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quantos parâmetros o adapter tem e o posto máximo do desvio</a:t>
            </a:r>
            <a:endParaRPr b="0" i="0" sz="1250" u="none" cap="none" strike="noStrike">
              <a:solidFill>
                <a:schemeClr val="dk1"/>
              </a:solidFill>
              <a:latin typeface="Calibri"/>
              <a:ea typeface="Calibri"/>
              <a:cs typeface="Calibri"/>
              <a:sym typeface="Calibri"/>
            </a:endParaRPr>
          </a:p>
        </p:txBody>
      </p:sp>
      <p:sp>
        <p:nvSpPr>
          <p:cNvPr id="177" name="Google Shape;177;p17"/>
          <p:cNvSpPr/>
          <p:nvPr/>
        </p:nvSpPr>
        <p:spPr>
          <a:xfrm>
            <a:off x="6995160" y="2432304"/>
            <a:ext cx="1417320" cy="365760"/>
          </a:xfrm>
          <a:prstGeom prst="roundRect">
            <a:avLst>
              <a:gd fmla="val 15000" name="adj"/>
            </a:avLst>
          </a:prstGeom>
          <a:solidFill>
            <a:srgbClr val="FBEFE1"/>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
          <p:cNvSpPr txBox="1"/>
          <p:nvPr/>
        </p:nvSpPr>
        <p:spPr>
          <a:xfrm>
            <a:off x="6995160" y="2432304"/>
            <a:ext cx="1417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1200"/>
              <a:buFont typeface="Consolas"/>
              <a:buNone/>
            </a:pPr>
            <a:r>
              <a:rPr b="0" i="0" lang="en-US" sz="1200" u="none" cap="none" strike="noStrike">
                <a:solidFill>
                  <a:srgbClr val="A55A18"/>
                </a:solidFill>
                <a:latin typeface="Consolas"/>
                <a:ea typeface="Consolas"/>
                <a:cs typeface="Consolas"/>
                <a:sym typeface="Consolas"/>
              </a:rPr>
              <a:t>alpha=32</a:t>
            </a:r>
            <a:endParaRPr b="0" i="0" sz="1200" u="none" cap="none" strike="noStrike">
              <a:solidFill>
                <a:schemeClr val="dk1"/>
              </a:solidFill>
              <a:latin typeface="Calibri"/>
              <a:ea typeface="Calibri"/>
              <a:cs typeface="Calibri"/>
              <a:sym typeface="Calibri"/>
            </a:endParaRPr>
          </a:p>
        </p:txBody>
      </p:sp>
      <p:sp>
        <p:nvSpPr>
          <p:cNvPr id="179" name="Google Shape;179;p17"/>
          <p:cNvSpPr txBox="1"/>
          <p:nvPr/>
        </p:nvSpPr>
        <p:spPr>
          <a:xfrm>
            <a:off x="8549640" y="2377440"/>
            <a:ext cx="2864815" cy="50292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a escala α/r = 2 do desvio, ligada à taxa</a:t>
            </a:r>
            <a:endParaRPr b="0" i="0" sz="1250" u="none" cap="none" strike="noStrike">
              <a:solidFill>
                <a:schemeClr val="dk1"/>
              </a:solidFill>
              <a:latin typeface="Calibri"/>
              <a:ea typeface="Calibri"/>
              <a:cs typeface="Calibri"/>
              <a:sym typeface="Calibri"/>
            </a:endParaRPr>
          </a:p>
        </p:txBody>
      </p:sp>
      <p:sp>
        <p:nvSpPr>
          <p:cNvPr id="180" name="Google Shape;180;p17"/>
          <p:cNvSpPr/>
          <p:nvPr/>
        </p:nvSpPr>
        <p:spPr>
          <a:xfrm>
            <a:off x="6995160" y="2999232"/>
            <a:ext cx="1417320" cy="365760"/>
          </a:xfrm>
          <a:prstGeom prst="roundRect">
            <a:avLst>
              <a:gd fmla="val 15000" name="adj"/>
            </a:avLst>
          </a:prstGeom>
          <a:solidFill>
            <a:srgbClr val="FBEFE1"/>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7"/>
          <p:cNvSpPr txBox="1"/>
          <p:nvPr/>
        </p:nvSpPr>
        <p:spPr>
          <a:xfrm>
            <a:off x="6995160" y="2999232"/>
            <a:ext cx="1417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1200"/>
              <a:buFont typeface="Consolas"/>
              <a:buNone/>
            </a:pPr>
            <a:r>
              <a:rPr b="0" i="0" lang="en-US" sz="1200" u="none" cap="none" strike="noStrike">
                <a:solidFill>
                  <a:srgbClr val="A55A18"/>
                </a:solidFill>
                <a:latin typeface="Consolas"/>
                <a:ea typeface="Consolas"/>
                <a:cs typeface="Consolas"/>
                <a:sym typeface="Consolas"/>
              </a:rPr>
              <a:t>dropout=0.05</a:t>
            </a:r>
            <a:endParaRPr b="0" i="0" sz="1200" u="none" cap="none" strike="noStrike">
              <a:solidFill>
                <a:schemeClr val="dk1"/>
              </a:solidFill>
              <a:latin typeface="Calibri"/>
              <a:ea typeface="Calibri"/>
              <a:cs typeface="Calibri"/>
              <a:sym typeface="Calibri"/>
            </a:endParaRPr>
          </a:p>
        </p:txBody>
      </p:sp>
      <p:sp>
        <p:nvSpPr>
          <p:cNvPr id="182" name="Google Shape;182;p17"/>
          <p:cNvSpPr txBox="1"/>
          <p:nvPr/>
        </p:nvSpPr>
        <p:spPr>
          <a:xfrm>
            <a:off x="8549640" y="2944368"/>
            <a:ext cx="2864815" cy="50292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ruído só no caminho do adapter, no treino</a:t>
            </a:r>
            <a:endParaRPr b="0" i="0" sz="1250" u="none" cap="none" strike="noStrike">
              <a:solidFill>
                <a:schemeClr val="dk1"/>
              </a:solidFill>
              <a:latin typeface="Calibri"/>
              <a:ea typeface="Calibri"/>
              <a:cs typeface="Calibri"/>
              <a:sym typeface="Calibri"/>
            </a:endParaRPr>
          </a:p>
        </p:txBody>
      </p:sp>
      <p:sp>
        <p:nvSpPr>
          <p:cNvPr id="183" name="Google Shape;183;p17"/>
          <p:cNvSpPr/>
          <p:nvPr/>
        </p:nvSpPr>
        <p:spPr>
          <a:xfrm>
            <a:off x="6995160" y="3566160"/>
            <a:ext cx="1417320" cy="365760"/>
          </a:xfrm>
          <a:prstGeom prst="roundRect">
            <a:avLst>
              <a:gd fmla="val 15000" name="adj"/>
            </a:avLst>
          </a:prstGeom>
          <a:solidFill>
            <a:srgbClr val="FBEFE1"/>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7"/>
          <p:cNvSpPr txBox="1"/>
          <p:nvPr/>
        </p:nvSpPr>
        <p:spPr>
          <a:xfrm>
            <a:off x="6995160" y="3566160"/>
            <a:ext cx="1417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1200"/>
              <a:buFont typeface="Consolas"/>
              <a:buNone/>
            </a:pPr>
            <a:r>
              <a:rPr b="0" i="0" lang="en-US" sz="1200" u="none" cap="none" strike="noStrike">
                <a:solidFill>
                  <a:srgbClr val="A55A18"/>
                </a:solidFill>
                <a:latin typeface="Consolas"/>
                <a:ea typeface="Consolas"/>
                <a:cs typeface="Consolas"/>
                <a:sym typeface="Consolas"/>
              </a:rPr>
              <a:t>q, k, v, o</a:t>
            </a:r>
            <a:endParaRPr b="0" i="0" sz="1200" u="none" cap="none" strike="noStrike">
              <a:solidFill>
                <a:schemeClr val="dk1"/>
              </a:solidFill>
              <a:latin typeface="Calibri"/>
              <a:ea typeface="Calibri"/>
              <a:cs typeface="Calibri"/>
              <a:sym typeface="Calibri"/>
            </a:endParaRPr>
          </a:p>
        </p:txBody>
      </p:sp>
      <p:sp>
        <p:nvSpPr>
          <p:cNvPr id="185" name="Google Shape;185;p17"/>
          <p:cNvSpPr txBox="1"/>
          <p:nvPr/>
        </p:nvSpPr>
        <p:spPr>
          <a:xfrm>
            <a:off x="8549640" y="3511296"/>
            <a:ext cx="2864815" cy="50292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os módulos-alvo: só a atenção</a:t>
            </a:r>
            <a:endParaRPr b="0" i="0" sz="1250" u="none" cap="none" strike="noStrike">
              <a:solidFill>
                <a:schemeClr val="dk1"/>
              </a:solidFill>
              <a:latin typeface="Calibri"/>
              <a:ea typeface="Calibri"/>
              <a:cs typeface="Calibri"/>
              <a:sym typeface="Calibri"/>
            </a:endParaRPr>
          </a:p>
        </p:txBody>
      </p:sp>
      <p:sp>
        <p:nvSpPr>
          <p:cNvPr id="186" name="Google Shape;186;p17"/>
          <p:cNvSpPr/>
          <p:nvPr/>
        </p:nvSpPr>
        <p:spPr>
          <a:xfrm>
            <a:off x="6995160" y="4133088"/>
            <a:ext cx="1417320" cy="365760"/>
          </a:xfrm>
          <a:prstGeom prst="roundRect">
            <a:avLst>
              <a:gd fmla="val 15000" name="adj"/>
            </a:avLst>
          </a:prstGeom>
          <a:solidFill>
            <a:srgbClr val="FBEFE1"/>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
          <p:cNvSpPr txBox="1"/>
          <p:nvPr/>
        </p:nvSpPr>
        <p:spPr>
          <a:xfrm>
            <a:off x="6995160" y="4133088"/>
            <a:ext cx="1417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1200"/>
              <a:buFont typeface="Consolas"/>
              <a:buNone/>
            </a:pPr>
            <a:r>
              <a:rPr b="0" i="0" lang="en-US" sz="1200" u="none" cap="none" strike="noStrike">
                <a:solidFill>
                  <a:srgbClr val="A55A18"/>
                </a:solidFill>
                <a:latin typeface="Consolas"/>
                <a:ea typeface="Consolas"/>
                <a:cs typeface="Consolas"/>
                <a:sym typeface="Consolas"/>
              </a:rPr>
              <a:t>lr=2e-4</a:t>
            </a:r>
            <a:endParaRPr b="0" i="0" sz="1200" u="none" cap="none" strike="noStrike">
              <a:solidFill>
                <a:schemeClr val="dk1"/>
              </a:solidFill>
              <a:latin typeface="Calibri"/>
              <a:ea typeface="Calibri"/>
              <a:cs typeface="Calibri"/>
              <a:sym typeface="Calibri"/>
            </a:endParaRPr>
          </a:p>
        </p:txBody>
      </p:sp>
      <p:sp>
        <p:nvSpPr>
          <p:cNvPr id="188" name="Google Shape;188;p17"/>
          <p:cNvSpPr txBox="1"/>
          <p:nvPr/>
        </p:nvSpPr>
        <p:spPr>
          <a:xfrm>
            <a:off x="8549640" y="4078224"/>
            <a:ext cx="2864815" cy="50292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a taxa: cada método precisa da sua própria busca</a:t>
            </a:r>
            <a:endParaRPr b="0" i="0" sz="1250" u="none" cap="none" strike="noStrike">
              <a:solidFill>
                <a:schemeClr val="dk1"/>
              </a:solidFill>
              <a:latin typeface="Calibri"/>
              <a:ea typeface="Calibri"/>
              <a:cs typeface="Calibri"/>
              <a:sym typeface="Calibri"/>
            </a:endParaRPr>
          </a:p>
        </p:txBody>
      </p:sp>
      <p:sp>
        <p:nvSpPr>
          <p:cNvPr id="189" name="Google Shape;189;p17"/>
          <p:cNvSpPr/>
          <p:nvPr/>
        </p:nvSpPr>
        <p:spPr>
          <a:xfrm>
            <a:off x="777240" y="4709160"/>
            <a:ext cx="10637215" cy="1097280"/>
          </a:xfrm>
          <a:prstGeom prst="roundRect">
            <a:avLst>
              <a:gd fmla="val 6667" name="adj"/>
            </a:avLst>
          </a:prstGeom>
          <a:solidFill>
            <a:srgbClr val="E1F0ED"/>
          </a:solidFill>
          <a:ln cap="flat" cmpd="sng" w="15225">
            <a:solidFill>
              <a:srgbClr val="17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7"/>
          <p:cNvSpPr txBox="1"/>
          <p:nvPr/>
        </p:nvSpPr>
        <p:spPr>
          <a:xfrm>
            <a:off x="1051560" y="480060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5F55"/>
              </a:buClr>
              <a:buSzPts val="1350"/>
              <a:buFont typeface="Calibri"/>
              <a:buNone/>
            </a:pPr>
            <a:r>
              <a:rPr b="1" i="0" lang="en-US" sz="1350" u="none" cap="none" strike="noStrike">
                <a:solidFill>
                  <a:srgbClr val="0E5F55"/>
                </a:solidFill>
                <a:latin typeface="Calibri"/>
                <a:ea typeface="Calibri"/>
                <a:cs typeface="Calibri"/>
                <a:sym typeface="Calibri"/>
              </a:rPr>
              <a:t>Quanto essa linha treina?</a:t>
            </a:r>
            <a:endParaRPr b="0" i="0" sz="1350" u="none" cap="none" strike="noStrike">
              <a:solidFill>
                <a:schemeClr val="dk1"/>
              </a:solidFill>
              <a:latin typeface="Calibri"/>
              <a:ea typeface="Calibri"/>
              <a:cs typeface="Calibri"/>
              <a:sym typeface="Calibri"/>
            </a:endParaRPr>
          </a:p>
        </p:txBody>
      </p:sp>
      <p:sp>
        <p:nvSpPr>
          <p:cNvPr id="191" name="Google Shape;191;p17"/>
          <p:cNvSpPr txBox="1"/>
          <p:nvPr/>
        </p:nvSpPr>
        <p:spPr>
          <a:xfrm>
            <a:off x="1051560" y="5102352"/>
            <a:ext cx="10088575" cy="640080"/>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Com 24 camadas, q e o de 896×896 e k e v de 896×128: 16 × (896+896+896+128+896+128+896+896) × 24 = 2.162.688 parâmetros, ou 0,4% dos 494.032.768 do modelo.</a:t>
            </a:r>
            <a:endParaRPr b="0" i="0" sz="1350" u="none" cap="none" strike="noStrike">
              <a:solidFill>
                <a:schemeClr val="dk1"/>
              </a:solidFill>
              <a:latin typeface="Calibri"/>
              <a:ea typeface="Calibri"/>
              <a:cs typeface="Calibri"/>
              <a:sym typeface="Calibri"/>
            </a:endParaRPr>
          </a:p>
        </p:txBody>
      </p:sp>
      <p:sp>
        <p:nvSpPr>
          <p:cNvPr id="192" name="Google Shape;192;p17"/>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nvSpPr>
        <p:spPr>
          <a:xfrm>
            <a:off x="777240" y="1783080"/>
            <a:ext cx="146304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9600"/>
              <a:buFont typeface="Cambria"/>
              <a:buNone/>
            </a:pPr>
            <a:r>
              <a:rPr b="1" i="0" lang="en-US" sz="9600" u="none" cap="none" strike="noStrike">
                <a:solidFill>
                  <a:srgbClr val="E08A3C"/>
                </a:solidFill>
                <a:latin typeface="Cambria"/>
                <a:ea typeface="Cambria"/>
                <a:cs typeface="Cambria"/>
                <a:sym typeface="Cambria"/>
              </a:rPr>
              <a:t>2</a:t>
            </a:r>
            <a:endParaRPr b="0" i="0" sz="9600" u="none" cap="none" strike="noStrike">
              <a:solidFill>
                <a:schemeClr val="dk1"/>
              </a:solidFill>
              <a:latin typeface="Calibri"/>
              <a:ea typeface="Calibri"/>
              <a:cs typeface="Calibri"/>
              <a:sym typeface="Calibri"/>
            </a:endParaRPr>
          </a:p>
        </p:txBody>
      </p:sp>
      <p:sp>
        <p:nvSpPr>
          <p:cNvPr id="199" name="Google Shape;199;p18"/>
          <p:cNvSpPr txBox="1"/>
          <p:nvPr>
            <p:ph type="title"/>
          </p:nvPr>
        </p:nvSpPr>
        <p:spPr>
          <a:xfrm>
            <a:off x="2377440" y="2011680"/>
            <a:ext cx="6583680" cy="73152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FFFFFF"/>
              </a:buClr>
              <a:buSzPts val="3600"/>
              <a:buFont typeface="Cambria"/>
              <a:buNone/>
            </a:pPr>
            <a:r>
              <a:rPr b="1" lang="en-US" sz="3600">
                <a:solidFill>
                  <a:srgbClr val="FFFFFF"/>
                </a:solidFill>
                <a:latin typeface="Cambria"/>
                <a:ea typeface="Cambria"/>
                <a:cs typeface="Cambria"/>
                <a:sym typeface="Cambria"/>
              </a:rPr>
              <a:t>Intuição e mapa conceitual</a:t>
            </a:r>
            <a:endParaRPr sz="3600"/>
          </a:p>
        </p:txBody>
      </p:sp>
      <p:sp>
        <p:nvSpPr>
          <p:cNvPr id="200" name="Google Shape;200;p18"/>
          <p:cNvSpPr txBox="1"/>
          <p:nvPr/>
        </p:nvSpPr>
        <p:spPr>
          <a:xfrm>
            <a:off x="2404872" y="2761488"/>
            <a:ext cx="65836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BACB"/>
              </a:buClr>
              <a:buSzPts val="1500"/>
              <a:buFont typeface="Calibri"/>
              <a:buNone/>
            </a:pPr>
            <a:r>
              <a:rPr b="0" i="0" lang="en-US" sz="1500" u="none" cap="none" strike="noStrike">
                <a:solidFill>
                  <a:srgbClr val="A9BACB"/>
                </a:solidFill>
                <a:latin typeface="Calibri"/>
                <a:ea typeface="Calibri"/>
                <a:cs typeface="Calibri"/>
                <a:sym typeface="Calibri"/>
              </a:rPr>
              <a:t>As famílias de PEFT e por que um desvio de baixo rank basta.</a:t>
            </a:r>
            <a:endParaRPr b="0" i="0" sz="1500" u="none" cap="none" strike="noStrike">
              <a:solidFill>
                <a:schemeClr val="dk1"/>
              </a:solidFill>
              <a:latin typeface="Calibri"/>
              <a:ea typeface="Calibri"/>
              <a:cs typeface="Calibri"/>
              <a:sym typeface="Calibri"/>
            </a:endParaRPr>
          </a:p>
        </p:txBody>
      </p:sp>
      <p:cxnSp>
        <p:nvCxnSpPr>
          <p:cNvPr id="201" name="Google Shape;201;p18"/>
          <p:cNvCxnSpPr/>
          <p:nvPr/>
        </p:nvCxnSpPr>
        <p:spPr>
          <a:xfrm>
            <a:off x="8732520" y="1691640"/>
            <a:ext cx="0" cy="3566160"/>
          </a:xfrm>
          <a:prstGeom prst="straightConnector1">
            <a:avLst/>
          </a:prstGeom>
          <a:noFill/>
          <a:ln cap="flat" cmpd="sng" w="12700">
            <a:solidFill>
              <a:srgbClr val="35506B"/>
            </a:solidFill>
            <a:prstDash val="solid"/>
            <a:round/>
            <a:headEnd len="sm" w="sm" type="none"/>
            <a:tailEnd len="sm" w="sm" type="none"/>
          </a:ln>
        </p:spPr>
      </p:cxnSp>
      <p:sp>
        <p:nvSpPr>
          <p:cNvPr id="202" name="Google Shape;202;p18"/>
          <p:cNvSpPr txBox="1"/>
          <p:nvPr/>
        </p:nvSpPr>
        <p:spPr>
          <a:xfrm>
            <a:off x="9098280" y="1691640"/>
            <a:ext cx="2377440" cy="3566160"/>
          </a:xfrm>
          <a:prstGeom prst="rect">
            <a:avLst/>
          </a:prstGeom>
          <a:noFill/>
          <a:ln>
            <a:noFill/>
          </a:ln>
        </p:spPr>
        <p:txBody>
          <a:bodyPr anchorCtr="0" anchor="t" bIns="0" lIns="0" spcFirstLastPara="1" rIns="0" wrap="square" tIns="0">
            <a:noAutofit/>
          </a:bodyPr>
          <a:lstStyle/>
          <a:p>
            <a:pPr indent="-342900" lvl="0" marL="342900" marR="0" rtl="0" algn="l">
              <a:lnSpc>
                <a:spcPct val="144000"/>
              </a:lnSpc>
              <a:spcBef>
                <a:spcPts val="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O mapa do PEFT</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A mudança cabe em poucas direções</a:t>
            </a:r>
            <a:endParaRPr b="0" i="0" sz="1250" u="none" cap="none" strike="noStrike">
              <a:solidFill>
                <a:schemeClr val="dk1"/>
              </a:solidFill>
              <a:latin typeface="Calibri"/>
              <a:ea typeface="Calibri"/>
              <a:cs typeface="Calibri"/>
              <a:sym typeface="Calibri"/>
            </a:endParaRPr>
          </a:p>
        </p:txBody>
      </p:sp>
      <p:sp>
        <p:nvSpPr>
          <p:cNvPr id="203" name="Google Shape;203;p18"/>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5C7086"/>
                </a:solidFill>
                <a:latin typeface="Calibri"/>
                <a:ea typeface="Calibri"/>
                <a:cs typeface="Calibri"/>
                <a:sym typeface="Calibri"/>
              </a:rPr>
              <a:t>‹#›</a:t>
            </a:fld>
            <a:endParaRPr b="0" i="0" sz="950" u="none" cap="none" strike="noStrike">
              <a:solidFill>
                <a:srgbClr val="5C708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9"/>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O mapa do PEFT</a:t>
            </a:r>
            <a:endParaRPr sz="3100"/>
          </a:p>
        </p:txBody>
      </p:sp>
      <p:sp>
        <p:nvSpPr>
          <p:cNvPr id="210" name="Google Shape;210;p19"/>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PEFT: congelar o modelo e treinar uma peça pequena. As famílias diferem em onde essa peça entra.</a:t>
            </a:r>
            <a:endParaRPr b="0" i="0" sz="1450" u="none" cap="none" strike="noStrike">
              <a:solidFill>
                <a:schemeClr val="dk1"/>
              </a:solidFill>
              <a:latin typeface="Calibri"/>
              <a:ea typeface="Calibri"/>
              <a:cs typeface="Calibri"/>
              <a:sym typeface="Calibri"/>
            </a:endParaRPr>
          </a:p>
        </p:txBody>
      </p:sp>
      <p:sp>
        <p:nvSpPr>
          <p:cNvPr id="211" name="Google Shape;211;p19"/>
          <p:cNvSpPr/>
          <p:nvPr/>
        </p:nvSpPr>
        <p:spPr>
          <a:xfrm>
            <a:off x="777240" y="1783080"/>
            <a:ext cx="1981139" cy="4069080"/>
          </a:xfrm>
          <a:prstGeom prst="roundRect">
            <a:avLst>
              <a:gd fmla="val 3692"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txBox="1"/>
          <p:nvPr/>
        </p:nvSpPr>
        <p:spPr>
          <a:xfrm>
            <a:off x="886968" y="1828800"/>
            <a:ext cx="1761683" cy="502920"/>
          </a:xfrm>
          <a:prstGeom prst="rect">
            <a:avLst/>
          </a:prstGeom>
          <a:noFill/>
          <a:ln>
            <a:noFill/>
          </a:ln>
        </p:spPr>
        <p:txBody>
          <a:bodyPr anchorCtr="0" anchor="ctr" bIns="0" lIns="0" spcFirstLastPara="1" rIns="0" wrap="square" tIns="0">
            <a:noAutofit/>
          </a:bodyPr>
          <a:lstStyle/>
          <a:p>
            <a:pPr indent="0" lvl="0" marL="0" marR="0" rtl="0" algn="ctr">
              <a:lnSpc>
                <a:spcPct val="110344"/>
              </a:lnSpc>
              <a:spcBef>
                <a:spcPts val="0"/>
              </a:spcBef>
              <a:spcAft>
                <a:spcPts val="0"/>
              </a:spcAft>
              <a:buClr>
                <a:srgbClr val="0F1C2E"/>
              </a:buClr>
              <a:buSzPts val="1450"/>
              <a:buFont typeface="Cambria"/>
              <a:buNone/>
            </a:pPr>
            <a:r>
              <a:rPr b="1" i="0" lang="en-US" sz="1450" u="none" cap="none" strike="noStrike">
                <a:solidFill>
                  <a:srgbClr val="0F1C2E"/>
                </a:solidFill>
                <a:latin typeface="Cambria"/>
                <a:ea typeface="Cambria"/>
                <a:cs typeface="Cambria"/>
                <a:sym typeface="Cambria"/>
              </a:rPr>
              <a:t>Ajuste completo</a:t>
            </a:r>
            <a:endParaRPr b="0" i="0" sz="1450" u="none" cap="none" strike="noStrike">
              <a:solidFill>
                <a:schemeClr val="dk1"/>
              </a:solidFill>
              <a:latin typeface="Calibri"/>
              <a:ea typeface="Calibri"/>
              <a:cs typeface="Calibri"/>
              <a:sym typeface="Calibri"/>
            </a:endParaRPr>
          </a:p>
        </p:txBody>
      </p:sp>
      <p:cxnSp>
        <p:nvCxnSpPr>
          <p:cNvPr id="213" name="Google Shape;213;p19"/>
          <p:cNvCxnSpPr/>
          <p:nvPr/>
        </p:nvCxnSpPr>
        <p:spPr>
          <a:xfrm rot="10800000">
            <a:off x="1767810" y="2450592"/>
            <a:ext cx="0" cy="1554480"/>
          </a:xfrm>
          <a:prstGeom prst="straightConnector1">
            <a:avLst/>
          </a:prstGeom>
          <a:noFill/>
          <a:ln cap="flat" cmpd="sng" w="15225">
            <a:solidFill>
              <a:srgbClr val="8494A6"/>
            </a:solidFill>
            <a:prstDash val="solid"/>
            <a:round/>
            <a:headEnd len="sm" w="sm" type="none"/>
            <a:tailEnd len="med" w="med" type="triangle"/>
          </a:ln>
        </p:spPr>
      </p:cxnSp>
      <p:sp>
        <p:nvSpPr>
          <p:cNvPr id="214" name="Google Shape;214;p19"/>
          <p:cNvSpPr/>
          <p:nvPr/>
        </p:nvSpPr>
        <p:spPr>
          <a:xfrm>
            <a:off x="1127730" y="3419856"/>
            <a:ext cx="1280160" cy="365760"/>
          </a:xfrm>
          <a:prstGeom prst="roundRect">
            <a:avLst>
              <a:gd fmla="val 12500" name="adj"/>
            </a:avLst>
          </a:prstGeom>
          <a:solidFill>
            <a:srgbClr val="FBEFE1"/>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9"/>
          <p:cNvSpPr txBox="1"/>
          <p:nvPr/>
        </p:nvSpPr>
        <p:spPr>
          <a:xfrm>
            <a:off x="1127730" y="3419856"/>
            <a:ext cx="1280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1150"/>
              <a:buFont typeface="Calibri"/>
              <a:buNone/>
            </a:pPr>
            <a:r>
              <a:rPr b="1" i="0" lang="en-US" sz="1150" u="none" cap="none" strike="noStrike">
                <a:solidFill>
                  <a:srgbClr val="A55A18"/>
                </a:solidFill>
                <a:latin typeface="Calibri"/>
                <a:ea typeface="Calibri"/>
                <a:cs typeface="Calibri"/>
                <a:sym typeface="Calibri"/>
              </a:rPr>
              <a:t>atenção</a:t>
            </a:r>
            <a:endParaRPr b="0" i="0" sz="1150" u="none" cap="none" strike="noStrike">
              <a:solidFill>
                <a:schemeClr val="dk1"/>
              </a:solidFill>
              <a:latin typeface="Calibri"/>
              <a:ea typeface="Calibri"/>
              <a:cs typeface="Calibri"/>
              <a:sym typeface="Calibri"/>
            </a:endParaRPr>
          </a:p>
        </p:txBody>
      </p:sp>
      <p:sp>
        <p:nvSpPr>
          <p:cNvPr id="216" name="Google Shape;216;p19"/>
          <p:cNvSpPr/>
          <p:nvPr/>
        </p:nvSpPr>
        <p:spPr>
          <a:xfrm>
            <a:off x="1127730" y="2798064"/>
            <a:ext cx="1280160" cy="365760"/>
          </a:xfrm>
          <a:prstGeom prst="roundRect">
            <a:avLst>
              <a:gd fmla="val 12500" name="adj"/>
            </a:avLst>
          </a:prstGeom>
          <a:solidFill>
            <a:srgbClr val="FBEFE1"/>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9"/>
          <p:cNvSpPr txBox="1"/>
          <p:nvPr/>
        </p:nvSpPr>
        <p:spPr>
          <a:xfrm>
            <a:off x="1127730" y="2798064"/>
            <a:ext cx="1280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1150"/>
              <a:buFont typeface="Calibri"/>
              <a:buNone/>
            </a:pPr>
            <a:r>
              <a:rPr b="1" i="0" lang="en-US" sz="1150" u="none" cap="none" strike="noStrike">
                <a:solidFill>
                  <a:srgbClr val="A55A18"/>
                </a:solidFill>
                <a:latin typeface="Calibri"/>
                <a:ea typeface="Calibri"/>
                <a:cs typeface="Calibri"/>
                <a:sym typeface="Calibri"/>
              </a:rPr>
              <a:t>MLP</a:t>
            </a:r>
            <a:endParaRPr b="0" i="0" sz="1150" u="none" cap="none" strike="noStrike">
              <a:solidFill>
                <a:schemeClr val="dk1"/>
              </a:solidFill>
              <a:latin typeface="Calibri"/>
              <a:ea typeface="Calibri"/>
              <a:cs typeface="Calibri"/>
              <a:sym typeface="Calibri"/>
            </a:endParaRPr>
          </a:p>
        </p:txBody>
      </p:sp>
      <p:sp>
        <p:nvSpPr>
          <p:cNvPr id="218" name="Google Shape;218;p19"/>
          <p:cNvSpPr/>
          <p:nvPr/>
        </p:nvSpPr>
        <p:spPr>
          <a:xfrm>
            <a:off x="1296894" y="4023360"/>
            <a:ext cx="201168" cy="201168"/>
          </a:xfrm>
          <a:prstGeom prst="rect">
            <a:avLst/>
          </a:prstGeom>
          <a:solidFill>
            <a:srgbClr val="FBEFE1"/>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9"/>
          <p:cNvSpPr/>
          <p:nvPr/>
        </p:nvSpPr>
        <p:spPr>
          <a:xfrm>
            <a:off x="1543782" y="4023360"/>
            <a:ext cx="201168" cy="201168"/>
          </a:xfrm>
          <a:prstGeom prst="rect">
            <a:avLst/>
          </a:prstGeom>
          <a:solidFill>
            <a:srgbClr val="FBEFE1"/>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9"/>
          <p:cNvSpPr/>
          <p:nvPr/>
        </p:nvSpPr>
        <p:spPr>
          <a:xfrm>
            <a:off x="1790670" y="4023360"/>
            <a:ext cx="201168" cy="201168"/>
          </a:xfrm>
          <a:prstGeom prst="rect">
            <a:avLst/>
          </a:prstGeom>
          <a:solidFill>
            <a:srgbClr val="FBEFE1"/>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
          <p:cNvSpPr/>
          <p:nvPr/>
        </p:nvSpPr>
        <p:spPr>
          <a:xfrm>
            <a:off x="2037558" y="4023360"/>
            <a:ext cx="201168" cy="201168"/>
          </a:xfrm>
          <a:prstGeom prst="rect">
            <a:avLst/>
          </a:prstGeom>
          <a:solidFill>
            <a:srgbClr val="FBEFE1"/>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
          <p:cNvSpPr txBox="1"/>
          <p:nvPr/>
        </p:nvSpPr>
        <p:spPr>
          <a:xfrm>
            <a:off x="868680" y="4261104"/>
            <a:ext cx="1798259"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tokens</a:t>
            </a:r>
            <a:endParaRPr b="0" i="0" sz="950" u="none" cap="none" strike="noStrike">
              <a:solidFill>
                <a:schemeClr val="dk1"/>
              </a:solidFill>
              <a:latin typeface="Calibri"/>
              <a:ea typeface="Calibri"/>
              <a:cs typeface="Calibri"/>
              <a:sym typeface="Calibri"/>
            </a:endParaRPr>
          </a:p>
        </p:txBody>
      </p:sp>
      <p:sp>
        <p:nvSpPr>
          <p:cNvPr id="223" name="Google Shape;223;p19"/>
          <p:cNvSpPr txBox="1"/>
          <p:nvPr/>
        </p:nvSpPr>
        <p:spPr>
          <a:xfrm>
            <a:off x="914400" y="4526280"/>
            <a:ext cx="1706819" cy="96012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Treina: </a:t>
            </a:r>
            <a:r>
              <a:rPr b="0" i="0" lang="en-US" sz="1050" u="none" cap="none" strike="noStrike">
                <a:solidFill>
                  <a:srgbClr val="4B5D73"/>
                </a:solidFill>
                <a:latin typeface="Calibri"/>
                <a:ea typeface="Calibri"/>
                <a:cs typeface="Calibri"/>
                <a:sym typeface="Calibri"/>
              </a:rPr>
              <a:t>todos os pesos</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Fração: </a:t>
            </a:r>
            <a:r>
              <a:rPr b="0" i="0" lang="en-US" sz="1050" u="none" cap="none" strike="noStrike">
                <a:solidFill>
                  <a:srgbClr val="4B5D73"/>
                </a:solidFill>
                <a:latin typeface="Calibri"/>
                <a:ea typeface="Calibri"/>
                <a:cs typeface="Calibri"/>
                <a:sym typeface="Calibri"/>
              </a:rPr>
              <a:t>100%</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Inferência: </a:t>
            </a:r>
            <a:r>
              <a:rPr b="0" i="0" lang="en-US" sz="1050" u="none" cap="none" strike="noStrike">
                <a:solidFill>
                  <a:srgbClr val="4B5D73"/>
                </a:solidFill>
                <a:latin typeface="Calibri"/>
                <a:ea typeface="Calibri"/>
                <a:cs typeface="Calibri"/>
                <a:sym typeface="Calibri"/>
              </a:rPr>
              <a:t>sem custo extra</a:t>
            </a:r>
            <a:endParaRPr b="0" i="0" sz="1050" u="none" cap="none" strike="noStrike">
              <a:solidFill>
                <a:schemeClr val="dk1"/>
              </a:solidFill>
              <a:latin typeface="Calibri"/>
              <a:ea typeface="Calibri"/>
              <a:cs typeface="Calibri"/>
              <a:sym typeface="Calibri"/>
            </a:endParaRPr>
          </a:p>
        </p:txBody>
      </p:sp>
      <p:sp>
        <p:nvSpPr>
          <p:cNvPr id="224" name="Google Shape;224;p19"/>
          <p:cNvSpPr/>
          <p:nvPr/>
        </p:nvSpPr>
        <p:spPr>
          <a:xfrm>
            <a:off x="2941259" y="1783080"/>
            <a:ext cx="1981139" cy="4069080"/>
          </a:xfrm>
          <a:prstGeom prst="roundRect">
            <a:avLst>
              <a:gd fmla="val 3692"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
          <p:cNvSpPr txBox="1"/>
          <p:nvPr/>
        </p:nvSpPr>
        <p:spPr>
          <a:xfrm>
            <a:off x="3050987" y="1828800"/>
            <a:ext cx="1761683" cy="502920"/>
          </a:xfrm>
          <a:prstGeom prst="rect">
            <a:avLst/>
          </a:prstGeom>
          <a:noFill/>
          <a:ln>
            <a:noFill/>
          </a:ln>
        </p:spPr>
        <p:txBody>
          <a:bodyPr anchorCtr="0" anchor="ctr" bIns="0" lIns="0" spcFirstLastPara="1" rIns="0" wrap="square" tIns="0">
            <a:noAutofit/>
          </a:bodyPr>
          <a:lstStyle/>
          <a:p>
            <a:pPr indent="0" lvl="0" marL="0" marR="0" rtl="0" algn="ctr">
              <a:lnSpc>
                <a:spcPct val="110344"/>
              </a:lnSpc>
              <a:spcBef>
                <a:spcPts val="0"/>
              </a:spcBef>
              <a:spcAft>
                <a:spcPts val="0"/>
              </a:spcAft>
              <a:buClr>
                <a:srgbClr val="0F1C2E"/>
              </a:buClr>
              <a:buSzPts val="1450"/>
              <a:buFont typeface="Cambria"/>
              <a:buNone/>
            </a:pPr>
            <a:r>
              <a:rPr b="1" i="0" lang="en-US" sz="1450" u="none" cap="none" strike="noStrike">
                <a:solidFill>
                  <a:srgbClr val="0F1C2E"/>
                </a:solidFill>
                <a:latin typeface="Cambria"/>
                <a:ea typeface="Cambria"/>
                <a:cs typeface="Cambria"/>
                <a:sym typeface="Cambria"/>
              </a:rPr>
              <a:t>Adapters</a:t>
            </a:r>
            <a:endParaRPr b="0" i="0" sz="1450" u="none" cap="none" strike="noStrike">
              <a:solidFill>
                <a:schemeClr val="dk1"/>
              </a:solidFill>
              <a:latin typeface="Calibri"/>
              <a:ea typeface="Calibri"/>
              <a:cs typeface="Calibri"/>
              <a:sym typeface="Calibri"/>
            </a:endParaRPr>
          </a:p>
        </p:txBody>
      </p:sp>
      <p:cxnSp>
        <p:nvCxnSpPr>
          <p:cNvPr id="226" name="Google Shape;226;p19"/>
          <p:cNvCxnSpPr/>
          <p:nvPr/>
        </p:nvCxnSpPr>
        <p:spPr>
          <a:xfrm rot="10800000">
            <a:off x="3931829" y="2450592"/>
            <a:ext cx="0" cy="1554480"/>
          </a:xfrm>
          <a:prstGeom prst="straightConnector1">
            <a:avLst/>
          </a:prstGeom>
          <a:noFill/>
          <a:ln cap="flat" cmpd="sng" w="15225">
            <a:solidFill>
              <a:srgbClr val="8494A6"/>
            </a:solidFill>
            <a:prstDash val="solid"/>
            <a:round/>
            <a:headEnd len="sm" w="sm" type="none"/>
            <a:tailEnd len="med" w="med" type="triangle"/>
          </a:ln>
        </p:spPr>
      </p:cxnSp>
      <p:sp>
        <p:nvSpPr>
          <p:cNvPr id="227" name="Google Shape;227;p19"/>
          <p:cNvSpPr/>
          <p:nvPr/>
        </p:nvSpPr>
        <p:spPr>
          <a:xfrm>
            <a:off x="3291749" y="3419856"/>
            <a:ext cx="12801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9"/>
          <p:cNvSpPr txBox="1"/>
          <p:nvPr/>
        </p:nvSpPr>
        <p:spPr>
          <a:xfrm>
            <a:off x="3291749" y="3419856"/>
            <a:ext cx="1280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atenção</a:t>
            </a:r>
            <a:endParaRPr b="0" i="0" sz="1150" u="none" cap="none" strike="noStrike">
              <a:solidFill>
                <a:schemeClr val="dk1"/>
              </a:solidFill>
              <a:latin typeface="Calibri"/>
              <a:ea typeface="Calibri"/>
              <a:cs typeface="Calibri"/>
              <a:sym typeface="Calibri"/>
            </a:endParaRPr>
          </a:p>
        </p:txBody>
      </p:sp>
      <p:sp>
        <p:nvSpPr>
          <p:cNvPr id="229" name="Google Shape;229;p19"/>
          <p:cNvSpPr/>
          <p:nvPr/>
        </p:nvSpPr>
        <p:spPr>
          <a:xfrm>
            <a:off x="3291749" y="2798064"/>
            <a:ext cx="12801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
          <p:cNvSpPr txBox="1"/>
          <p:nvPr/>
        </p:nvSpPr>
        <p:spPr>
          <a:xfrm>
            <a:off x="3291749" y="2798064"/>
            <a:ext cx="1280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MLP</a:t>
            </a:r>
            <a:endParaRPr b="0" i="0" sz="1150" u="none" cap="none" strike="noStrike">
              <a:solidFill>
                <a:schemeClr val="dk1"/>
              </a:solidFill>
              <a:latin typeface="Calibri"/>
              <a:ea typeface="Calibri"/>
              <a:cs typeface="Calibri"/>
              <a:sym typeface="Calibri"/>
            </a:endParaRPr>
          </a:p>
        </p:txBody>
      </p:sp>
      <p:sp>
        <p:nvSpPr>
          <p:cNvPr id="231" name="Google Shape;231;p19"/>
          <p:cNvSpPr/>
          <p:nvPr/>
        </p:nvSpPr>
        <p:spPr>
          <a:xfrm>
            <a:off x="3474629" y="3200400"/>
            <a:ext cx="914400" cy="182880"/>
          </a:xfrm>
          <a:prstGeom prst="roundRect">
            <a:avLst>
              <a:gd fmla="val 25000" name="adj"/>
            </a:avLst>
          </a:prstGeom>
          <a:solidFill>
            <a:srgbClr val="E08A3C"/>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9"/>
          <p:cNvSpPr txBox="1"/>
          <p:nvPr/>
        </p:nvSpPr>
        <p:spPr>
          <a:xfrm>
            <a:off x="3474629" y="3200400"/>
            <a:ext cx="9144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adapter</a:t>
            </a:r>
            <a:endParaRPr b="0" i="0" sz="900" u="none" cap="none" strike="noStrike">
              <a:solidFill>
                <a:schemeClr val="dk1"/>
              </a:solidFill>
              <a:latin typeface="Calibri"/>
              <a:ea typeface="Calibri"/>
              <a:cs typeface="Calibri"/>
              <a:sym typeface="Calibri"/>
            </a:endParaRPr>
          </a:p>
        </p:txBody>
      </p:sp>
      <p:sp>
        <p:nvSpPr>
          <p:cNvPr id="233" name="Google Shape;233;p19"/>
          <p:cNvSpPr/>
          <p:nvPr/>
        </p:nvSpPr>
        <p:spPr>
          <a:xfrm>
            <a:off x="3474629" y="2578608"/>
            <a:ext cx="914400" cy="182880"/>
          </a:xfrm>
          <a:prstGeom prst="roundRect">
            <a:avLst>
              <a:gd fmla="val 25000" name="adj"/>
            </a:avLst>
          </a:prstGeom>
          <a:solidFill>
            <a:srgbClr val="E08A3C"/>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9"/>
          <p:cNvSpPr txBox="1"/>
          <p:nvPr/>
        </p:nvSpPr>
        <p:spPr>
          <a:xfrm>
            <a:off x="3474629" y="2578608"/>
            <a:ext cx="9144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adapter</a:t>
            </a:r>
            <a:endParaRPr b="0" i="0" sz="900" u="none" cap="none" strike="noStrike">
              <a:solidFill>
                <a:schemeClr val="dk1"/>
              </a:solidFill>
              <a:latin typeface="Calibri"/>
              <a:ea typeface="Calibri"/>
              <a:cs typeface="Calibri"/>
              <a:sym typeface="Calibri"/>
            </a:endParaRPr>
          </a:p>
        </p:txBody>
      </p:sp>
      <p:sp>
        <p:nvSpPr>
          <p:cNvPr id="235" name="Google Shape;235;p19"/>
          <p:cNvSpPr/>
          <p:nvPr/>
        </p:nvSpPr>
        <p:spPr>
          <a:xfrm>
            <a:off x="3460913"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p:cNvSpPr/>
          <p:nvPr/>
        </p:nvSpPr>
        <p:spPr>
          <a:xfrm>
            <a:off x="3707801"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9"/>
          <p:cNvSpPr/>
          <p:nvPr/>
        </p:nvSpPr>
        <p:spPr>
          <a:xfrm>
            <a:off x="3954689"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9"/>
          <p:cNvSpPr/>
          <p:nvPr/>
        </p:nvSpPr>
        <p:spPr>
          <a:xfrm>
            <a:off x="4201577"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9"/>
          <p:cNvSpPr txBox="1"/>
          <p:nvPr/>
        </p:nvSpPr>
        <p:spPr>
          <a:xfrm>
            <a:off x="3032699" y="4261104"/>
            <a:ext cx="1798259"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tokens</a:t>
            </a:r>
            <a:endParaRPr b="0" i="0" sz="950" u="none" cap="none" strike="noStrike">
              <a:solidFill>
                <a:schemeClr val="dk1"/>
              </a:solidFill>
              <a:latin typeface="Calibri"/>
              <a:ea typeface="Calibri"/>
              <a:cs typeface="Calibri"/>
              <a:sym typeface="Calibri"/>
            </a:endParaRPr>
          </a:p>
        </p:txBody>
      </p:sp>
      <p:sp>
        <p:nvSpPr>
          <p:cNvPr id="240" name="Google Shape;240;p19"/>
          <p:cNvSpPr txBox="1"/>
          <p:nvPr/>
        </p:nvSpPr>
        <p:spPr>
          <a:xfrm>
            <a:off x="3078419" y="4526280"/>
            <a:ext cx="1706819" cy="96012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Treina: </a:t>
            </a:r>
            <a:r>
              <a:rPr b="0" i="0" lang="en-US" sz="1050" u="none" cap="none" strike="noStrike">
                <a:solidFill>
                  <a:srgbClr val="4B5D73"/>
                </a:solidFill>
                <a:latin typeface="Calibri"/>
                <a:ea typeface="Calibri"/>
                <a:cs typeface="Calibri"/>
                <a:sym typeface="Calibri"/>
              </a:rPr>
              <a:t>blocos-gargalo entre as camadas</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Fração: </a:t>
            </a:r>
            <a:r>
              <a:rPr b="0" i="0" lang="en-US" sz="1050" u="none" cap="none" strike="noStrike">
                <a:solidFill>
                  <a:srgbClr val="4B5D73"/>
                </a:solidFill>
                <a:latin typeface="Calibri"/>
                <a:ea typeface="Calibri"/>
                <a:cs typeface="Calibri"/>
                <a:sym typeface="Calibri"/>
              </a:rPr>
              <a:t>3,6% (GLUE)</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Inferência: </a:t>
            </a:r>
            <a:r>
              <a:rPr b="0" i="0" lang="en-US" sz="1050" u="none" cap="none" strike="noStrike">
                <a:solidFill>
                  <a:srgbClr val="4B5D73"/>
                </a:solidFill>
                <a:latin typeface="Calibri"/>
                <a:ea typeface="Calibri"/>
                <a:cs typeface="Calibri"/>
                <a:sym typeface="Calibri"/>
              </a:rPr>
              <a:t>camadas a mais</a:t>
            </a:r>
            <a:endParaRPr b="0" i="0" sz="1050" u="none" cap="none" strike="noStrike">
              <a:solidFill>
                <a:schemeClr val="dk1"/>
              </a:solidFill>
              <a:latin typeface="Calibri"/>
              <a:ea typeface="Calibri"/>
              <a:cs typeface="Calibri"/>
              <a:sym typeface="Calibri"/>
            </a:endParaRPr>
          </a:p>
        </p:txBody>
      </p:sp>
      <p:sp>
        <p:nvSpPr>
          <p:cNvPr id="241" name="Google Shape;241;p19"/>
          <p:cNvSpPr txBox="1"/>
          <p:nvPr/>
        </p:nvSpPr>
        <p:spPr>
          <a:xfrm>
            <a:off x="3078419" y="5504688"/>
            <a:ext cx="1706819"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Houlsby et al., 2019</a:t>
            </a:r>
            <a:endParaRPr b="0" i="0" sz="950" u="none" cap="none" strike="noStrike">
              <a:solidFill>
                <a:schemeClr val="dk1"/>
              </a:solidFill>
              <a:latin typeface="Calibri"/>
              <a:ea typeface="Calibri"/>
              <a:cs typeface="Calibri"/>
              <a:sym typeface="Calibri"/>
            </a:endParaRPr>
          </a:p>
        </p:txBody>
      </p:sp>
      <p:sp>
        <p:nvSpPr>
          <p:cNvPr id="242" name="Google Shape;242;p19"/>
          <p:cNvSpPr/>
          <p:nvPr/>
        </p:nvSpPr>
        <p:spPr>
          <a:xfrm>
            <a:off x="5105278" y="1783080"/>
            <a:ext cx="1981139" cy="4069080"/>
          </a:xfrm>
          <a:prstGeom prst="roundRect">
            <a:avLst>
              <a:gd fmla="val 3692"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txBox="1"/>
          <p:nvPr/>
        </p:nvSpPr>
        <p:spPr>
          <a:xfrm>
            <a:off x="5215006" y="1828800"/>
            <a:ext cx="1761683" cy="502920"/>
          </a:xfrm>
          <a:prstGeom prst="rect">
            <a:avLst/>
          </a:prstGeom>
          <a:noFill/>
          <a:ln>
            <a:noFill/>
          </a:ln>
        </p:spPr>
        <p:txBody>
          <a:bodyPr anchorCtr="0" anchor="ctr" bIns="0" lIns="0" spcFirstLastPara="1" rIns="0" wrap="square" tIns="0">
            <a:noAutofit/>
          </a:bodyPr>
          <a:lstStyle/>
          <a:p>
            <a:pPr indent="0" lvl="0" marL="0" marR="0" rtl="0" algn="ctr">
              <a:lnSpc>
                <a:spcPct val="110344"/>
              </a:lnSpc>
              <a:spcBef>
                <a:spcPts val="0"/>
              </a:spcBef>
              <a:spcAft>
                <a:spcPts val="0"/>
              </a:spcAft>
              <a:buClr>
                <a:srgbClr val="0F1C2E"/>
              </a:buClr>
              <a:buSzPts val="1450"/>
              <a:buFont typeface="Cambria"/>
              <a:buNone/>
            </a:pPr>
            <a:r>
              <a:rPr b="1" i="0" lang="en-US" sz="1450" u="none" cap="none" strike="noStrike">
                <a:solidFill>
                  <a:srgbClr val="0F1C2E"/>
                </a:solidFill>
                <a:latin typeface="Cambria"/>
                <a:ea typeface="Cambria"/>
                <a:cs typeface="Cambria"/>
                <a:sym typeface="Cambria"/>
              </a:rPr>
              <a:t>Prefix e prompt tuning</a:t>
            </a:r>
            <a:endParaRPr b="0" i="0" sz="1450" u="none" cap="none" strike="noStrike">
              <a:solidFill>
                <a:schemeClr val="dk1"/>
              </a:solidFill>
              <a:latin typeface="Calibri"/>
              <a:ea typeface="Calibri"/>
              <a:cs typeface="Calibri"/>
              <a:sym typeface="Calibri"/>
            </a:endParaRPr>
          </a:p>
        </p:txBody>
      </p:sp>
      <p:cxnSp>
        <p:nvCxnSpPr>
          <p:cNvPr id="244" name="Google Shape;244;p19"/>
          <p:cNvCxnSpPr/>
          <p:nvPr/>
        </p:nvCxnSpPr>
        <p:spPr>
          <a:xfrm rot="10800000">
            <a:off x="6095848" y="2450592"/>
            <a:ext cx="0" cy="1554480"/>
          </a:xfrm>
          <a:prstGeom prst="straightConnector1">
            <a:avLst/>
          </a:prstGeom>
          <a:noFill/>
          <a:ln cap="flat" cmpd="sng" w="15225">
            <a:solidFill>
              <a:srgbClr val="8494A6"/>
            </a:solidFill>
            <a:prstDash val="solid"/>
            <a:round/>
            <a:headEnd len="sm" w="sm" type="none"/>
            <a:tailEnd len="med" w="med" type="triangle"/>
          </a:ln>
        </p:spPr>
      </p:cxnSp>
      <p:sp>
        <p:nvSpPr>
          <p:cNvPr id="245" name="Google Shape;245;p19"/>
          <p:cNvSpPr/>
          <p:nvPr/>
        </p:nvSpPr>
        <p:spPr>
          <a:xfrm>
            <a:off x="5455768" y="3419856"/>
            <a:ext cx="12801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txBox="1"/>
          <p:nvPr/>
        </p:nvSpPr>
        <p:spPr>
          <a:xfrm>
            <a:off x="5455768" y="3419856"/>
            <a:ext cx="1280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atenção</a:t>
            </a:r>
            <a:endParaRPr b="0" i="0" sz="1150" u="none" cap="none" strike="noStrike">
              <a:solidFill>
                <a:schemeClr val="dk1"/>
              </a:solidFill>
              <a:latin typeface="Calibri"/>
              <a:ea typeface="Calibri"/>
              <a:cs typeface="Calibri"/>
              <a:sym typeface="Calibri"/>
            </a:endParaRPr>
          </a:p>
        </p:txBody>
      </p:sp>
      <p:sp>
        <p:nvSpPr>
          <p:cNvPr id="247" name="Google Shape;247;p19"/>
          <p:cNvSpPr/>
          <p:nvPr/>
        </p:nvSpPr>
        <p:spPr>
          <a:xfrm>
            <a:off x="5455768" y="2798064"/>
            <a:ext cx="12801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txBox="1"/>
          <p:nvPr/>
        </p:nvSpPr>
        <p:spPr>
          <a:xfrm>
            <a:off x="5455768" y="2798064"/>
            <a:ext cx="1280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MLP</a:t>
            </a:r>
            <a:endParaRPr b="0" i="0" sz="1150" u="none" cap="none" strike="noStrike">
              <a:solidFill>
                <a:schemeClr val="dk1"/>
              </a:solidFill>
              <a:latin typeface="Calibri"/>
              <a:ea typeface="Calibri"/>
              <a:cs typeface="Calibri"/>
              <a:sym typeface="Calibri"/>
            </a:endParaRPr>
          </a:p>
        </p:txBody>
      </p:sp>
      <p:sp>
        <p:nvSpPr>
          <p:cNvPr id="249" name="Google Shape;249;p19"/>
          <p:cNvSpPr/>
          <p:nvPr/>
        </p:nvSpPr>
        <p:spPr>
          <a:xfrm>
            <a:off x="5501488" y="4023360"/>
            <a:ext cx="201168" cy="201168"/>
          </a:xfrm>
          <a:prstGeom prst="rect">
            <a:avLst/>
          </a:prstGeom>
          <a:solidFill>
            <a:srgbClr val="E08A3C"/>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5748376" y="4023360"/>
            <a:ext cx="201168" cy="201168"/>
          </a:xfrm>
          <a:prstGeom prst="rect">
            <a:avLst/>
          </a:prstGeom>
          <a:solidFill>
            <a:srgbClr val="E08A3C"/>
          </a:solidFill>
          <a:ln cap="flat" cmpd="sng" w="114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5995264"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6242152"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6489040"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txBox="1"/>
          <p:nvPr/>
        </p:nvSpPr>
        <p:spPr>
          <a:xfrm>
            <a:off x="5196718" y="4261104"/>
            <a:ext cx="1798259"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2 vetores + tokens</a:t>
            </a:r>
            <a:endParaRPr b="0" i="0" sz="950" u="none" cap="none" strike="noStrike">
              <a:solidFill>
                <a:schemeClr val="dk1"/>
              </a:solidFill>
              <a:latin typeface="Calibri"/>
              <a:ea typeface="Calibri"/>
              <a:cs typeface="Calibri"/>
              <a:sym typeface="Calibri"/>
            </a:endParaRPr>
          </a:p>
        </p:txBody>
      </p:sp>
      <p:sp>
        <p:nvSpPr>
          <p:cNvPr id="255" name="Google Shape;255;p19"/>
          <p:cNvSpPr txBox="1"/>
          <p:nvPr/>
        </p:nvSpPr>
        <p:spPr>
          <a:xfrm>
            <a:off x="5242438" y="4526280"/>
            <a:ext cx="1706819" cy="96012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Treina: </a:t>
            </a:r>
            <a:r>
              <a:rPr b="0" i="0" lang="en-US" sz="1050" u="none" cap="none" strike="noStrike">
                <a:solidFill>
                  <a:srgbClr val="4B5D73"/>
                </a:solidFill>
                <a:latin typeface="Calibri"/>
                <a:ea typeface="Calibri"/>
                <a:cs typeface="Calibri"/>
                <a:sym typeface="Calibri"/>
              </a:rPr>
              <a:t>vetores antes da entrada</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Fração: </a:t>
            </a:r>
            <a:r>
              <a:rPr b="0" i="0" lang="en-US" sz="1050" u="none" cap="none" strike="noStrike">
                <a:solidFill>
                  <a:srgbClr val="4B5D73"/>
                </a:solidFill>
                <a:latin typeface="Calibri"/>
                <a:ea typeface="Calibri"/>
                <a:cs typeface="Calibri"/>
                <a:sym typeface="Calibri"/>
              </a:rPr>
              <a:t>~0,1%</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Inferência: </a:t>
            </a:r>
            <a:r>
              <a:rPr b="0" i="0" lang="en-US" sz="1050" u="none" cap="none" strike="noStrike">
                <a:solidFill>
                  <a:srgbClr val="4B5D73"/>
                </a:solidFill>
                <a:latin typeface="Calibri"/>
                <a:ea typeface="Calibri"/>
                <a:cs typeface="Calibri"/>
                <a:sym typeface="Calibri"/>
              </a:rPr>
              <a:t>contexto maior</a:t>
            </a:r>
            <a:endParaRPr b="0" i="0" sz="1050" u="none" cap="none" strike="noStrike">
              <a:solidFill>
                <a:schemeClr val="dk1"/>
              </a:solidFill>
              <a:latin typeface="Calibri"/>
              <a:ea typeface="Calibri"/>
              <a:cs typeface="Calibri"/>
              <a:sym typeface="Calibri"/>
            </a:endParaRPr>
          </a:p>
        </p:txBody>
      </p:sp>
      <p:sp>
        <p:nvSpPr>
          <p:cNvPr id="256" name="Google Shape;256;p19"/>
          <p:cNvSpPr txBox="1"/>
          <p:nvPr/>
        </p:nvSpPr>
        <p:spPr>
          <a:xfrm>
            <a:off x="5242438" y="5504688"/>
            <a:ext cx="1706819"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Li e Liang, 2021; Lester et al., 2021</a:t>
            </a:r>
            <a:endParaRPr b="0" i="0" sz="950" u="none" cap="none" strike="noStrike">
              <a:solidFill>
                <a:schemeClr val="dk1"/>
              </a:solidFill>
              <a:latin typeface="Calibri"/>
              <a:ea typeface="Calibri"/>
              <a:cs typeface="Calibri"/>
              <a:sym typeface="Calibri"/>
            </a:endParaRPr>
          </a:p>
        </p:txBody>
      </p:sp>
      <p:sp>
        <p:nvSpPr>
          <p:cNvPr id="257" name="Google Shape;257;p19"/>
          <p:cNvSpPr/>
          <p:nvPr/>
        </p:nvSpPr>
        <p:spPr>
          <a:xfrm>
            <a:off x="7269297" y="1783080"/>
            <a:ext cx="1981139" cy="4069080"/>
          </a:xfrm>
          <a:prstGeom prst="roundRect">
            <a:avLst>
              <a:gd fmla="val 3692" name="adj"/>
            </a:avLst>
          </a:prstGeom>
          <a:solidFill>
            <a:srgbClr val="EFF3F7"/>
          </a:solidFill>
          <a:ln cap="flat" cmpd="sng" w="152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txBox="1"/>
          <p:nvPr/>
        </p:nvSpPr>
        <p:spPr>
          <a:xfrm>
            <a:off x="7379025" y="1828800"/>
            <a:ext cx="1761683" cy="502920"/>
          </a:xfrm>
          <a:prstGeom prst="rect">
            <a:avLst/>
          </a:prstGeom>
          <a:noFill/>
          <a:ln>
            <a:noFill/>
          </a:ln>
        </p:spPr>
        <p:txBody>
          <a:bodyPr anchorCtr="0" anchor="ctr" bIns="0" lIns="0" spcFirstLastPara="1" rIns="0" wrap="square" tIns="0">
            <a:noAutofit/>
          </a:bodyPr>
          <a:lstStyle/>
          <a:p>
            <a:pPr indent="0" lvl="0" marL="0" marR="0" rtl="0" algn="ctr">
              <a:lnSpc>
                <a:spcPct val="110344"/>
              </a:lnSpc>
              <a:spcBef>
                <a:spcPts val="0"/>
              </a:spcBef>
              <a:spcAft>
                <a:spcPts val="0"/>
              </a:spcAft>
              <a:buClr>
                <a:srgbClr val="A55A18"/>
              </a:buClr>
              <a:buSzPts val="1450"/>
              <a:buFont typeface="Cambria"/>
              <a:buNone/>
            </a:pPr>
            <a:r>
              <a:rPr b="1" i="0" lang="en-US" sz="1450" u="none" cap="none" strike="noStrike">
                <a:solidFill>
                  <a:srgbClr val="A55A18"/>
                </a:solidFill>
                <a:latin typeface="Cambria"/>
                <a:ea typeface="Cambria"/>
                <a:cs typeface="Cambria"/>
                <a:sym typeface="Cambria"/>
              </a:rPr>
              <a:t>LoRA</a:t>
            </a:r>
            <a:endParaRPr b="0" i="0" sz="1450" u="none" cap="none" strike="noStrike">
              <a:solidFill>
                <a:schemeClr val="dk1"/>
              </a:solidFill>
              <a:latin typeface="Calibri"/>
              <a:ea typeface="Calibri"/>
              <a:cs typeface="Calibri"/>
              <a:sym typeface="Calibri"/>
            </a:endParaRPr>
          </a:p>
        </p:txBody>
      </p:sp>
      <p:cxnSp>
        <p:nvCxnSpPr>
          <p:cNvPr id="259" name="Google Shape;259;p19"/>
          <p:cNvCxnSpPr/>
          <p:nvPr/>
        </p:nvCxnSpPr>
        <p:spPr>
          <a:xfrm rot="10800000">
            <a:off x="8026695" y="2450592"/>
            <a:ext cx="0" cy="1554480"/>
          </a:xfrm>
          <a:prstGeom prst="straightConnector1">
            <a:avLst/>
          </a:prstGeom>
          <a:noFill/>
          <a:ln cap="flat" cmpd="sng" w="15225">
            <a:solidFill>
              <a:srgbClr val="8494A6"/>
            </a:solidFill>
            <a:prstDash val="solid"/>
            <a:round/>
            <a:headEnd len="sm" w="sm" type="none"/>
            <a:tailEnd len="med" w="med" type="triangle"/>
          </a:ln>
        </p:spPr>
      </p:cxnSp>
      <p:sp>
        <p:nvSpPr>
          <p:cNvPr id="260" name="Google Shape;260;p19"/>
          <p:cNvSpPr/>
          <p:nvPr/>
        </p:nvSpPr>
        <p:spPr>
          <a:xfrm>
            <a:off x="7500915" y="3419856"/>
            <a:ext cx="10515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txBox="1"/>
          <p:nvPr/>
        </p:nvSpPr>
        <p:spPr>
          <a:xfrm>
            <a:off x="7500915" y="3419856"/>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atenção</a:t>
            </a:r>
            <a:endParaRPr b="0" i="0" sz="1150" u="none" cap="none" strike="noStrike">
              <a:solidFill>
                <a:schemeClr val="dk1"/>
              </a:solidFill>
              <a:latin typeface="Calibri"/>
              <a:ea typeface="Calibri"/>
              <a:cs typeface="Calibri"/>
              <a:sym typeface="Calibri"/>
            </a:endParaRPr>
          </a:p>
        </p:txBody>
      </p:sp>
      <p:sp>
        <p:nvSpPr>
          <p:cNvPr id="262" name="Google Shape;262;p19"/>
          <p:cNvSpPr/>
          <p:nvPr/>
        </p:nvSpPr>
        <p:spPr>
          <a:xfrm>
            <a:off x="7500915" y="2798064"/>
            <a:ext cx="10515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txBox="1"/>
          <p:nvPr/>
        </p:nvSpPr>
        <p:spPr>
          <a:xfrm>
            <a:off x="7500915" y="2798064"/>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MLP</a:t>
            </a:r>
            <a:endParaRPr b="0" i="0" sz="1150" u="none" cap="none" strike="noStrike">
              <a:solidFill>
                <a:schemeClr val="dk1"/>
              </a:solidFill>
              <a:latin typeface="Calibri"/>
              <a:ea typeface="Calibri"/>
              <a:cs typeface="Calibri"/>
              <a:sym typeface="Calibri"/>
            </a:endParaRPr>
          </a:p>
        </p:txBody>
      </p:sp>
      <p:sp>
        <p:nvSpPr>
          <p:cNvPr id="264" name="Google Shape;264;p19"/>
          <p:cNvSpPr/>
          <p:nvPr/>
        </p:nvSpPr>
        <p:spPr>
          <a:xfrm>
            <a:off x="8643915" y="3456432"/>
            <a:ext cx="475488" cy="292608"/>
          </a:xfrm>
          <a:prstGeom prst="roundRect">
            <a:avLst>
              <a:gd fmla="val 15625" name="adj"/>
            </a:avLst>
          </a:prstGeom>
          <a:solidFill>
            <a:srgbClr val="E08A3C"/>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9"/>
          <p:cNvSpPr txBox="1"/>
          <p:nvPr/>
        </p:nvSpPr>
        <p:spPr>
          <a:xfrm>
            <a:off x="8643915" y="3456432"/>
            <a:ext cx="47548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A·B</a:t>
            </a:r>
            <a:endParaRPr b="0" i="0" sz="1050" u="none" cap="none" strike="noStrike">
              <a:solidFill>
                <a:schemeClr val="dk1"/>
              </a:solidFill>
              <a:latin typeface="Calibri"/>
              <a:ea typeface="Calibri"/>
              <a:cs typeface="Calibri"/>
              <a:sym typeface="Calibri"/>
            </a:endParaRPr>
          </a:p>
        </p:txBody>
      </p:sp>
      <p:sp>
        <p:nvSpPr>
          <p:cNvPr id="266" name="Google Shape;266;p19"/>
          <p:cNvSpPr/>
          <p:nvPr/>
        </p:nvSpPr>
        <p:spPr>
          <a:xfrm>
            <a:off x="8643915" y="2834640"/>
            <a:ext cx="475488" cy="292608"/>
          </a:xfrm>
          <a:prstGeom prst="roundRect">
            <a:avLst>
              <a:gd fmla="val 15625" name="adj"/>
            </a:avLst>
          </a:prstGeom>
          <a:solidFill>
            <a:srgbClr val="E08A3C"/>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
          <p:cNvSpPr txBox="1"/>
          <p:nvPr/>
        </p:nvSpPr>
        <p:spPr>
          <a:xfrm>
            <a:off x="8643915" y="2834640"/>
            <a:ext cx="47548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A·B</a:t>
            </a:r>
            <a:endParaRPr b="0" i="0" sz="1050" u="none" cap="none" strike="noStrike">
              <a:solidFill>
                <a:schemeClr val="dk1"/>
              </a:solidFill>
              <a:latin typeface="Calibri"/>
              <a:ea typeface="Calibri"/>
              <a:cs typeface="Calibri"/>
              <a:sym typeface="Calibri"/>
            </a:endParaRPr>
          </a:p>
        </p:txBody>
      </p:sp>
      <p:sp>
        <p:nvSpPr>
          <p:cNvPr id="268" name="Google Shape;268;p19"/>
          <p:cNvSpPr/>
          <p:nvPr/>
        </p:nvSpPr>
        <p:spPr>
          <a:xfrm>
            <a:off x="7555779"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9"/>
          <p:cNvSpPr/>
          <p:nvPr/>
        </p:nvSpPr>
        <p:spPr>
          <a:xfrm>
            <a:off x="7802667"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
          <p:cNvSpPr/>
          <p:nvPr/>
        </p:nvSpPr>
        <p:spPr>
          <a:xfrm>
            <a:off x="8049555"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p:nvPr/>
        </p:nvSpPr>
        <p:spPr>
          <a:xfrm>
            <a:off x="8296443"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
          <p:cNvSpPr txBox="1"/>
          <p:nvPr/>
        </p:nvSpPr>
        <p:spPr>
          <a:xfrm>
            <a:off x="7360737" y="4261104"/>
            <a:ext cx="1798259"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tokens</a:t>
            </a:r>
            <a:endParaRPr b="0" i="0" sz="950" u="none" cap="none" strike="noStrike">
              <a:solidFill>
                <a:schemeClr val="dk1"/>
              </a:solidFill>
              <a:latin typeface="Calibri"/>
              <a:ea typeface="Calibri"/>
              <a:cs typeface="Calibri"/>
              <a:sym typeface="Calibri"/>
            </a:endParaRPr>
          </a:p>
        </p:txBody>
      </p:sp>
      <p:sp>
        <p:nvSpPr>
          <p:cNvPr id="273" name="Google Shape;273;p19"/>
          <p:cNvSpPr txBox="1"/>
          <p:nvPr/>
        </p:nvSpPr>
        <p:spPr>
          <a:xfrm>
            <a:off x="7406457" y="4526280"/>
            <a:ext cx="1706819" cy="96012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Treina: </a:t>
            </a:r>
            <a:r>
              <a:rPr b="0" i="0" lang="en-US" sz="1050" u="none" cap="none" strike="noStrike">
                <a:solidFill>
                  <a:srgbClr val="4B5D73"/>
                </a:solidFill>
                <a:latin typeface="Calibri"/>
                <a:ea typeface="Calibri"/>
                <a:cs typeface="Calibri"/>
                <a:sym typeface="Calibri"/>
              </a:rPr>
              <a:t>desvio A·B ao lado das matrizes</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Fração: </a:t>
            </a:r>
            <a:r>
              <a:rPr b="0" i="0" lang="en-US" sz="1050" u="none" cap="none" strike="noStrike">
                <a:solidFill>
                  <a:srgbClr val="4B5D73"/>
                </a:solidFill>
                <a:latin typeface="Calibri"/>
                <a:ea typeface="Calibri"/>
                <a:cs typeface="Calibri"/>
                <a:sym typeface="Calibri"/>
              </a:rPr>
              <a:t>~0,01% (GPT-3)</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Inferência: </a:t>
            </a:r>
            <a:r>
              <a:rPr b="0" i="0" lang="en-US" sz="1050" u="none" cap="none" strike="noStrike">
                <a:solidFill>
                  <a:srgbClr val="4B5D73"/>
                </a:solidFill>
                <a:latin typeface="Calibri"/>
                <a:ea typeface="Calibri"/>
                <a:cs typeface="Calibri"/>
                <a:sym typeface="Calibri"/>
              </a:rPr>
              <a:t>nenhum após o merge</a:t>
            </a:r>
            <a:endParaRPr b="0" i="0" sz="1050" u="none" cap="none" strike="noStrike">
              <a:solidFill>
                <a:schemeClr val="dk1"/>
              </a:solidFill>
              <a:latin typeface="Calibri"/>
              <a:ea typeface="Calibri"/>
              <a:cs typeface="Calibri"/>
              <a:sym typeface="Calibri"/>
            </a:endParaRPr>
          </a:p>
        </p:txBody>
      </p:sp>
      <p:sp>
        <p:nvSpPr>
          <p:cNvPr id="274" name="Google Shape;274;p19"/>
          <p:cNvSpPr txBox="1"/>
          <p:nvPr/>
        </p:nvSpPr>
        <p:spPr>
          <a:xfrm>
            <a:off x="7406457" y="5504688"/>
            <a:ext cx="1706819"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Hu et al., 2021</a:t>
            </a:r>
            <a:endParaRPr b="0" i="0" sz="950" u="none" cap="none" strike="noStrike">
              <a:solidFill>
                <a:schemeClr val="dk1"/>
              </a:solidFill>
              <a:latin typeface="Calibri"/>
              <a:ea typeface="Calibri"/>
              <a:cs typeface="Calibri"/>
              <a:sym typeface="Calibri"/>
            </a:endParaRPr>
          </a:p>
        </p:txBody>
      </p:sp>
      <p:sp>
        <p:nvSpPr>
          <p:cNvPr id="275" name="Google Shape;275;p19"/>
          <p:cNvSpPr/>
          <p:nvPr/>
        </p:nvSpPr>
        <p:spPr>
          <a:xfrm>
            <a:off x="9433316" y="1783080"/>
            <a:ext cx="1981139" cy="4069080"/>
          </a:xfrm>
          <a:prstGeom prst="roundRect">
            <a:avLst>
              <a:gd fmla="val 3692" name="adj"/>
            </a:avLst>
          </a:prstGeom>
          <a:solidFill>
            <a:srgbClr val="EFF3F7"/>
          </a:solidFill>
          <a:ln cap="flat" cmpd="sng" w="152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txBox="1"/>
          <p:nvPr/>
        </p:nvSpPr>
        <p:spPr>
          <a:xfrm>
            <a:off x="9543044" y="1828800"/>
            <a:ext cx="1761683" cy="502920"/>
          </a:xfrm>
          <a:prstGeom prst="rect">
            <a:avLst/>
          </a:prstGeom>
          <a:noFill/>
          <a:ln>
            <a:noFill/>
          </a:ln>
        </p:spPr>
        <p:txBody>
          <a:bodyPr anchorCtr="0" anchor="ctr" bIns="0" lIns="0" spcFirstLastPara="1" rIns="0" wrap="square" tIns="0">
            <a:noAutofit/>
          </a:bodyPr>
          <a:lstStyle/>
          <a:p>
            <a:pPr indent="0" lvl="0" marL="0" marR="0" rtl="0" algn="ctr">
              <a:lnSpc>
                <a:spcPct val="110344"/>
              </a:lnSpc>
              <a:spcBef>
                <a:spcPts val="0"/>
              </a:spcBef>
              <a:spcAft>
                <a:spcPts val="0"/>
              </a:spcAft>
              <a:buClr>
                <a:srgbClr val="A55A18"/>
              </a:buClr>
              <a:buSzPts val="1450"/>
              <a:buFont typeface="Cambria"/>
              <a:buNone/>
            </a:pPr>
            <a:r>
              <a:rPr b="1" i="0" lang="en-US" sz="1450" u="none" cap="none" strike="noStrike">
                <a:solidFill>
                  <a:srgbClr val="A55A18"/>
                </a:solidFill>
                <a:latin typeface="Cambria"/>
                <a:ea typeface="Cambria"/>
                <a:cs typeface="Cambria"/>
                <a:sym typeface="Cambria"/>
              </a:rPr>
              <a:t>QLoRA</a:t>
            </a:r>
            <a:endParaRPr b="0" i="0" sz="1450" u="none" cap="none" strike="noStrike">
              <a:solidFill>
                <a:schemeClr val="dk1"/>
              </a:solidFill>
              <a:latin typeface="Calibri"/>
              <a:ea typeface="Calibri"/>
              <a:cs typeface="Calibri"/>
              <a:sym typeface="Calibri"/>
            </a:endParaRPr>
          </a:p>
        </p:txBody>
      </p:sp>
      <p:cxnSp>
        <p:nvCxnSpPr>
          <p:cNvPr id="277" name="Google Shape;277;p19"/>
          <p:cNvCxnSpPr/>
          <p:nvPr/>
        </p:nvCxnSpPr>
        <p:spPr>
          <a:xfrm rot="10800000">
            <a:off x="10190714" y="2450592"/>
            <a:ext cx="0" cy="1554480"/>
          </a:xfrm>
          <a:prstGeom prst="straightConnector1">
            <a:avLst/>
          </a:prstGeom>
          <a:noFill/>
          <a:ln cap="flat" cmpd="sng" w="15225">
            <a:solidFill>
              <a:srgbClr val="8494A6"/>
            </a:solidFill>
            <a:prstDash val="solid"/>
            <a:round/>
            <a:headEnd len="sm" w="sm" type="none"/>
            <a:tailEnd len="med" w="med" type="triangle"/>
          </a:ln>
        </p:spPr>
      </p:cxnSp>
      <p:sp>
        <p:nvSpPr>
          <p:cNvPr id="278" name="Google Shape;278;p19"/>
          <p:cNvSpPr/>
          <p:nvPr/>
        </p:nvSpPr>
        <p:spPr>
          <a:xfrm>
            <a:off x="9664934" y="3419856"/>
            <a:ext cx="10515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
          <p:cNvSpPr txBox="1"/>
          <p:nvPr/>
        </p:nvSpPr>
        <p:spPr>
          <a:xfrm>
            <a:off x="9664934" y="3419856"/>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000"/>
              <a:buFont typeface="Calibri"/>
              <a:buNone/>
            </a:pPr>
            <a:r>
              <a:rPr b="1" i="0" lang="en-US" sz="1000" u="none" cap="none" strike="noStrike">
                <a:solidFill>
                  <a:srgbClr val="4B5D73"/>
                </a:solidFill>
                <a:latin typeface="Calibri"/>
                <a:ea typeface="Calibri"/>
                <a:cs typeface="Calibri"/>
                <a:sym typeface="Calibri"/>
              </a:rPr>
              <a:t>atenção · 4 bits</a:t>
            </a:r>
            <a:endParaRPr b="0" i="0" sz="1000" u="none" cap="none" strike="noStrike">
              <a:solidFill>
                <a:schemeClr val="dk1"/>
              </a:solidFill>
              <a:latin typeface="Calibri"/>
              <a:ea typeface="Calibri"/>
              <a:cs typeface="Calibri"/>
              <a:sym typeface="Calibri"/>
            </a:endParaRPr>
          </a:p>
        </p:txBody>
      </p:sp>
      <p:sp>
        <p:nvSpPr>
          <p:cNvPr id="280" name="Google Shape;280;p19"/>
          <p:cNvSpPr/>
          <p:nvPr/>
        </p:nvSpPr>
        <p:spPr>
          <a:xfrm>
            <a:off x="9664934" y="2798064"/>
            <a:ext cx="10515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txBox="1"/>
          <p:nvPr/>
        </p:nvSpPr>
        <p:spPr>
          <a:xfrm>
            <a:off x="9664934" y="2798064"/>
            <a:ext cx="10515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000"/>
              <a:buFont typeface="Calibri"/>
              <a:buNone/>
            </a:pPr>
            <a:r>
              <a:rPr b="1" i="0" lang="en-US" sz="1000" u="none" cap="none" strike="noStrike">
                <a:solidFill>
                  <a:srgbClr val="4B5D73"/>
                </a:solidFill>
                <a:latin typeface="Calibri"/>
                <a:ea typeface="Calibri"/>
                <a:cs typeface="Calibri"/>
                <a:sym typeface="Calibri"/>
              </a:rPr>
              <a:t>MLP · 4 bits</a:t>
            </a:r>
            <a:endParaRPr b="0" i="0" sz="1000" u="none" cap="none" strike="noStrike">
              <a:solidFill>
                <a:schemeClr val="dk1"/>
              </a:solidFill>
              <a:latin typeface="Calibri"/>
              <a:ea typeface="Calibri"/>
              <a:cs typeface="Calibri"/>
              <a:sym typeface="Calibri"/>
            </a:endParaRPr>
          </a:p>
        </p:txBody>
      </p:sp>
      <p:sp>
        <p:nvSpPr>
          <p:cNvPr id="282" name="Google Shape;282;p19"/>
          <p:cNvSpPr/>
          <p:nvPr/>
        </p:nvSpPr>
        <p:spPr>
          <a:xfrm>
            <a:off x="10807934" y="3456432"/>
            <a:ext cx="475488" cy="292608"/>
          </a:xfrm>
          <a:prstGeom prst="roundRect">
            <a:avLst>
              <a:gd fmla="val 15625" name="adj"/>
            </a:avLst>
          </a:prstGeom>
          <a:solidFill>
            <a:srgbClr val="E08A3C"/>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9"/>
          <p:cNvSpPr txBox="1"/>
          <p:nvPr/>
        </p:nvSpPr>
        <p:spPr>
          <a:xfrm>
            <a:off x="10807934" y="3456432"/>
            <a:ext cx="47548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A·B</a:t>
            </a:r>
            <a:endParaRPr b="0" i="0" sz="1050" u="none" cap="none" strike="noStrike">
              <a:solidFill>
                <a:schemeClr val="dk1"/>
              </a:solidFill>
              <a:latin typeface="Calibri"/>
              <a:ea typeface="Calibri"/>
              <a:cs typeface="Calibri"/>
              <a:sym typeface="Calibri"/>
            </a:endParaRPr>
          </a:p>
        </p:txBody>
      </p:sp>
      <p:sp>
        <p:nvSpPr>
          <p:cNvPr id="284" name="Google Shape;284;p19"/>
          <p:cNvSpPr/>
          <p:nvPr/>
        </p:nvSpPr>
        <p:spPr>
          <a:xfrm>
            <a:off x="10807934" y="2834640"/>
            <a:ext cx="475488" cy="292608"/>
          </a:xfrm>
          <a:prstGeom prst="roundRect">
            <a:avLst>
              <a:gd fmla="val 15625" name="adj"/>
            </a:avLst>
          </a:prstGeom>
          <a:solidFill>
            <a:srgbClr val="E08A3C"/>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txBox="1"/>
          <p:nvPr/>
        </p:nvSpPr>
        <p:spPr>
          <a:xfrm>
            <a:off x="10807934" y="2834640"/>
            <a:ext cx="47548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A·B</a:t>
            </a:r>
            <a:endParaRPr b="0" i="0" sz="1050" u="none" cap="none" strike="noStrike">
              <a:solidFill>
                <a:schemeClr val="dk1"/>
              </a:solidFill>
              <a:latin typeface="Calibri"/>
              <a:ea typeface="Calibri"/>
              <a:cs typeface="Calibri"/>
              <a:sym typeface="Calibri"/>
            </a:endParaRPr>
          </a:p>
        </p:txBody>
      </p:sp>
      <p:sp>
        <p:nvSpPr>
          <p:cNvPr id="286" name="Google Shape;286;p19"/>
          <p:cNvSpPr/>
          <p:nvPr/>
        </p:nvSpPr>
        <p:spPr>
          <a:xfrm>
            <a:off x="9719798"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
          <p:cNvSpPr/>
          <p:nvPr/>
        </p:nvSpPr>
        <p:spPr>
          <a:xfrm>
            <a:off x="9966686"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9"/>
          <p:cNvSpPr/>
          <p:nvPr/>
        </p:nvSpPr>
        <p:spPr>
          <a:xfrm>
            <a:off x="10213574"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9"/>
          <p:cNvSpPr/>
          <p:nvPr/>
        </p:nvSpPr>
        <p:spPr>
          <a:xfrm>
            <a:off x="10460462" y="402336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9"/>
          <p:cNvSpPr txBox="1"/>
          <p:nvPr/>
        </p:nvSpPr>
        <p:spPr>
          <a:xfrm>
            <a:off x="9524756" y="4261104"/>
            <a:ext cx="1798259"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tokens</a:t>
            </a:r>
            <a:endParaRPr b="0" i="0" sz="950" u="none" cap="none" strike="noStrike">
              <a:solidFill>
                <a:schemeClr val="dk1"/>
              </a:solidFill>
              <a:latin typeface="Calibri"/>
              <a:ea typeface="Calibri"/>
              <a:cs typeface="Calibri"/>
              <a:sym typeface="Calibri"/>
            </a:endParaRPr>
          </a:p>
        </p:txBody>
      </p:sp>
      <p:sp>
        <p:nvSpPr>
          <p:cNvPr id="291" name="Google Shape;291;p19"/>
          <p:cNvSpPr txBox="1"/>
          <p:nvPr/>
        </p:nvSpPr>
        <p:spPr>
          <a:xfrm>
            <a:off x="9570476" y="4526280"/>
            <a:ext cx="1706819" cy="96012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Treina: </a:t>
            </a:r>
            <a:r>
              <a:rPr b="0" i="0" lang="en-US" sz="1050" u="none" cap="none" strike="noStrike">
                <a:solidFill>
                  <a:srgbClr val="4B5D73"/>
                </a:solidFill>
                <a:latin typeface="Calibri"/>
                <a:ea typeface="Calibri"/>
                <a:cs typeface="Calibri"/>
                <a:sym typeface="Calibri"/>
              </a:rPr>
              <a:t>a mesma LoRA, base em 4 bits</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Fração: </a:t>
            </a:r>
            <a:r>
              <a:rPr b="0" i="0" lang="en-US" sz="1050" u="none" cap="none" strike="noStrike">
                <a:solidFill>
                  <a:srgbClr val="4B5D73"/>
                </a:solidFill>
                <a:latin typeface="Calibri"/>
                <a:ea typeface="Calibri"/>
                <a:cs typeface="Calibri"/>
                <a:sym typeface="Calibri"/>
              </a:rPr>
              <a:t>igual à LoRA</a:t>
            </a:r>
            <a:endParaRPr b="0" i="0" sz="1050" u="none" cap="none" strike="noStrike">
              <a:solidFill>
                <a:schemeClr val="dk1"/>
              </a:solidFill>
              <a:latin typeface="Calibri"/>
              <a:ea typeface="Calibri"/>
              <a:cs typeface="Calibri"/>
              <a:sym typeface="Calibri"/>
            </a:endParaRPr>
          </a:p>
          <a:p>
            <a:pPr indent="0" lvl="0" marL="0" marR="0" rtl="0" algn="l">
              <a:lnSpc>
                <a:spcPct val="128571"/>
              </a:lnSpc>
              <a:spcBef>
                <a:spcPts val="200"/>
              </a:spcBef>
              <a:spcAft>
                <a:spcPts val="0"/>
              </a:spcAft>
              <a:buClr>
                <a:srgbClr val="0F1C2E"/>
              </a:buClr>
              <a:buSzPts val="1050"/>
              <a:buFont typeface="Calibri"/>
              <a:buNone/>
            </a:pPr>
            <a:r>
              <a:rPr b="1" i="0" lang="en-US" sz="1050" u="none" cap="none" strike="noStrike">
                <a:solidFill>
                  <a:srgbClr val="0F1C2E"/>
                </a:solidFill>
                <a:latin typeface="Calibri"/>
                <a:ea typeface="Calibri"/>
                <a:cs typeface="Calibri"/>
                <a:sym typeface="Calibri"/>
              </a:rPr>
              <a:t>Inferência: </a:t>
            </a:r>
            <a:r>
              <a:rPr b="0" i="0" lang="en-US" sz="1050" u="none" cap="none" strike="noStrike">
                <a:solidFill>
                  <a:srgbClr val="4B5D73"/>
                </a:solidFill>
                <a:latin typeface="Calibri"/>
                <a:ea typeface="Calibri"/>
                <a:cs typeface="Calibri"/>
                <a:sym typeface="Calibri"/>
              </a:rPr>
              <a:t>desquantiza ou funde</a:t>
            </a:r>
            <a:endParaRPr b="0" i="0" sz="1050" u="none" cap="none" strike="noStrike">
              <a:solidFill>
                <a:schemeClr val="dk1"/>
              </a:solidFill>
              <a:latin typeface="Calibri"/>
              <a:ea typeface="Calibri"/>
              <a:cs typeface="Calibri"/>
              <a:sym typeface="Calibri"/>
            </a:endParaRPr>
          </a:p>
        </p:txBody>
      </p:sp>
      <p:sp>
        <p:nvSpPr>
          <p:cNvPr id="292" name="Google Shape;292;p19"/>
          <p:cNvSpPr txBox="1"/>
          <p:nvPr/>
        </p:nvSpPr>
        <p:spPr>
          <a:xfrm>
            <a:off x="9570476" y="5504688"/>
            <a:ext cx="1706819"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Dettmers et al., 2023</a:t>
            </a:r>
            <a:endParaRPr b="0" i="0" sz="950" u="none" cap="none" strike="noStrike">
              <a:solidFill>
                <a:schemeClr val="dk1"/>
              </a:solidFill>
              <a:latin typeface="Calibri"/>
              <a:ea typeface="Calibri"/>
              <a:cs typeface="Calibri"/>
              <a:sym typeface="Calibri"/>
            </a:endParaRPr>
          </a:p>
        </p:txBody>
      </p:sp>
      <p:sp>
        <p:nvSpPr>
          <p:cNvPr id="293" name="Google Shape;293;p19"/>
          <p:cNvSpPr txBox="1"/>
          <p:nvPr/>
        </p:nvSpPr>
        <p:spPr>
          <a:xfrm>
            <a:off x="777240" y="5943600"/>
            <a:ext cx="10637215"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1050"/>
              <a:buFont typeface="Calibri"/>
              <a:buNone/>
            </a:pPr>
            <a:r>
              <a:rPr b="0" i="1" lang="en-US" sz="1050" u="none" cap="none" strike="noStrike">
                <a:solidFill>
                  <a:srgbClr val="8494A6"/>
                </a:solidFill>
                <a:latin typeface="Calibri"/>
                <a:ea typeface="Calibri"/>
                <a:cs typeface="Calibri"/>
                <a:sym typeface="Calibri"/>
              </a:rPr>
              <a:t>Âmbar: treinado. Cinza: congelado. Em comum: a base não muda, e a mesma base serve a várias tarefas trocando só a peça âmbar.</a:t>
            </a:r>
            <a:endParaRPr b="0" i="0" sz="1050" u="none" cap="none" strike="noStrike">
              <a:solidFill>
                <a:schemeClr val="dk1"/>
              </a:solidFill>
              <a:latin typeface="Calibri"/>
              <a:ea typeface="Calibri"/>
              <a:cs typeface="Calibri"/>
              <a:sym typeface="Calibri"/>
            </a:endParaRPr>
          </a:p>
        </p:txBody>
      </p:sp>
      <p:sp>
        <p:nvSpPr>
          <p:cNvPr id="294" name="Google Shape;294;p19"/>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0"/>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A mudança cabe em poucas direções</a:t>
            </a:r>
            <a:endParaRPr sz="3100"/>
          </a:p>
        </p:txBody>
      </p:sp>
      <p:sp>
        <p:nvSpPr>
          <p:cNvPr id="301" name="Google Shape;301;p20"/>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Ajustar um modelo pré-treinado parece exigir pouco grau de liberdade. É a intuição por trás da LoRA.</a:t>
            </a:r>
            <a:endParaRPr b="0" i="0" sz="1450" u="none" cap="none" strike="noStrike">
              <a:solidFill>
                <a:schemeClr val="dk1"/>
              </a:solidFill>
              <a:latin typeface="Calibri"/>
              <a:ea typeface="Calibri"/>
              <a:cs typeface="Calibri"/>
              <a:sym typeface="Calibri"/>
            </a:endParaRPr>
          </a:p>
        </p:txBody>
      </p:sp>
      <p:pic>
        <p:nvPicPr>
          <p:cNvPr id="302" name="Google Shape;302;p20"/>
          <p:cNvPicPr preferRelativeResize="0"/>
          <p:nvPr/>
        </p:nvPicPr>
        <p:blipFill rotWithShape="1">
          <a:blip r:embed="rId3">
            <a:alphaModFix/>
          </a:blip>
          <a:srcRect b="0" l="0" r="0" t="0"/>
          <a:stretch/>
        </p:blipFill>
        <p:spPr>
          <a:xfrm>
            <a:off x="777240" y="1783080"/>
            <a:ext cx="6583680" cy="3840480"/>
          </a:xfrm>
          <a:prstGeom prst="rect">
            <a:avLst/>
          </a:prstGeom>
          <a:noFill/>
          <a:ln>
            <a:noFill/>
          </a:ln>
        </p:spPr>
      </p:pic>
      <p:sp>
        <p:nvSpPr>
          <p:cNvPr id="303" name="Google Shape;303;p20"/>
          <p:cNvSpPr txBox="1"/>
          <p:nvPr/>
        </p:nvSpPr>
        <p:spPr>
          <a:xfrm>
            <a:off x="777240" y="5623560"/>
            <a:ext cx="6583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1100"/>
              <a:buFont typeface="Calibri"/>
              <a:buNone/>
            </a:pPr>
            <a:r>
              <a:rPr b="0" i="1" lang="en-US" sz="1100" u="none" cap="none" strike="noStrike">
                <a:solidFill>
                  <a:srgbClr val="8494A6"/>
                </a:solidFill>
                <a:latin typeface="Calibri"/>
                <a:ea typeface="Calibri"/>
                <a:cs typeface="Calibri"/>
                <a:sym typeface="Calibri"/>
              </a:rPr>
              <a:t>direções (valores singulares) mantidas, de 64</a:t>
            </a:r>
            <a:endParaRPr b="0" i="0" sz="1100" u="none" cap="none" strike="noStrike">
              <a:solidFill>
                <a:schemeClr val="dk1"/>
              </a:solidFill>
              <a:latin typeface="Calibri"/>
              <a:ea typeface="Calibri"/>
              <a:cs typeface="Calibri"/>
              <a:sym typeface="Calibri"/>
            </a:endParaRPr>
          </a:p>
        </p:txBody>
      </p:sp>
      <p:sp>
        <p:nvSpPr>
          <p:cNvPr id="304" name="Google Shape;304;p20"/>
          <p:cNvSpPr txBox="1"/>
          <p:nvPr/>
        </p:nvSpPr>
        <p:spPr>
          <a:xfrm>
            <a:off x="7680960" y="1810512"/>
            <a:ext cx="373349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450"/>
              <a:buFont typeface="Calibri"/>
              <a:buNone/>
            </a:pPr>
            <a:r>
              <a:rPr b="1" i="0" lang="en-US" sz="1450" u="none" cap="none" strike="noStrike">
                <a:solidFill>
                  <a:srgbClr val="A55A18"/>
                </a:solidFill>
                <a:latin typeface="Calibri"/>
                <a:ea typeface="Calibri"/>
                <a:cs typeface="Calibri"/>
                <a:sym typeface="Calibri"/>
              </a:rPr>
              <a:t>No nosso modelo</a:t>
            </a:r>
            <a:endParaRPr b="0" i="0" sz="1450" u="none" cap="none" strike="noStrike">
              <a:solidFill>
                <a:schemeClr val="dk1"/>
              </a:solidFill>
              <a:latin typeface="Calibri"/>
              <a:ea typeface="Calibri"/>
              <a:cs typeface="Calibri"/>
              <a:sym typeface="Calibri"/>
            </a:endParaRPr>
          </a:p>
        </p:txBody>
      </p:sp>
      <p:sp>
        <p:nvSpPr>
          <p:cNvPr id="305" name="Google Shape;305;p20"/>
          <p:cNvSpPr txBox="1"/>
          <p:nvPr/>
        </p:nvSpPr>
        <p:spPr>
          <a:xfrm>
            <a:off x="7680960" y="2139696"/>
            <a:ext cx="3733495" cy="13716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Medimos quanto da 'energia' de cada matriz cabe nas k maiores direções. Com 8 de 64 direções, o desvio do ajuste completo guarda 76%; o próprio peso guarda 47%.</a:t>
            </a:r>
            <a:endParaRPr b="0" i="0" sz="1300" u="none" cap="none" strike="noStrike">
              <a:solidFill>
                <a:schemeClr val="dk1"/>
              </a:solidFill>
              <a:latin typeface="Calibri"/>
              <a:ea typeface="Calibri"/>
              <a:cs typeface="Calibri"/>
              <a:sym typeface="Calibri"/>
            </a:endParaRPr>
          </a:p>
        </p:txBody>
      </p:sp>
      <p:sp>
        <p:nvSpPr>
          <p:cNvPr id="306" name="Google Shape;306;p20"/>
          <p:cNvSpPr txBox="1"/>
          <p:nvPr/>
        </p:nvSpPr>
        <p:spPr>
          <a:xfrm>
            <a:off x="7680960" y="3337560"/>
            <a:ext cx="373349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5F55"/>
              </a:buClr>
              <a:buSzPts val="1450"/>
              <a:buFont typeface="Calibri"/>
              <a:buNone/>
            </a:pPr>
            <a:r>
              <a:rPr b="1" i="0" lang="en-US" sz="1450" u="none" cap="none" strike="noStrike">
                <a:solidFill>
                  <a:srgbClr val="0E5F55"/>
                </a:solidFill>
                <a:latin typeface="Calibri"/>
                <a:ea typeface="Calibri"/>
                <a:cs typeface="Calibri"/>
                <a:sym typeface="Calibri"/>
              </a:rPr>
              <a:t>Na literatura</a:t>
            </a:r>
            <a:endParaRPr b="0" i="0" sz="1450" u="none" cap="none" strike="noStrike">
              <a:solidFill>
                <a:schemeClr val="dk1"/>
              </a:solidFill>
              <a:latin typeface="Calibri"/>
              <a:ea typeface="Calibri"/>
              <a:cs typeface="Calibri"/>
              <a:sym typeface="Calibri"/>
            </a:endParaRPr>
          </a:p>
        </p:txBody>
      </p:sp>
      <p:sp>
        <p:nvSpPr>
          <p:cNvPr id="307" name="Google Shape;307;p20"/>
          <p:cNvSpPr txBox="1"/>
          <p:nvPr/>
        </p:nvSpPr>
        <p:spPr>
          <a:xfrm>
            <a:off x="7680960" y="3666744"/>
            <a:ext cx="3733495" cy="109728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Com cerca de 200 parâmetros projetados no espaço completo, o RoBERTa chega a 90% do ajuste completo no MRPC (Aghajanyan et al., 2020).</a:t>
            </a:r>
            <a:endParaRPr b="0" i="0" sz="1300" u="none" cap="none" strike="noStrike">
              <a:solidFill>
                <a:schemeClr val="dk1"/>
              </a:solidFill>
              <a:latin typeface="Calibri"/>
              <a:ea typeface="Calibri"/>
              <a:cs typeface="Calibri"/>
              <a:sym typeface="Calibri"/>
            </a:endParaRPr>
          </a:p>
        </p:txBody>
      </p:sp>
      <p:sp>
        <p:nvSpPr>
          <p:cNvPr id="308" name="Google Shape;308;p20"/>
          <p:cNvSpPr txBox="1"/>
          <p:nvPr/>
        </p:nvSpPr>
        <p:spPr>
          <a:xfrm>
            <a:off x="7680960" y="4617720"/>
            <a:ext cx="373349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50"/>
              <a:buFont typeface="Calibri"/>
              <a:buNone/>
            </a:pPr>
            <a:r>
              <a:rPr b="1" i="0" lang="en-US" sz="1450" u="none" cap="none" strike="noStrike">
                <a:solidFill>
                  <a:srgbClr val="C0392B"/>
                </a:solidFill>
                <a:latin typeface="Calibri"/>
                <a:ea typeface="Calibri"/>
                <a:cs typeface="Calibri"/>
                <a:sym typeface="Calibri"/>
              </a:rPr>
              <a:t>Mas não é regra</a:t>
            </a:r>
            <a:endParaRPr b="0" i="0" sz="1450" u="none" cap="none" strike="noStrike">
              <a:solidFill>
                <a:schemeClr val="dk1"/>
              </a:solidFill>
              <a:latin typeface="Calibri"/>
              <a:ea typeface="Calibri"/>
              <a:cs typeface="Calibri"/>
              <a:sym typeface="Calibri"/>
            </a:endParaRPr>
          </a:p>
        </p:txBody>
      </p:sp>
      <p:sp>
        <p:nvSpPr>
          <p:cNvPr id="309" name="Google Shape;309;p20"/>
          <p:cNvSpPr txBox="1"/>
          <p:nvPr/>
        </p:nvSpPr>
        <p:spPr>
          <a:xfrm>
            <a:off x="7680960" y="4946904"/>
            <a:ext cx="3733495" cy="109728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Em tarefas grandes, o desvio do ajuste completo tem posto 10 a 100 vezes maior que o de uma LoRA típica (Biderman et al., 2024).</a:t>
            </a:r>
            <a:endParaRPr b="0" i="0" sz="1300" u="none" cap="none" strike="noStrike">
              <a:solidFill>
                <a:schemeClr val="dk1"/>
              </a:solidFill>
              <a:latin typeface="Calibri"/>
              <a:ea typeface="Calibri"/>
              <a:cs typeface="Calibri"/>
              <a:sym typeface="Calibri"/>
            </a:endParaRPr>
          </a:p>
        </p:txBody>
      </p:sp>
      <p:sp>
        <p:nvSpPr>
          <p:cNvPr id="310" name="Google Shape;310;p20"/>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1"/>
          <p:cNvSpPr txBox="1"/>
          <p:nvPr/>
        </p:nvSpPr>
        <p:spPr>
          <a:xfrm>
            <a:off x="777240" y="1783080"/>
            <a:ext cx="146304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9600"/>
              <a:buFont typeface="Cambria"/>
              <a:buNone/>
            </a:pPr>
            <a:r>
              <a:rPr b="1" i="0" lang="en-US" sz="9600" u="none" cap="none" strike="noStrike">
                <a:solidFill>
                  <a:srgbClr val="E08A3C"/>
                </a:solidFill>
                <a:latin typeface="Cambria"/>
                <a:ea typeface="Cambria"/>
                <a:cs typeface="Cambria"/>
                <a:sym typeface="Cambria"/>
              </a:rPr>
              <a:t>3</a:t>
            </a:r>
            <a:endParaRPr b="0" i="0" sz="9600" u="none" cap="none" strike="noStrike">
              <a:solidFill>
                <a:schemeClr val="dk1"/>
              </a:solidFill>
              <a:latin typeface="Calibri"/>
              <a:ea typeface="Calibri"/>
              <a:cs typeface="Calibri"/>
              <a:sym typeface="Calibri"/>
            </a:endParaRPr>
          </a:p>
        </p:txBody>
      </p:sp>
      <p:sp>
        <p:nvSpPr>
          <p:cNvPr id="317" name="Google Shape;317;p21"/>
          <p:cNvSpPr txBox="1"/>
          <p:nvPr>
            <p:ph type="title"/>
          </p:nvPr>
        </p:nvSpPr>
        <p:spPr>
          <a:xfrm>
            <a:off x="2377440" y="2011680"/>
            <a:ext cx="6583680" cy="73152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FFFFFF"/>
              </a:buClr>
              <a:buSzPts val="3600"/>
              <a:buFont typeface="Cambria"/>
              <a:buNone/>
            </a:pPr>
            <a:r>
              <a:rPr b="1" lang="en-US" sz="3600">
                <a:solidFill>
                  <a:srgbClr val="FFFFFF"/>
                </a:solidFill>
                <a:latin typeface="Cambria"/>
                <a:ea typeface="Cambria"/>
                <a:cs typeface="Cambria"/>
                <a:sym typeface="Cambria"/>
              </a:rPr>
              <a:t>Explicação técnica</a:t>
            </a:r>
            <a:endParaRPr sz="3600"/>
          </a:p>
        </p:txBody>
      </p:sp>
      <p:sp>
        <p:nvSpPr>
          <p:cNvPr id="318" name="Google Shape;318;p21"/>
          <p:cNvSpPr txBox="1"/>
          <p:nvPr/>
        </p:nvSpPr>
        <p:spPr>
          <a:xfrm>
            <a:off x="2404872" y="2761488"/>
            <a:ext cx="65836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BACB"/>
              </a:buClr>
              <a:buSzPts val="1500"/>
              <a:buFont typeface="Calibri"/>
              <a:buNone/>
            </a:pPr>
            <a:r>
              <a:rPr b="0" i="0" lang="en-US" sz="1500" u="none" cap="none" strike="noStrike">
                <a:solidFill>
                  <a:srgbClr val="A9BACB"/>
                </a:solidFill>
                <a:latin typeface="Calibri"/>
                <a:ea typeface="Calibri"/>
                <a:cs typeface="Calibri"/>
                <a:sym typeface="Calibri"/>
              </a:rPr>
              <a:t>LoRA, seus hiperparâmetros, memória, QLoRA, merge e comparação justa.</a:t>
            </a:r>
            <a:endParaRPr b="0" i="0" sz="1500" u="none" cap="none" strike="noStrike">
              <a:solidFill>
                <a:schemeClr val="dk1"/>
              </a:solidFill>
              <a:latin typeface="Calibri"/>
              <a:ea typeface="Calibri"/>
              <a:cs typeface="Calibri"/>
              <a:sym typeface="Calibri"/>
            </a:endParaRPr>
          </a:p>
        </p:txBody>
      </p:sp>
      <p:cxnSp>
        <p:nvCxnSpPr>
          <p:cNvPr id="319" name="Google Shape;319;p21"/>
          <p:cNvCxnSpPr/>
          <p:nvPr/>
        </p:nvCxnSpPr>
        <p:spPr>
          <a:xfrm>
            <a:off x="8732520" y="1691640"/>
            <a:ext cx="0" cy="3566160"/>
          </a:xfrm>
          <a:prstGeom prst="straightConnector1">
            <a:avLst/>
          </a:prstGeom>
          <a:noFill/>
          <a:ln cap="flat" cmpd="sng" w="12700">
            <a:solidFill>
              <a:srgbClr val="35506B"/>
            </a:solidFill>
            <a:prstDash val="solid"/>
            <a:round/>
            <a:headEnd len="sm" w="sm" type="none"/>
            <a:tailEnd len="sm" w="sm" type="none"/>
          </a:ln>
        </p:spPr>
      </p:cxnSp>
      <p:sp>
        <p:nvSpPr>
          <p:cNvPr id="320" name="Google Shape;320;p21"/>
          <p:cNvSpPr txBox="1"/>
          <p:nvPr/>
        </p:nvSpPr>
        <p:spPr>
          <a:xfrm>
            <a:off x="9098280" y="1691640"/>
            <a:ext cx="2377440" cy="3566160"/>
          </a:xfrm>
          <a:prstGeom prst="rect">
            <a:avLst/>
          </a:prstGeom>
          <a:noFill/>
          <a:ln>
            <a:noFill/>
          </a:ln>
        </p:spPr>
        <p:txBody>
          <a:bodyPr anchorCtr="0" anchor="t" bIns="0" lIns="0" spcFirstLastPara="1" rIns="0" wrap="square" tIns="0">
            <a:noAutofit/>
          </a:bodyPr>
          <a:lstStyle/>
          <a:p>
            <a:pPr indent="-342900" lvl="0" marL="342900" marR="0" rtl="0" algn="l">
              <a:lnSpc>
                <a:spcPct val="144000"/>
              </a:lnSpc>
              <a:spcBef>
                <a:spcPts val="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Nosso laboratório</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O laço de treino</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A atualização de baixo rank</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Onde a LoRA entra</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Rank, alpha, dropout e módulos</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Parâmetros e memória</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LoRA × QLoRA</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Adapter, merge e antes/depois</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Comparação válida</a:t>
            </a:r>
            <a:endParaRPr b="0" i="0" sz="1250" u="none" cap="none" strike="noStrike">
              <a:solidFill>
                <a:schemeClr val="dk1"/>
              </a:solidFill>
              <a:latin typeface="Calibri"/>
              <a:ea typeface="Calibri"/>
              <a:cs typeface="Calibri"/>
              <a:sym typeface="Calibri"/>
            </a:endParaRPr>
          </a:p>
        </p:txBody>
      </p:sp>
      <p:sp>
        <p:nvSpPr>
          <p:cNvPr id="321" name="Google Shape;321;p21"/>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5C7086"/>
                </a:solidFill>
                <a:latin typeface="Calibri"/>
                <a:ea typeface="Calibri"/>
                <a:cs typeface="Calibri"/>
                <a:sym typeface="Calibri"/>
              </a:rPr>
              <a:t>‹#›</a:t>
            </a:fld>
            <a:endParaRPr b="0" i="0" sz="950" u="none" cap="none" strike="noStrike">
              <a:solidFill>
                <a:srgbClr val="5C708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2"/>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Nosso laboratório e a régua</a:t>
            </a:r>
            <a:endParaRPr sz="3100"/>
          </a:p>
        </p:txBody>
      </p:sp>
      <p:sp>
        <p:nvSpPr>
          <p:cNvPr id="328" name="Google Shape;328;p22"/>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A régua foi fixada antes de treinar. Todos os métodos usam a mesma base, os mesmos dados e o mesmo orçamento.</a:t>
            </a:r>
            <a:endParaRPr b="0" i="0" sz="1450" u="none" cap="none" strike="noStrike">
              <a:solidFill>
                <a:schemeClr val="dk1"/>
              </a:solidFill>
              <a:latin typeface="Calibri"/>
              <a:ea typeface="Calibri"/>
              <a:cs typeface="Calibri"/>
              <a:sym typeface="Calibri"/>
            </a:endParaRPr>
          </a:p>
        </p:txBody>
      </p:sp>
      <p:sp>
        <p:nvSpPr>
          <p:cNvPr id="329" name="Google Shape;329;p22"/>
          <p:cNvSpPr/>
          <p:nvPr/>
        </p:nvSpPr>
        <p:spPr>
          <a:xfrm>
            <a:off x="777240" y="1828800"/>
            <a:ext cx="3301898" cy="2331720"/>
          </a:xfrm>
          <a:prstGeom prst="roundRect">
            <a:avLst>
              <a:gd fmla="val 3137"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2"/>
          <p:cNvSpPr/>
          <p:nvPr/>
        </p:nvSpPr>
        <p:spPr>
          <a:xfrm>
            <a:off x="1005840" y="1993392"/>
            <a:ext cx="402336" cy="402336"/>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2"/>
          <p:cNvSpPr txBox="1"/>
          <p:nvPr/>
        </p:nvSpPr>
        <p:spPr>
          <a:xfrm>
            <a:off x="1005840" y="19933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332" name="Google Shape;332;p22"/>
          <p:cNvSpPr txBox="1"/>
          <p:nvPr/>
        </p:nvSpPr>
        <p:spPr>
          <a:xfrm>
            <a:off x="1527048" y="1993392"/>
            <a:ext cx="238749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800"/>
              <a:buFont typeface="Cambria"/>
              <a:buNone/>
            </a:pPr>
            <a:r>
              <a:rPr b="1" i="0" lang="en-US" sz="1800" u="none" cap="none" strike="noStrike">
                <a:solidFill>
                  <a:srgbClr val="0F1C2E"/>
                </a:solidFill>
                <a:latin typeface="Cambria"/>
                <a:ea typeface="Cambria"/>
                <a:cs typeface="Cambria"/>
                <a:sym typeface="Cambria"/>
              </a:rPr>
              <a:t>A base</a:t>
            </a:r>
            <a:endParaRPr b="0" i="0" sz="1800" u="none" cap="none" strike="noStrike">
              <a:solidFill>
                <a:schemeClr val="dk1"/>
              </a:solidFill>
              <a:latin typeface="Calibri"/>
              <a:ea typeface="Calibri"/>
              <a:cs typeface="Calibri"/>
              <a:sym typeface="Calibri"/>
            </a:endParaRPr>
          </a:p>
        </p:txBody>
      </p:sp>
      <p:sp>
        <p:nvSpPr>
          <p:cNvPr id="333" name="Google Shape;333;p22"/>
          <p:cNvSpPr txBox="1"/>
          <p:nvPr/>
        </p:nvSpPr>
        <p:spPr>
          <a:xfrm>
            <a:off x="1033272" y="2560320"/>
            <a:ext cx="2844698" cy="1554480"/>
          </a:xfrm>
          <a:prstGeom prst="rect">
            <a:avLst/>
          </a:prstGeom>
          <a:noFill/>
          <a:ln>
            <a:noFill/>
          </a:ln>
        </p:spPr>
        <p:txBody>
          <a:bodyPr anchorCtr="0" anchor="t" bIns="0" lIns="0" spcFirstLastPara="1" rIns="0" wrap="square" tIns="0">
            <a:noAutofit/>
          </a:bodyPr>
          <a:lstStyle/>
          <a:p>
            <a:pPr indent="-342900" lvl="0" marL="342900" marR="0" rtl="0" algn="l">
              <a:lnSpc>
                <a:spcPct val="133333"/>
              </a:lnSpc>
              <a:spcBef>
                <a:spcPts val="0"/>
              </a:spcBef>
              <a:spcAft>
                <a:spcPts val="0"/>
              </a:spcAft>
              <a:buClr>
                <a:srgbClr val="4B5D73"/>
              </a:buClr>
              <a:buSzPts val="1350"/>
              <a:buFont typeface="Calibri"/>
              <a:buChar char="•"/>
            </a:pPr>
            <a:r>
              <a:rPr b="0" i="0" lang="en-US" sz="1350" u="none" cap="none" strike="noStrike">
                <a:solidFill>
                  <a:srgbClr val="4B5D73"/>
                </a:solidFill>
                <a:latin typeface="Calibri"/>
                <a:ea typeface="Calibri"/>
                <a:cs typeface="Calibri"/>
                <a:sym typeface="Calibri"/>
              </a:rPr>
              <a:t>mini-GPT pré-treinado da semana de SFT</a:t>
            </a:r>
            <a:endParaRPr b="0" i="0" sz="1350" u="none" cap="none" strike="noStrike">
              <a:solidFill>
                <a:schemeClr val="dk1"/>
              </a:solidFill>
              <a:latin typeface="Calibri"/>
              <a:ea typeface="Calibri"/>
              <a:cs typeface="Calibri"/>
              <a:sym typeface="Calibri"/>
            </a:endParaRPr>
          </a:p>
          <a:p>
            <a:pPr indent="-342900" lvl="0" marL="342900" marR="0" rtl="0" algn="l">
              <a:lnSpc>
                <a:spcPct val="133333"/>
              </a:lnSpc>
              <a:spcBef>
                <a:spcPts val="500"/>
              </a:spcBef>
              <a:spcAft>
                <a:spcPts val="0"/>
              </a:spcAft>
              <a:buClr>
                <a:srgbClr val="4B5D73"/>
              </a:buClr>
              <a:buSzPts val="1350"/>
              <a:buFont typeface="Calibri"/>
              <a:buChar char="•"/>
            </a:pPr>
            <a:r>
              <a:rPr b="0" i="0" lang="en-US" sz="1350" u="none" cap="none" strike="noStrike">
                <a:solidFill>
                  <a:srgbClr val="4B5D73"/>
                </a:solidFill>
                <a:latin typeface="Calibri"/>
                <a:ea typeface="Calibri"/>
                <a:cs typeface="Calibri"/>
                <a:sym typeface="Calibri"/>
              </a:rPr>
              <a:t>132.352 parâmetros, 2 camadas, d = 64</a:t>
            </a:r>
            <a:endParaRPr b="0" i="0" sz="1350" u="none" cap="none" strike="noStrike">
              <a:solidFill>
                <a:schemeClr val="dk1"/>
              </a:solidFill>
              <a:latin typeface="Calibri"/>
              <a:ea typeface="Calibri"/>
              <a:cs typeface="Calibri"/>
              <a:sym typeface="Calibri"/>
            </a:endParaRPr>
          </a:p>
          <a:p>
            <a:pPr indent="-342900" lvl="0" marL="342900" marR="0" rtl="0" algn="l">
              <a:lnSpc>
                <a:spcPct val="133333"/>
              </a:lnSpc>
              <a:spcBef>
                <a:spcPts val="500"/>
              </a:spcBef>
              <a:spcAft>
                <a:spcPts val="0"/>
              </a:spcAft>
              <a:buClr>
                <a:srgbClr val="4B5D73"/>
              </a:buClr>
              <a:buSzPts val="1350"/>
              <a:buFont typeface="Calibri"/>
              <a:buChar char="•"/>
            </a:pPr>
            <a:r>
              <a:rPr b="0" i="0" lang="en-US" sz="1350" u="none" cap="none" strike="noStrike">
                <a:solidFill>
                  <a:srgbClr val="4B5D73"/>
                </a:solidFill>
                <a:latin typeface="Calibri"/>
                <a:ea typeface="Calibri"/>
                <a:cs typeface="Calibri"/>
                <a:sym typeface="Calibri"/>
              </a:rPr>
              <a:t>sabe os fatos, não responde no chat</a:t>
            </a:r>
            <a:endParaRPr b="0" i="0" sz="1350" u="none" cap="none" strike="noStrike">
              <a:solidFill>
                <a:schemeClr val="dk1"/>
              </a:solidFill>
              <a:latin typeface="Calibri"/>
              <a:ea typeface="Calibri"/>
              <a:cs typeface="Calibri"/>
              <a:sym typeface="Calibri"/>
            </a:endParaRPr>
          </a:p>
        </p:txBody>
      </p:sp>
      <p:sp>
        <p:nvSpPr>
          <p:cNvPr id="334" name="Google Shape;334;p22"/>
          <p:cNvSpPr/>
          <p:nvPr/>
        </p:nvSpPr>
        <p:spPr>
          <a:xfrm>
            <a:off x="4444898" y="1828800"/>
            <a:ext cx="3301898" cy="2331720"/>
          </a:xfrm>
          <a:prstGeom prst="roundRect">
            <a:avLst>
              <a:gd fmla="val 3137"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2"/>
          <p:cNvSpPr/>
          <p:nvPr/>
        </p:nvSpPr>
        <p:spPr>
          <a:xfrm>
            <a:off x="4673498" y="1993392"/>
            <a:ext cx="402336" cy="402336"/>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2"/>
          <p:cNvSpPr txBox="1"/>
          <p:nvPr/>
        </p:nvSpPr>
        <p:spPr>
          <a:xfrm>
            <a:off x="4673498" y="19933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337" name="Google Shape;337;p22"/>
          <p:cNvSpPr txBox="1"/>
          <p:nvPr/>
        </p:nvSpPr>
        <p:spPr>
          <a:xfrm>
            <a:off x="5194706" y="1993392"/>
            <a:ext cx="238749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800"/>
              <a:buFont typeface="Cambria"/>
              <a:buNone/>
            </a:pPr>
            <a:r>
              <a:rPr b="1" i="0" lang="en-US" sz="1800" u="none" cap="none" strike="noStrike">
                <a:solidFill>
                  <a:srgbClr val="0F1C2E"/>
                </a:solidFill>
                <a:latin typeface="Cambria"/>
                <a:ea typeface="Cambria"/>
                <a:cs typeface="Cambria"/>
                <a:sym typeface="Cambria"/>
              </a:rPr>
              <a:t>A tarefa</a:t>
            </a:r>
            <a:endParaRPr b="0" i="0" sz="1800" u="none" cap="none" strike="noStrike">
              <a:solidFill>
                <a:schemeClr val="dk1"/>
              </a:solidFill>
              <a:latin typeface="Calibri"/>
              <a:ea typeface="Calibri"/>
              <a:cs typeface="Calibri"/>
              <a:sym typeface="Calibri"/>
            </a:endParaRPr>
          </a:p>
        </p:txBody>
      </p:sp>
      <p:sp>
        <p:nvSpPr>
          <p:cNvPr id="338" name="Google Shape;338;p22"/>
          <p:cNvSpPr txBox="1"/>
          <p:nvPr/>
        </p:nvSpPr>
        <p:spPr>
          <a:xfrm>
            <a:off x="4700930" y="2560320"/>
            <a:ext cx="2844698" cy="1554480"/>
          </a:xfrm>
          <a:prstGeom prst="rect">
            <a:avLst/>
          </a:prstGeom>
          <a:noFill/>
          <a:ln>
            <a:noFill/>
          </a:ln>
        </p:spPr>
        <p:txBody>
          <a:bodyPr anchorCtr="0" anchor="t" bIns="0" lIns="0" spcFirstLastPara="1" rIns="0" wrap="square" tIns="0">
            <a:noAutofit/>
          </a:bodyPr>
          <a:lstStyle/>
          <a:p>
            <a:pPr indent="-342900" lvl="0" marL="342900" marR="0" rtl="0" algn="l">
              <a:lnSpc>
                <a:spcPct val="133333"/>
              </a:lnSpc>
              <a:spcBef>
                <a:spcPts val="0"/>
              </a:spcBef>
              <a:spcAft>
                <a:spcPts val="0"/>
              </a:spcAft>
              <a:buClr>
                <a:srgbClr val="4B5D73"/>
              </a:buClr>
              <a:buSzPts val="1350"/>
              <a:buFont typeface="Calibri"/>
              <a:buChar char="•"/>
            </a:pPr>
            <a:r>
              <a:rPr b="0" i="0" lang="en-US" sz="1350" u="none" cap="none" strike="noStrike">
                <a:solidFill>
                  <a:srgbClr val="4B5D73"/>
                </a:solidFill>
                <a:latin typeface="Calibri"/>
                <a:ea typeface="Calibri"/>
                <a:cs typeface="Calibri"/>
                <a:sym typeface="Calibri"/>
              </a:rPr>
              <a:t>600 conversas sobre 25 países</a:t>
            </a:r>
            <a:endParaRPr b="0" i="0" sz="1350" u="none" cap="none" strike="noStrike">
              <a:solidFill>
                <a:schemeClr val="dk1"/>
              </a:solidFill>
              <a:latin typeface="Calibri"/>
              <a:ea typeface="Calibri"/>
              <a:cs typeface="Calibri"/>
              <a:sym typeface="Calibri"/>
            </a:endParaRPr>
          </a:p>
          <a:p>
            <a:pPr indent="-342900" lvl="0" marL="342900" marR="0" rtl="0" algn="l">
              <a:lnSpc>
                <a:spcPct val="133333"/>
              </a:lnSpc>
              <a:spcBef>
                <a:spcPts val="500"/>
              </a:spcBef>
              <a:spcAft>
                <a:spcPts val="0"/>
              </a:spcAft>
              <a:buClr>
                <a:srgbClr val="4B5D73"/>
              </a:buClr>
              <a:buSzPts val="1350"/>
              <a:buFont typeface="Calibri"/>
              <a:buChar char="•"/>
            </a:pPr>
            <a:r>
              <a:rPr b="0" i="0" lang="en-US" sz="1350" u="none" cap="none" strike="noStrike">
                <a:solidFill>
                  <a:srgbClr val="4B5D73"/>
                </a:solidFill>
                <a:latin typeface="Calibri"/>
                <a:ea typeface="Calibri"/>
                <a:cs typeface="Calibri"/>
                <a:sym typeface="Calibri"/>
              </a:rPr>
              <a:t>chat template, máscara da perda</a:t>
            </a:r>
            <a:endParaRPr b="0" i="0" sz="1350" u="none" cap="none" strike="noStrike">
              <a:solidFill>
                <a:schemeClr val="dk1"/>
              </a:solidFill>
              <a:latin typeface="Calibri"/>
              <a:ea typeface="Calibri"/>
              <a:cs typeface="Calibri"/>
              <a:sym typeface="Calibri"/>
            </a:endParaRPr>
          </a:p>
          <a:p>
            <a:pPr indent="-342900" lvl="0" marL="342900" marR="0" rtl="0" algn="l">
              <a:lnSpc>
                <a:spcPct val="133333"/>
              </a:lnSpc>
              <a:spcBef>
                <a:spcPts val="500"/>
              </a:spcBef>
              <a:spcAft>
                <a:spcPts val="0"/>
              </a:spcAft>
              <a:buClr>
                <a:srgbClr val="4B5D73"/>
              </a:buClr>
              <a:buSzPts val="1350"/>
              <a:buFont typeface="Calibri"/>
              <a:buChar char="•"/>
            </a:pPr>
            <a:r>
              <a:rPr b="0" i="0" lang="en-US" sz="1350" u="none" cap="none" strike="noStrike">
                <a:solidFill>
                  <a:srgbClr val="4B5D73"/>
                </a:solidFill>
                <a:latin typeface="Calibri"/>
                <a:ea typeface="Calibri"/>
                <a:cs typeface="Calibri"/>
                <a:sym typeface="Calibri"/>
              </a:rPr>
              <a:t>300 passos × 32 conversas, sem replay</a:t>
            </a:r>
            <a:endParaRPr b="0" i="0" sz="1350" u="none" cap="none" strike="noStrike">
              <a:solidFill>
                <a:schemeClr val="dk1"/>
              </a:solidFill>
              <a:latin typeface="Calibri"/>
              <a:ea typeface="Calibri"/>
              <a:cs typeface="Calibri"/>
              <a:sym typeface="Calibri"/>
            </a:endParaRPr>
          </a:p>
        </p:txBody>
      </p:sp>
      <p:sp>
        <p:nvSpPr>
          <p:cNvPr id="339" name="Google Shape;339;p22"/>
          <p:cNvSpPr/>
          <p:nvPr/>
        </p:nvSpPr>
        <p:spPr>
          <a:xfrm>
            <a:off x="8112557" y="1828800"/>
            <a:ext cx="3301898" cy="2331720"/>
          </a:xfrm>
          <a:prstGeom prst="roundRect">
            <a:avLst>
              <a:gd fmla="val 3137" name="adj"/>
            </a:avLst>
          </a:prstGeom>
          <a:solidFill>
            <a:srgbClr val="E1F0ED"/>
          </a:solidFill>
          <a:ln cap="flat" cmpd="sng" w="15225">
            <a:solidFill>
              <a:srgbClr val="17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2"/>
          <p:cNvSpPr/>
          <p:nvPr/>
        </p:nvSpPr>
        <p:spPr>
          <a:xfrm>
            <a:off x="8341157" y="1993392"/>
            <a:ext cx="402336" cy="402336"/>
          </a:xfrm>
          <a:prstGeom prst="ellipse">
            <a:avLst/>
          </a:prstGeom>
          <a:solidFill>
            <a:srgbClr val="17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2"/>
          <p:cNvSpPr txBox="1"/>
          <p:nvPr/>
        </p:nvSpPr>
        <p:spPr>
          <a:xfrm>
            <a:off x="8341157" y="19933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342" name="Google Shape;342;p22"/>
          <p:cNvSpPr txBox="1"/>
          <p:nvPr/>
        </p:nvSpPr>
        <p:spPr>
          <a:xfrm>
            <a:off x="8862365" y="1993392"/>
            <a:ext cx="2387498"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800"/>
              <a:buFont typeface="Cambria"/>
              <a:buNone/>
            </a:pPr>
            <a:r>
              <a:rPr b="1" i="0" lang="en-US" sz="1800" u="none" cap="none" strike="noStrike">
                <a:solidFill>
                  <a:srgbClr val="0F1C2E"/>
                </a:solidFill>
                <a:latin typeface="Cambria"/>
                <a:ea typeface="Cambria"/>
                <a:cs typeface="Cambria"/>
                <a:sym typeface="Cambria"/>
              </a:rPr>
              <a:t>A régua</a:t>
            </a:r>
            <a:endParaRPr b="0" i="0" sz="1800" u="none" cap="none" strike="noStrike">
              <a:solidFill>
                <a:schemeClr val="dk1"/>
              </a:solidFill>
              <a:latin typeface="Calibri"/>
              <a:ea typeface="Calibri"/>
              <a:cs typeface="Calibri"/>
              <a:sym typeface="Calibri"/>
            </a:endParaRPr>
          </a:p>
        </p:txBody>
      </p:sp>
      <p:sp>
        <p:nvSpPr>
          <p:cNvPr id="343" name="Google Shape;343;p22"/>
          <p:cNvSpPr txBox="1"/>
          <p:nvPr/>
        </p:nvSpPr>
        <p:spPr>
          <a:xfrm>
            <a:off x="8368589" y="2560320"/>
            <a:ext cx="2844698" cy="1554480"/>
          </a:xfrm>
          <a:prstGeom prst="rect">
            <a:avLst/>
          </a:prstGeom>
          <a:noFill/>
          <a:ln>
            <a:noFill/>
          </a:ln>
        </p:spPr>
        <p:txBody>
          <a:bodyPr anchorCtr="0" anchor="t" bIns="0" lIns="0" spcFirstLastPara="1" rIns="0" wrap="square" tIns="0">
            <a:noAutofit/>
          </a:bodyPr>
          <a:lstStyle/>
          <a:p>
            <a:pPr indent="-342900" lvl="0" marL="342900" marR="0" rtl="0" algn="l">
              <a:lnSpc>
                <a:spcPct val="133333"/>
              </a:lnSpc>
              <a:spcBef>
                <a:spcPts val="0"/>
              </a:spcBef>
              <a:spcAft>
                <a:spcPts val="0"/>
              </a:spcAft>
              <a:buClr>
                <a:srgbClr val="4B5D73"/>
              </a:buClr>
              <a:buSzPts val="1350"/>
              <a:buFont typeface="Calibri"/>
              <a:buChar char="•"/>
            </a:pPr>
            <a:r>
              <a:rPr b="0" i="0" lang="en-US" sz="1350" u="none" cap="none" strike="noStrike">
                <a:solidFill>
                  <a:srgbClr val="4B5D73"/>
                </a:solidFill>
                <a:latin typeface="Calibri"/>
                <a:ea typeface="Calibri"/>
                <a:cs typeface="Calibri"/>
                <a:sym typeface="Calibri"/>
              </a:rPr>
              <a:t>6 países para escolher a taxa (validação)</a:t>
            </a:r>
            <a:endParaRPr b="0" i="0" sz="1350" u="none" cap="none" strike="noStrike">
              <a:solidFill>
                <a:schemeClr val="dk1"/>
              </a:solidFill>
              <a:latin typeface="Calibri"/>
              <a:ea typeface="Calibri"/>
              <a:cs typeface="Calibri"/>
              <a:sym typeface="Calibri"/>
            </a:endParaRPr>
          </a:p>
          <a:p>
            <a:pPr indent="-342900" lvl="0" marL="342900" marR="0" rtl="0" algn="l">
              <a:lnSpc>
                <a:spcPct val="133333"/>
              </a:lnSpc>
              <a:spcBef>
                <a:spcPts val="500"/>
              </a:spcBef>
              <a:spcAft>
                <a:spcPts val="0"/>
              </a:spcAft>
              <a:buClr>
                <a:srgbClr val="4B5D73"/>
              </a:buClr>
              <a:buSzPts val="1350"/>
              <a:buFont typeface="Calibri"/>
              <a:buChar char="•"/>
            </a:pPr>
            <a:r>
              <a:rPr b="0" i="0" lang="en-US" sz="1350" u="none" cap="none" strike="noStrike">
                <a:solidFill>
                  <a:srgbClr val="4B5D73"/>
                </a:solidFill>
                <a:latin typeface="Calibri"/>
                <a:ea typeface="Calibri"/>
                <a:cs typeface="Calibri"/>
                <a:sym typeface="Calibri"/>
              </a:rPr>
              <a:t>11 países só para o resultado (teste)</a:t>
            </a:r>
            <a:endParaRPr b="0" i="0" sz="1350" u="none" cap="none" strike="noStrike">
              <a:solidFill>
                <a:schemeClr val="dk1"/>
              </a:solidFill>
              <a:latin typeface="Calibri"/>
              <a:ea typeface="Calibri"/>
              <a:cs typeface="Calibri"/>
              <a:sym typeface="Calibri"/>
            </a:endParaRPr>
          </a:p>
          <a:p>
            <a:pPr indent="-342900" lvl="0" marL="342900" marR="0" rtl="0" algn="l">
              <a:lnSpc>
                <a:spcPct val="133333"/>
              </a:lnSpc>
              <a:spcBef>
                <a:spcPts val="500"/>
              </a:spcBef>
              <a:spcAft>
                <a:spcPts val="0"/>
              </a:spcAft>
              <a:buClr>
                <a:srgbClr val="4B5D73"/>
              </a:buClr>
              <a:buSzPts val="1350"/>
              <a:buFont typeface="Calibri"/>
              <a:buChar char="•"/>
            </a:pPr>
            <a:r>
              <a:rPr b="0" i="0" lang="en-US" sz="1350" u="none" cap="none" strike="noStrike">
                <a:solidFill>
                  <a:srgbClr val="4B5D73"/>
                </a:solidFill>
                <a:latin typeface="Calibri"/>
                <a:ea typeface="Calibri"/>
                <a:cs typeface="Calibri"/>
                <a:sym typeface="Calibri"/>
              </a:rPr>
              <a:t>acerto exato da resposta inteira</a:t>
            </a:r>
            <a:endParaRPr b="0" i="0" sz="1350" u="none" cap="none" strike="noStrike">
              <a:solidFill>
                <a:schemeClr val="dk1"/>
              </a:solidFill>
              <a:latin typeface="Calibri"/>
              <a:ea typeface="Calibri"/>
              <a:cs typeface="Calibri"/>
              <a:sym typeface="Calibri"/>
            </a:endParaRPr>
          </a:p>
        </p:txBody>
      </p:sp>
      <p:sp>
        <p:nvSpPr>
          <p:cNvPr id="344" name="Google Shape;344;p22"/>
          <p:cNvSpPr/>
          <p:nvPr/>
        </p:nvSpPr>
        <p:spPr>
          <a:xfrm>
            <a:off x="777240" y="4389120"/>
            <a:ext cx="10637215" cy="1417320"/>
          </a:xfrm>
          <a:prstGeom prst="roundRect">
            <a:avLst>
              <a:gd fmla="val 5161" name="adj"/>
            </a:avLst>
          </a:prstGeom>
          <a:solidFill>
            <a:srgbClr val="0F1C2E"/>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2"/>
          <p:cNvSpPr txBox="1"/>
          <p:nvPr/>
        </p:nvSpPr>
        <p:spPr>
          <a:xfrm>
            <a:off x="1097280" y="4480560"/>
            <a:ext cx="99971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400"/>
              <a:buFont typeface="Calibri"/>
              <a:buNone/>
            </a:pPr>
            <a:r>
              <a:rPr b="1" i="0" lang="en-US" sz="1400" u="none" cap="none" strike="noStrike">
                <a:solidFill>
                  <a:srgbClr val="E08A3C"/>
                </a:solidFill>
                <a:latin typeface="Calibri"/>
                <a:ea typeface="Calibri"/>
                <a:cs typeface="Calibri"/>
                <a:sym typeface="Calibri"/>
              </a:rPr>
              <a:t>Cada configuração recebe a sua busca de taxa</a:t>
            </a:r>
            <a:endParaRPr b="0" i="0" sz="1400" u="none" cap="none" strike="noStrike">
              <a:solidFill>
                <a:schemeClr val="dk1"/>
              </a:solidFill>
              <a:latin typeface="Calibri"/>
              <a:ea typeface="Calibri"/>
              <a:cs typeface="Calibri"/>
              <a:sym typeface="Calibri"/>
            </a:endParaRPr>
          </a:p>
        </p:txBody>
      </p:sp>
      <p:sp>
        <p:nvSpPr>
          <p:cNvPr id="346" name="Google Shape;346;p22"/>
          <p:cNvSpPr txBox="1"/>
          <p:nvPr/>
        </p:nvSpPr>
        <p:spPr>
          <a:xfrm>
            <a:off x="1097280" y="4800600"/>
            <a:ext cx="9997135" cy="914400"/>
          </a:xfrm>
          <a:prstGeom prst="rect">
            <a:avLst/>
          </a:prstGeom>
          <a:noFill/>
          <a:ln>
            <a:noFill/>
          </a:ln>
        </p:spPr>
        <p:txBody>
          <a:bodyPr anchorCtr="0" anchor="t" bIns="0" lIns="0" spcFirstLastPara="1" rIns="0" wrap="square" tIns="0">
            <a:noAutofit/>
          </a:bodyPr>
          <a:lstStyle/>
          <a:p>
            <a:pPr indent="0" lvl="0" marL="0" marR="0" rtl="0" algn="l">
              <a:lnSpc>
                <a:spcPct val="140740"/>
              </a:lnSpc>
              <a:spcBef>
                <a:spcPts val="0"/>
              </a:spcBef>
              <a:spcAft>
                <a:spcPts val="0"/>
              </a:spcAft>
              <a:buClr>
                <a:srgbClr val="DCE6F0"/>
              </a:buClr>
              <a:buSzPts val="1350"/>
              <a:buFont typeface="Calibri"/>
              <a:buNone/>
            </a:pPr>
            <a:r>
              <a:rPr b="0" i="0" lang="en-US" sz="1350" u="none" cap="none" strike="noStrike">
                <a:solidFill>
                  <a:srgbClr val="DCE6F0"/>
                </a:solidFill>
                <a:latin typeface="Calibri"/>
                <a:ea typeface="Calibri"/>
                <a:cs typeface="Calibri"/>
                <a:sym typeface="Calibri"/>
              </a:rPr>
              <a:t>Cinco taxas candidatas por método, escolha pelo acerto nos 6 países de validação (desempate pela perda), resultado nos 11 de teste. Ajuste completo: 1e-4 a 1e-3. LoRA e QLoRA: 5e-4 a 8e-3. A comparação principal repete com 3 sementes.</a:t>
            </a:r>
            <a:endParaRPr b="0" i="0" sz="1350" u="none" cap="none" strike="noStrike">
              <a:solidFill>
                <a:schemeClr val="dk1"/>
              </a:solidFill>
              <a:latin typeface="Calibri"/>
              <a:ea typeface="Calibri"/>
              <a:cs typeface="Calibri"/>
              <a:sym typeface="Calibri"/>
            </a:endParaRPr>
          </a:p>
        </p:txBody>
      </p:sp>
      <p:sp>
        <p:nvSpPr>
          <p:cNvPr id="347" name="Google Shape;347;p22"/>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3"/>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O laço de treino: quem recebe gradiente</a:t>
            </a:r>
            <a:endParaRPr sz="3100"/>
          </a:p>
        </p:txBody>
      </p:sp>
      <p:sp>
        <p:nvSpPr>
          <p:cNvPr id="354" name="Google Shape;354;p23"/>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O laço é o mesmo do SFT. Muda o que o otimizador atualiza: no ajuste completo, tudo; na LoRA, só A e B.</a:t>
            </a:r>
            <a:endParaRPr b="0" i="0" sz="1450" u="none" cap="none" strike="noStrike">
              <a:solidFill>
                <a:schemeClr val="dk1"/>
              </a:solidFill>
              <a:latin typeface="Calibri"/>
              <a:ea typeface="Calibri"/>
              <a:cs typeface="Calibri"/>
              <a:sym typeface="Calibri"/>
            </a:endParaRPr>
          </a:p>
        </p:txBody>
      </p:sp>
      <p:sp>
        <p:nvSpPr>
          <p:cNvPr id="355" name="Google Shape;355;p23"/>
          <p:cNvSpPr/>
          <p:nvPr/>
        </p:nvSpPr>
        <p:spPr>
          <a:xfrm>
            <a:off x="777240" y="1783080"/>
            <a:ext cx="2651760" cy="868680"/>
          </a:xfrm>
          <a:prstGeom prst="roundRect">
            <a:avLst>
              <a:gd fmla="val 8421"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3"/>
          <p:cNvSpPr txBox="1"/>
          <p:nvPr/>
        </p:nvSpPr>
        <p:spPr>
          <a:xfrm>
            <a:off x="960120" y="1856232"/>
            <a:ext cx="2286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1" i="0" lang="en-US" sz="950" u="none" cap="none" strike="noStrike">
                <a:solidFill>
                  <a:srgbClr val="8494A6"/>
                </a:solidFill>
                <a:latin typeface="Calibri"/>
                <a:ea typeface="Calibri"/>
                <a:cs typeface="Calibri"/>
                <a:sym typeface="Calibri"/>
              </a:rPr>
              <a:t>EXEMPLO DE TREINO</a:t>
            </a:r>
            <a:endParaRPr b="0" i="0" sz="950" u="none" cap="none" strike="noStrike">
              <a:solidFill>
                <a:schemeClr val="dk1"/>
              </a:solidFill>
              <a:latin typeface="Calibri"/>
              <a:ea typeface="Calibri"/>
              <a:cs typeface="Calibri"/>
              <a:sym typeface="Calibri"/>
            </a:endParaRPr>
          </a:p>
        </p:txBody>
      </p:sp>
      <p:sp>
        <p:nvSpPr>
          <p:cNvPr id="357" name="Google Shape;357;p23"/>
          <p:cNvSpPr txBox="1"/>
          <p:nvPr/>
        </p:nvSpPr>
        <p:spPr>
          <a:xfrm>
            <a:off x="960120" y="210312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300"/>
              <a:buFont typeface="Calibri"/>
              <a:buNone/>
            </a:pPr>
            <a:r>
              <a:rPr b="0" i="0" lang="en-US" sz="1300" u="none" cap="none" strike="noStrike">
                <a:solidFill>
                  <a:srgbClr val="0F1C2E"/>
                </a:solidFill>
                <a:latin typeface="Calibri"/>
                <a:ea typeface="Calibri"/>
                <a:cs typeface="Calibri"/>
                <a:sym typeface="Calibri"/>
              </a:rPr>
              <a:t>Qual é a capital da Noruega?</a:t>
            </a:r>
            <a:endParaRPr b="0" i="0" sz="1300" u="none" cap="none" strike="noStrike">
              <a:solidFill>
                <a:schemeClr val="dk1"/>
              </a:solidFill>
              <a:latin typeface="Calibri"/>
              <a:ea typeface="Calibri"/>
              <a:cs typeface="Calibri"/>
              <a:sym typeface="Calibri"/>
            </a:endParaRPr>
          </a:p>
        </p:txBody>
      </p:sp>
      <p:sp>
        <p:nvSpPr>
          <p:cNvPr id="358" name="Google Shape;358;p23"/>
          <p:cNvSpPr/>
          <p:nvPr/>
        </p:nvSpPr>
        <p:spPr>
          <a:xfrm>
            <a:off x="2011680" y="3017520"/>
            <a:ext cx="1005840" cy="548640"/>
          </a:xfrm>
          <a:prstGeom prst="roundRect">
            <a:avLst>
              <a:gd fmla="val 10000" name="adj"/>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3"/>
          <p:cNvSpPr txBox="1"/>
          <p:nvPr/>
        </p:nvSpPr>
        <p:spPr>
          <a:xfrm>
            <a:off x="2011680" y="3017520"/>
            <a:ext cx="1005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modelo</a:t>
            </a:r>
            <a:endParaRPr b="0" i="0" sz="1300" u="none" cap="none" strike="noStrike">
              <a:solidFill>
                <a:schemeClr val="dk1"/>
              </a:solidFill>
              <a:latin typeface="Calibri"/>
              <a:ea typeface="Calibri"/>
              <a:cs typeface="Calibri"/>
              <a:sym typeface="Calibri"/>
            </a:endParaRPr>
          </a:p>
        </p:txBody>
      </p:sp>
      <p:cxnSp>
        <p:nvCxnSpPr>
          <p:cNvPr id="360" name="Google Shape;360;p23"/>
          <p:cNvCxnSpPr/>
          <p:nvPr/>
        </p:nvCxnSpPr>
        <p:spPr>
          <a:xfrm>
            <a:off x="2514600" y="2651760"/>
            <a:ext cx="0" cy="365760"/>
          </a:xfrm>
          <a:prstGeom prst="straightConnector1">
            <a:avLst/>
          </a:prstGeom>
          <a:noFill/>
          <a:ln cap="flat" cmpd="sng" w="17775">
            <a:solidFill>
              <a:srgbClr val="8494A6"/>
            </a:solidFill>
            <a:prstDash val="solid"/>
            <a:round/>
            <a:headEnd len="sm" w="sm" type="none"/>
            <a:tailEnd len="med" w="med" type="triangle"/>
          </a:ln>
        </p:spPr>
      </p:cxnSp>
      <p:cxnSp>
        <p:nvCxnSpPr>
          <p:cNvPr id="361" name="Google Shape;361;p23"/>
          <p:cNvCxnSpPr/>
          <p:nvPr/>
        </p:nvCxnSpPr>
        <p:spPr>
          <a:xfrm>
            <a:off x="1097280" y="2651760"/>
            <a:ext cx="0" cy="1417320"/>
          </a:xfrm>
          <a:prstGeom prst="straightConnector1">
            <a:avLst/>
          </a:prstGeom>
          <a:noFill/>
          <a:ln cap="flat" cmpd="sng" w="17775">
            <a:solidFill>
              <a:srgbClr val="8494A6"/>
            </a:solidFill>
            <a:prstDash val="solid"/>
            <a:round/>
            <a:headEnd len="sm" w="sm" type="none"/>
            <a:tailEnd len="med" w="med" type="triangle"/>
          </a:ln>
        </p:spPr>
      </p:cxnSp>
      <p:sp>
        <p:nvSpPr>
          <p:cNvPr id="362" name="Google Shape;362;p23"/>
          <p:cNvSpPr/>
          <p:nvPr/>
        </p:nvSpPr>
        <p:spPr>
          <a:xfrm>
            <a:off x="777240" y="4087368"/>
            <a:ext cx="640080" cy="329184"/>
          </a:xfrm>
          <a:prstGeom prst="roundRect">
            <a:avLst>
              <a:gd fmla="val 16667" name="adj"/>
            </a:avLst>
          </a:prstGeom>
          <a:solidFill>
            <a:srgbClr val="E1F0ED"/>
          </a:solidFill>
          <a:ln cap="flat" cmpd="sng" w="11425">
            <a:solidFill>
              <a:srgbClr val="17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3"/>
          <p:cNvSpPr txBox="1"/>
          <p:nvPr/>
        </p:nvSpPr>
        <p:spPr>
          <a:xfrm>
            <a:off x="777240" y="4087368"/>
            <a:ext cx="640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5F55"/>
              </a:buClr>
              <a:buSzPts val="1200"/>
              <a:buFont typeface="Consolas"/>
              <a:buNone/>
            </a:pPr>
            <a:r>
              <a:rPr b="0" i="0" lang="en-US" sz="1200" u="none" cap="none" strike="noStrike">
                <a:solidFill>
                  <a:srgbClr val="0E5F55"/>
                </a:solidFill>
                <a:latin typeface="Consolas"/>
                <a:ea typeface="Consolas"/>
                <a:cs typeface="Consolas"/>
                <a:sym typeface="Consolas"/>
              </a:rPr>
              <a:t>Oslo.</a:t>
            </a:r>
            <a:endParaRPr b="0" i="0" sz="1200" u="none" cap="none" strike="noStrike">
              <a:solidFill>
                <a:schemeClr val="dk1"/>
              </a:solidFill>
              <a:latin typeface="Calibri"/>
              <a:ea typeface="Calibri"/>
              <a:cs typeface="Calibri"/>
              <a:sym typeface="Calibri"/>
            </a:endParaRPr>
          </a:p>
        </p:txBody>
      </p:sp>
      <p:sp>
        <p:nvSpPr>
          <p:cNvPr id="364" name="Google Shape;364;p23"/>
          <p:cNvSpPr txBox="1"/>
          <p:nvPr/>
        </p:nvSpPr>
        <p:spPr>
          <a:xfrm>
            <a:off x="1463040" y="4087368"/>
            <a:ext cx="5486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5F55"/>
              </a:buClr>
              <a:buSzPts val="1100"/>
              <a:buFont typeface="Calibri"/>
              <a:buNone/>
            </a:pPr>
            <a:r>
              <a:rPr b="0" i="1" lang="en-US" sz="1100" u="none" cap="none" strike="noStrike">
                <a:solidFill>
                  <a:srgbClr val="0E5F55"/>
                </a:solidFill>
                <a:latin typeface="Calibri"/>
                <a:ea typeface="Calibri"/>
                <a:cs typeface="Calibri"/>
                <a:sym typeface="Calibri"/>
              </a:rPr>
              <a:t>alvo</a:t>
            </a:r>
            <a:endParaRPr b="0" i="0" sz="1100" u="none" cap="none" strike="noStrike">
              <a:solidFill>
                <a:schemeClr val="dk1"/>
              </a:solidFill>
              <a:latin typeface="Calibri"/>
              <a:ea typeface="Calibri"/>
              <a:cs typeface="Calibri"/>
              <a:sym typeface="Calibri"/>
            </a:endParaRPr>
          </a:p>
        </p:txBody>
      </p:sp>
      <p:cxnSp>
        <p:nvCxnSpPr>
          <p:cNvPr id="365" name="Google Shape;365;p23"/>
          <p:cNvCxnSpPr/>
          <p:nvPr/>
        </p:nvCxnSpPr>
        <p:spPr>
          <a:xfrm>
            <a:off x="2514600" y="3566160"/>
            <a:ext cx="0" cy="502920"/>
          </a:xfrm>
          <a:prstGeom prst="straightConnector1">
            <a:avLst/>
          </a:prstGeom>
          <a:noFill/>
          <a:ln cap="flat" cmpd="sng" w="17775">
            <a:solidFill>
              <a:srgbClr val="8494A6"/>
            </a:solidFill>
            <a:prstDash val="solid"/>
            <a:round/>
            <a:headEnd len="sm" w="sm" type="none"/>
            <a:tailEnd len="med" w="med" type="triangle"/>
          </a:ln>
        </p:spPr>
      </p:cxnSp>
      <p:sp>
        <p:nvSpPr>
          <p:cNvPr id="366" name="Google Shape;366;p23"/>
          <p:cNvSpPr/>
          <p:nvPr/>
        </p:nvSpPr>
        <p:spPr>
          <a:xfrm>
            <a:off x="2194560" y="4087368"/>
            <a:ext cx="640080" cy="329184"/>
          </a:xfrm>
          <a:prstGeom prst="roundRect">
            <a:avLst>
              <a:gd fmla="val 16667" name="adj"/>
            </a:avLst>
          </a:prstGeom>
          <a:solidFill>
            <a:srgbClr val="F8E3E0"/>
          </a:solidFill>
          <a:ln cap="flat" cmpd="sng" w="11425">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3"/>
          <p:cNvSpPr txBox="1"/>
          <p:nvPr/>
        </p:nvSpPr>
        <p:spPr>
          <a:xfrm>
            <a:off x="2194560" y="4087368"/>
            <a:ext cx="64008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1200"/>
              <a:buFont typeface="Consolas"/>
              <a:buNone/>
            </a:pPr>
            <a:r>
              <a:rPr b="0" i="0" lang="en-US" sz="1200" u="none" cap="none" strike="noStrike">
                <a:solidFill>
                  <a:srgbClr val="C0392B"/>
                </a:solidFill>
                <a:latin typeface="Consolas"/>
                <a:ea typeface="Consolas"/>
                <a:cs typeface="Consolas"/>
                <a:sym typeface="Consolas"/>
              </a:rPr>
              <a:t>Roma.</a:t>
            </a:r>
            <a:endParaRPr b="0" i="0" sz="1200" u="none" cap="none" strike="noStrike">
              <a:solidFill>
                <a:schemeClr val="dk1"/>
              </a:solidFill>
              <a:latin typeface="Calibri"/>
              <a:ea typeface="Calibri"/>
              <a:cs typeface="Calibri"/>
              <a:sym typeface="Calibri"/>
            </a:endParaRPr>
          </a:p>
        </p:txBody>
      </p:sp>
      <p:sp>
        <p:nvSpPr>
          <p:cNvPr id="368" name="Google Shape;368;p23"/>
          <p:cNvSpPr txBox="1"/>
          <p:nvPr/>
        </p:nvSpPr>
        <p:spPr>
          <a:xfrm>
            <a:off x="2880360" y="4087368"/>
            <a:ext cx="7772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00"/>
              <a:buFont typeface="Calibri"/>
              <a:buNone/>
            </a:pPr>
            <a:r>
              <a:rPr b="0" i="1" lang="en-US" sz="1100" u="none" cap="none" strike="noStrike">
                <a:solidFill>
                  <a:srgbClr val="C0392B"/>
                </a:solidFill>
                <a:latin typeface="Calibri"/>
                <a:ea typeface="Calibri"/>
                <a:cs typeface="Calibri"/>
                <a:sym typeface="Calibri"/>
              </a:rPr>
              <a:t>previsão</a:t>
            </a:r>
            <a:endParaRPr b="0" i="0" sz="1100" u="none" cap="none" strike="noStrike">
              <a:solidFill>
                <a:schemeClr val="dk1"/>
              </a:solidFill>
              <a:latin typeface="Calibri"/>
              <a:ea typeface="Calibri"/>
              <a:cs typeface="Calibri"/>
              <a:sym typeface="Calibri"/>
            </a:endParaRPr>
          </a:p>
        </p:txBody>
      </p:sp>
      <p:sp>
        <p:nvSpPr>
          <p:cNvPr id="369" name="Google Shape;369;p23"/>
          <p:cNvSpPr/>
          <p:nvPr/>
        </p:nvSpPr>
        <p:spPr>
          <a:xfrm>
            <a:off x="777240" y="4800600"/>
            <a:ext cx="2377440" cy="457200"/>
          </a:xfrm>
          <a:prstGeom prst="roundRect">
            <a:avLst>
              <a:gd fmla="val 12000" name="adj"/>
            </a:avLst>
          </a:prstGeom>
          <a:solidFill>
            <a:srgbClr val="F8E3E0"/>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3"/>
          <p:cNvSpPr txBox="1"/>
          <p:nvPr/>
        </p:nvSpPr>
        <p:spPr>
          <a:xfrm>
            <a:off x="777240" y="4800600"/>
            <a:ext cx="23774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1300"/>
              <a:buFont typeface="Calibri"/>
              <a:buNone/>
            </a:pPr>
            <a:r>
              <a:rPr b="1" i="0" lang="en-US" sz="1300" u="none" cap="none" strike="noStrike">
                <a:solidFill>
                  <a:srgbClr val="C0392B"/>
                </a:solidFill>
                <a:latin typeface="Calibri"/>
                <a:ea typeface="Calibri"/>
                <a:cs typeface="Calibri"/>
                <a:sym typeface="Calibri"/>
              </a:rPr>
              <a:t>perda</a:t>
            </a:r>
            <a:endParaRPr b="0" i="0" sz="1300" u="none" cap="none" strike="noStrike">
              <a:solidFill>
                <a:schemeClr val="dk1"/>
              </a:solidFill>
              <a:latin typeface="Calibri"/>
              <a:ea typeface="Calibri"/>
              <a:cs typeface="Calibri"/>
              <a:sym typeface="Calibri"/>
            </a:endParaRPr>
          </a:p>
        </p:txBody>
      </p:sp>
      <p:cxnSp>
        <p:nvCxnSpPr>
          <p:cNvPr id="371" name="Google Shape;371;p23"/>
          <p:cNvCxnSpPr/>
          <p:nvPr/>
        </p:nvCxnSpPr>
        <p:spPr>
          <a:xfrm>
            <a:off x="1097280" y="4416552"/>
            <a:ext cx="0" cy="384048"/>
          </a:xfrm>
          <a:prstGeom prst="straightConnector1">
            <a:avLst/>
          </a:prstGeom>
          <a:noFill/>
          <a:ln cap="flat" cmpd="sng" w="17775">
            <a:solidFill>
              <a:srgbClr val="8494A6"/>
            </a:solidFill>
            <a:prstDash val="solid"/>
            <a:round/>
            <a:headEnd len="sm" w="sm" type="none"/>
            <a:tailEnd len="med" w="med" type="triangle"/>
          </a:ln>
        </p:spPr>
      </p:cxnSp>
      <p:cxnSp>
        <p:nvCxnSpPr>
          <p:cNvPr id="372" name="Google Shape;372;p23"/>
          <p:cNvCxnSpPr/>
          <p:nvPr/>
        </p:nvCxnSpPr>
        <p:spPr>
          <a:xfrm>
            <a:off x="2514600" y="4416552"/>
            <a:ext cx="0" cy="384048"/>
          </a:xfrm>
          <a:prstGeom prst="straightConnector1">
            <a:avLst/>
          </a:prstGeom>
          <a:noFill/>
          <a:ln cap="flat" cmpd="sng" w="17775">
            <a:solidFill>
              <a:srgbClr val="8494A6"/>
            </a:solidFill>
            <a:prstDash val="solid"/>
            <a:round/>
            <a:headEnd len="sm" w="sm" type="none"/>
            <a:tailEnd len="med" w="med" type="triangle"/>
          </a:ln>
        </p:spPr>
      </p:cxnSp>
      <p:cxnSp>
        <p:nvCxnSpPr>
          <p:cNvPr id="373" name="Google Shape;373;p23"/>
          <p:cNvCxnSpPr/>
          <p:nvPr/>
        </p:nvCxnSpPr>
        <p:spPr>
          <a:xfrm>
            <a:off x="3154680" y="5029200"/>
            <a:ext cx="640080" cy="0"/>
          </a:xfrm>
          <a:prstGeom prst="straightConnector1">
            <a:avLst/>
          </a:prstGeom>
          <a:noFill/>
          <a:ln cap="flat" cmpd="sng" w="20300">
            <a:solidFill>
              <a:srgbClr val="C0392B"/>
            </a:solidFill>
            <a:prstDash val="dash"/>
            <a:round/>
            <a:headEnd len="sm" w="sm" type="none"/>
            <a:tailEnd len="sm" w="sm" type="none"/>
          </a:ln>
        </p:spPr>
      </p:cxnSp>
      <p:cxnSp>
        <p:nvCxnSpPr>
          <p:cNvPr id="374" name="Google Shape;374;p23"/>
          <p:cNvCxnSpPr/>
          <p:nvPr/>
        </p:nvCxnSpPr>
        <p:spPr>
          <a:xfrm rot="10800000">
            <a:off x="3794760" y="3429000"/>
            <a:ext cx="0" cy="1600200"/>
          </a:xfrm>
          <a:prstGeom prst="straightConnector1">
            <a:avLst/>
          </a:prstGeom>
          <a:noFill/>
          <a:ln cap="flat" cmpd="sng" w="20300">
            <a:solidFill>
              <a:srgbClr val="C0392B"/>
            </a:solidFill>
            <a:prstDash val="dash"/>
            <a:round/>
            <a:headEnd len="sm" w="sm" type="none"/>
            <a:tailEnd len="sm" w="sm" type="none"/>
          </a:ln>
        </p:spPr>
      </p:cxnSp>
      <p:cxnSp>
        <p:nvCxnSpPr>
          <p:cNvPr id="375" name="Google Shape;375;p23"/>
          <p:cNvCxnSpPr/>
          <p:nvPr/>
        </p:nvCxnSpPr>
        <p:spPr>
          <a:xfrm rot="10800000">
            <a:off x="3017520" y="3429000"/>
            <a:ext cx="777240" cy="0"/>
          </a:xfrm>
          <a:prstGeom prst="straightConnector1">
            <a:avLst/>
          </a:prstGeom>
          <a:noFill/>
          <a:ln cap="flat" cmpd="sng" w="20300">
            <a:solidFill>
              <a:srgbClr val="C0392B"/>
            </a:solidFill>
            <a:prstDash val="dash"/>
            <a:round/>
            <a:headEnd len="sm" w="sm" type="none"/>
            <a:tailEnd len="med" w="med" type="triangle"/>
          </a:ln>
        </p:spPr>
      </p:cxnSp>
      <p:sp>
        <p:nvSpPr>
          <p:cNvPr id="376" name="Google Shape;376;p23"/>
          <p:cNvSpPr txBox="1"/>
          <p:nvPr/>
        </p:nvSpPr>
        <p:spPr>
          <a:xfrm>
            <a:off x="3063240" y="3611880"/>
            <a:ext cx="713232" cy="384048"/>
          </a:xfrm>
          <a:prstGeom prst="rect">
            <a:avLst/>
          </a:prstGeom>
          <a:noFill/>
          <a:ln>
            <a:noFill/>
          </a:ln>
        </p:spPr>
        <p:txBody>
          <a:bodyPr anchorCtr="0" anchor="ctr" bIns="0" lIns="0" spcFirstLastPara="1" rIns="0" wrap="square" tIns="0">
            <a:noAutofit/>
          </a:bodyPr>
          <a:lstStyle/>
          <a:p>
            <a:pPr indent="0" lvl="0" marL="0" marR="0" rtl="0" algn="l">
              <a:lnSpc>
                <a:spcPct val="114285"/>
              </a:lnSpc>
              <a:spcBef>
                <a:spcPts val="0"/>
              </a:spcBef>
              <a:spcAft>
                <a:spcPts val="0"/>
              </a:spcAft>
              <a:buClr>
                <a:srgbClr val="C0392B"/>
              </a:buClr>
              <a:buSzPts val="1050"/>
              <a:buFont typeface="Calibri"/>
              <a:buNone/>
            </a:pPr>
            <a:r>
              <a:rPr b="0" i="1" lang="en-US" sz="1050" u="none" cap="none" strike="noStrike">
                <a:solidFill>
                  <a:srgbClr val="C0392B"/>
                </a:solidFill>
                <a:latin typeface="Calibri"/>
                <a:ea typeface="Calibri"/>
                <a:cs typeface="Calibri"/>
                <a:sym typeface="Calibri"/>
              </a:rPr>
              <a:t>atualiza</a:t>
            </a:r>
            <a:endParaRPr b="0" i="0" sz="1050" u="none" cap="none" strike="noStrike">
              <a:solidFill>
                <a:schemeClr val="dk1"/>
              </a:solidFill>
              <a:latin typeface="Calibri"/>
              <a:ea typeface="Calibri"/>
              <a:cs typeface="Calibri"/>
              <a:sym typeface="Calibri"/>
            </a:endParaRPr>
          </a:p>
          <a:p>
            <a:pPr indent="0" lvl="0" marL="0" marR="0" rtl="0" algn="l">
              <a:lnSpc>
                <a:spcPct val="114285"/>
              </a:lnSpc>
              <a:spcBef>
                <a:spcPts val="0"/>
              </a:spcBef>
              <a:spcAft>
                <a:spcPts val="0"/>
              </a:spcAft>
              <a:buClr>
                <a:srgbClr val="C0392B"/>
              </a:buClr>
              <a:buSzPts val="1050"/>
              <a:buFont typeface="Calibri"/>
              <a:buNone/>
            </a:pPr>
            <a:r>
              <a:rPr b="0" i="1" lang="en-US" sz="1050" u="none" cap="none" strike="noStrike">
                <a:solidFill>
                  <a:srgbClr val="C0392B"/>
                </a:solidFill>
                <a:latin typeface="Calibri"/>
                <a:ea typeface="Calibri"/>
                <a:cs typeface="Calibri"/>
                <a:sym typeface="Calibri"/>
              </a:rPr>
              <a:t>os pesos</a:t>
            </a:r>
            <a:endParaRPr b="0" i="0" sz="1050" u="none" cap="none" strike="noStrike">
              <a:solidFill>
                <a:schemeClr val="dk1"/>
              </a:solidFill>
              <a:latin typeface="Calibri"/>
              <a:ea typeface="Calibri"/>
              <a:cs typeface="Calibri"/>
              <a:sym typeface="Calibri"/>
            </a:endParaRPr>
          </a:p>
        </p:txBody>
      </p:sp>
      <p:sp>
        <p:nvSpPr>
          <p:cNvPr id="377" name="Google Shape;377;p23"/>
          <p:cNvSpPr txBox="1"/>
          <p:nvPr/>
        </p:nvSpPr>
        <p:spPr>
          <a:xfrm>
            <a:off x="777240" y="5413248"/>
            <a:ext cx="3429000" cy="438912"/>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0F1C2E"/>
              </a:buClr>
              <a:buSzPts val="1100"/>
              <a:buFont typeface="Calibri"/>
              <a:buNone/>
            </a:pPr>
            <a:r>
              <a:rPr b="1" i="0" lang="en-US" sz="1100" u="none" cap="none" strike="noStrike">
                <a:solidFill>
                  <a:srgbClr val="0F1C2E"/>
                </a:solidFill>
                <a:latin typeface="Calibri"/>
                <a:ea typeface="Calibri"/>
                <a:cs typeface="Calibri"/>
                <a:sym typeface="Calibri"/>
              </a:rPr>
              <a:t>Completo: </a:t>
            </a:r>
            <a:r>
              <a:rPr b="0" i="0" lang="en-US" sz="1100" u="none" cap="none" strike="noStrike">
                <a:solidFill>
                  <a:srgbClr val="4B5D73"/>
                </a:solidFill>
                <a:latin typeface="Calibri"/>
                <a:ea typeface="Calibri"/>
                <a:cs typeface="Calibri"/>
                <a:sym typeface="Calibri"/>
              </a:rPr>
              <a:t>W muda · 132.352 treináveis</a:t>
            </a:r>
            <a:endParaRPr b="0" i="0" sz="1100" u="none" cap="none" strike="noStrike">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A55A18"/>
              </a:buClr>
              <a:buSzPts val="1100"/>
              <a:buFont typeface="Calibri"/>
              <a:buNone/>
            </a:pPr>
            <a:r>
              <a:rPr b="1" i="0" lang="en-US" sz="1100" u="none" cap="none" strike="noStrike">
                <a:solidFill>
                  <a:srgbClr val="A55A18"/>
                </a:solidFill>
                <a:latin typeface="Calibri"/>
                <a:ea typeface="Calibri"/>
                <a:cs typeface="Calibri"/>
                <a:sym typeface="Calibri"/>
              </a:rPr>
              <a:t>LoRA r = 8: </a:t>
            </a:r>
            <a:r>
              <a:rPr b="0" i="0" lang="en-US" sz="1100" u="none" cap="none" strike="noStrike">
                <a:solidFill>
                  <a:srgbClr val="4B5D73"/>
                </a:solidFill>
                <a:latin typeface="Calibri"/>
                <a:ea typeface="Calibri"/>
                <a:cs typeface="Calibri"/>
                <a:sym typeface="Calibri"/>
              </a:rPr>
              <a:t>só A e B · 16.384 (12,4%)</a:t>
            </a:r>
            <a:endParaRPr b="0" i="0" sz="1100" u="none" cap="none" strike="noStrike">
              <a:solidFill>
                <a:schemeClr val="dk1"/>
              </a:solidFill>
              <a:latin typeface="Calibri"/>
              <a:ea typeface="Calibri"/>
              <a:cs typeface="Calibri"/>
              <a:sym typeface="Calibri"/>
            </a:endParaRPr>
          </a:p>
        </p:txBody>
      </p:sp>
      <p:sp>
        <p:nvSpPr>
          <p:cNvPr id="378" name="Google Shape;378;p23"/>
          <p:cNvSpPr/>
          <p:nvPr/>
        </p:nvSpPr>
        <p:spPr>
          <a:xfrm>
            <a:off x="4343400" y="1783080"/>
            <a:ext cx="7071055" cy="4069080"/>
          </a:xfrm>
          <a:prstGeom prst="roundRect">
            <a:avLst>
              <a:gd fmla="val 1798" name="adj"/>
            </a:avLst>
          </a:prstGeom>
          <a:solidFill>
            <a:srgbClr val="FFFFFF"/>
          </a:solidFill>
          <a:ln cap="flat" cmpd="sng" w="15225">
            <a:solidFill>
              <a:srgbClr val="0F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9" name="Google Shape;379;p23"/>
          <p:cNvCxnSpPr/>
          <p:nvPr/>
        </p:nvCxnSpPr>
        <p:spPr>
          <a:xfrm>
            <a:off x="3017520" y="3154680"/>
            <a:ext cx="1325880" cy="0"/>
          </a:xfrm>
          <a:prstGeom prst="straightConnector1">
            <a:avLst/>
          </a:prstGeom>
          <a:noFill/>
          <a:ln cap="flat" cmpd="sng" w="15225">
            <a:solidFill>
              <a:srgbClr val="0F1C2E"/>
            </a:solidFill>
            <a:prstDash val="solid"/>
            <a:round/>
            <a:headEnd len="sm" w="sm" type="none"/>
            <a:tailEnd len="med" w="med" type="triangle"/>
          </a:ln>
        </p:spPr>
      </p:cxnSp>
      <p:sp>
        <p:nvSpPr>
          <p:cNvPr id="380" name="Google Shape;380;p23"/>
          <p:cNvSpPr txBox="1"/>
          <p:nvPr/>
        </p:nvSpPr>
        <p:spPr>
          <a:xfrm>
            <a:off x="4663440" y="1874520"/>
            <a:ext cx="3657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950"/>
              <a:buFont typeface="Calibri"/>
              <a:buNone/>
            </a:pPr>
            <a:r>
              <a:rPr b="1" i="0" lang="en-US" sz="950" u="none" cap="none" strike="noStrike">
                <a:solidFill>
                  <a:srgbClr val="A55A18"/>
                </a:solidFill>
                <a:latin typeface="Calibri"/>
                <a:ea typeface="Calibri"/>
                <a:cs typeface="Calibri"/>
                <a:sym typeface="Calibri"/>
              </a:rPr>
              <a:t>DENTRO DE UMA MATRIZ LINEAR, COM LORA</a:t>
            </a:r>
            <a:endParaRPr b="0" i="0" sz="950" u="none" cap="none" strike="noStrike">
              <a:solidFill>
                <a:schemeClr val="dk1"/>
              </a:solidFill>
              <a:latin typeface="Calibri"/>
              <a:ea typeface="Calibri"/>
              <a:cs typeface="Calibri"/>
              <a:sym typeface="Calibri"/>
            </a:endParaRPr>
          </a:p>
        </p:txBody>
      </p:sp>
      <p:sp>
        <p:nvSpPr>
          <p:cNvPr id="381" name="Google Shape;381;p23"/>
          <p:cNvSpPr/>
          <p:nvPr/>
        </p:nvSpPr>
        <p:spPr>
          <a:xfrm>
            <a:off x="7132320" y="1920240"/>
            <a:ext cx="1463040" cy="384048"/>
          </a:xfrm>
          <a:prstGeom prst="roundRect">
            <a:avLst>
              <a:gd fmla="val 14286" name="adj"/>
            </a:avLst>
          </a:prstGeom>
          <a:solidFill>
            <a:srgbClr val="F8E3E0"/>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3"/>
          <p:cNvSpPr txBox="1"/>
          <p:nvPr/>
        </p:nvSpPr>
        <p:spPr>
          <a:xfrm>
            <a:off x="7132320" y="1920240"/>
            <a:ext cx="14630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perda</a:t>
            </a:r>
            <a:endParaRPr b="0" i="0" sz="1200" u="none" cap="none" strike="noStrike">
              <a:solidFill>
                <a:schemeClr val="dk1"/>
              </a:solidFill>
              <a:latin typeface="Calibri"/>
              <a:ea typeface="Calibri"/>
              <a:cs typeface="Calibri"/>
              <a:sym typeface="Calibri"/>
            </a:endParaRPr>
          </a:p>
        </p:txBody>
      </p:sp>
      <p:sp>
        <p:nvSpPr>
          <p:cNvPr id="383" name="Google Shape;383;p23"/>
          <p:cNvSpPr/>
          <p:nvPr/>
        </p:nvSpPr>
        <p:spPr>
          <a:xfrm>
            <a:off x="7671816" y="2542032"/>
            <a:ext cx="384048" cy="384048"/>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3"/>
          <p:cNvSpPr txBox="1"/>
          <p:nvPr/>
        </p:nvSpPr>
        <p:spPr>
          <a:xfrm>
            <a:off x="7671816" y="25420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cxnSp>
        <p:nvCxnSpPr>
          <p:cNvPr id="385" name="Google Shape;385;p23"/>
          <p:cNvCxnSpPr/>
          <p:nvPr/>
        </p:nvCxnSpPr>
        <p:spPr>
          <a:xfrm rot="10800000">
            <a:off x="7863840" y="2304288"/>
            <a:ext cx="0" cy="237744"/>
          </a:xfrm>
          <a:prstGeom prst="straightConnector1">
            <a:avLst/>
          </a:prstGeom>
          <a:noFill/>
          <a:ln cap="flat" cmpd="sng" w="17775">
            <a:solidFill>
              <a:srgbClr val="0F1C2E"/>
            </a:solidFill>
            <a:prstDash val="solid"/>
            <a:round/>
            <a:headEnd len="sm" w="sm" type="none"/>
            <a:tailEnd len="med" w="med" type="triangle"/>
          </a:ln>
        </p:spPr>
      </p:cxnSp>
      <p:sp>
        <p:nvSpPr>
          <p:cNvPr id="386" name="Google Shape;386;p23"/>
          <p:cNvSpPr/>
          <p:nvPr/>
        </p:nvSpPr>
        <p:spPr>
          <a:xfrm>
            <a:off x="5303520" y="3154680"/>
            <a:ext cx="1737360" cy="1737360"/>
          </a:xfrm>
          <a:prstGeom prst="roundRect">
            <a:avLst>
              <a:gd fmla="val 2632"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3"/>
          <p:cNvSpPr txBox="1"/>
          <p:nvPr/>
        </p:nvSpPr>
        <p:spPr>
          <a:xfrm>
            <a:off x="5303520" y="3264408"/>
            <a:ext cx="17373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2800"/>
              <a:buFont typeface="Cambria"/>
              <a:buNone/>
            </a:pPr>
            <a:r>
              <a:rPr b="1" i="0" lang="en-US" sz="2800" u="none" cap="none" strike="noStrike">
                <a:solidFill>
                  <a:srgbClr val="4B5D73"/>
                </a:solidFill>
                <a:latin typeface="Cambria"/>
                <a:ea typeface="Cambria"/>
                <a:cs typeface="Cambria"/>
                <a:sym typeface="Cambria"/>
              </a:rPr>
              <a:t>W</a:t>
            </a:r>
            <a:endParaRPr b="0" i="0" sz="2800" u="none" cap="none" strike="noStrike">
              <a:solidFill>
                <a:schemeClr val="dk1"/>
              </a:solidFill>
              <a:latin typeface="Calibri"/>
              <a:ea typeface="Calibri"/>
              <a:cs typeface="Calibri"/>
              <a:sym typeface="Calibri"/>
            </a:endParaRPr>
          </a:p>
        </p:txBody>
      </p:sp>
      <p:sp>
        <p:nvSpPr>
          <p:cNvPr id="388" name="Google Shape;388;p23"/>
          <p:cNvSpPr txBox="1"/>
          <p:nvPr/>
        </p:nvSpPr>
        <p:spPr>
          <a:xfrm>
            <a:off x="5303520" y="3813048"/>
            <a:ext cx="1737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00"/>
              <a:buFont typeface="Consolas"/>
              <a:buNone/>
            </a:pPr>
            <a:r>
              <a:rPr b="0" i="0" lang="en-US" sz="1100" u="none" cap="none" strike="noStrike">
                <a:solidFill>
                  <a:srgbClr val="4B5D73"/>
                </a:solidFill>
                <a:latin typeface="Consolas"/>
                <a:ea typeface="Consolas"/>
                <a:cs typeface="Consolas"/>
                <a:sym typeface="Consolas"/>
              </a:rPr>
              <a:t>d × d</a:t>
            </a:r>
            <a:endParaRPr b="0" i="0" sz="1100" u="none" cap="none" strike="noStrike">
              <a:solidFill>
                <a:schemeClr val="dk1"/>
              </a:solidFill>
              <a:latin typeface="Calibri"/>
              <a:ea typeface="Calibri"/>
              <a:cs typeface="Calibri"/>
              <a:sym typeface="Calibri"/>
            </a:endParaRPr>
          </a:p>
        </p:txBody>
      </p:sp>
      <p:sp>
        <p:nvSpPr>
          <p:cNvPr id="389" name="Google Shape;389;p23"/>
          <p:cNvSpPr/>
          <p:nvPr/>
        </p:nvSpPr>
        <p:spPr>
          <a:xfrm>
            <a:off x="5623560" y="4251960"/>
            <a:ext cx="1097280" cy="292608"/>
          </a:xfrm>
          <a:prstGeom prst="roundRect">
            <a:avLst>
              <a:gd fmla="val 18750" name="adj"/>
            </a:avLst>
          </a:prstGeom>
          <a:solidFill>
            <a:srgbClr val="EFF3F7"/>
          </a:solidFill>
          <a:ln cap="flat" cmpd="sng" w="114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3"/>
          <p:cNvSpPr txBox="1"/>
          <p:nvPr/>
        </p:nvSpPr>
        <p:spPr>
          <a:xfrm>
            <a:off x="5623560" y="4251960"/>
            <a:ext cx="10972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050"/>
              <a:buFont typeface="Consolas"/>
              <a:buNone/>
            </a:pPr>
            <a:r>
              <a:rPr b="0" i="0" lang="en-US" sz="1050" u="none" cap="none" strike="noStrike">
                <a:solidFill>
                  <a:srgbClr val="4B5D73"/>
                </a:solidFill>
                <a:latin typeface="Consolas"/>
                <a:ea typeface="Consolas"/>
                <a:cs typeface="Consolas"/>
                <a:sym typeface="Consolas"/>
              </a:rPr>
              <a:t>congelada</a:t>
            </a:r>
            <a:endParaRPr b="0" i="0" sz="1050" u="none" cap="none" strike="noStrike">
              <a:solidFill>
                <a:schemeClr val="dk1"/>
              </a:solidFill>
              <a:latin typeface="Calibri"/>
              <a:ea typeface="Calibri"/>
              <a:cs typeface="Calibri"/>
              <a:sym typeface="Calibri"/>
            </a:endParaRPr>
          </a:p>
        </p:txBody>
      </p:sp>
      <p:cxnSp>
        <p:nvCxnSpPr>
          <p:cNvPr id="391" name="Google Shape;391;p23"/>
          <p:cNvCxnSpPr/>
          <p:nvPr/>
        </p:nvCxnSpPr>
        <p:spPr>
          <a:xfrm rot="10800000">
            <a:off x="6172200" y="2734056"/>
            <a:ext cx="0" cy="420624"/>
          </a:xfrm>
          <a:prstGeom prst="straightConnector1">
            <a:avLst/>
          </a:prstGeom>
          <a:noFill/>
          <a:ln cap="flat" cmpd="sng" w="17775">
            <a:solidFill>
              <a:srgbClr val="8494A6"/>
            </a:solidFill>
            <a:prstDash val="solid"/>
            <a:round/>
            <a:headEnd len="sm" w="sm" type="none"/>
            <a:tailEnd len="sm" w="sm" type="none"/>
          </a:ln>
        </p:spPr>
      </p:cxnSp>
      <p:cxnSp>
        <p:nvCxnSpPr>
          <p:cNvPr id="392" name="Google Shape;392;p23"/>
          <p:cNvCxnSpPr/>
          <p:nvPr/>
        </p:nvCxnSpPr>
        <p:spPr>
          <a:xfrm>
            <a:off x="6172200" y="2734056"/>
            <a:ext cx="1499616" cy="0"/>
          </a:xfrm>
          <a:prstGeom prst="straightConnector1">
            <a:avLst/>
          </a:prstGeom>
          <a:noFill/>
          <a:ln cap="flat" cmpd="sng" w="17775">
            <a:solidFill>
              <a:srgbClr val="8494A6"/>
            </a:solidFill>
            <a:prstDash val="solid"/>
            <a:round/>
            <a:headEnd len="sm" w="sm" type="none"/>
            <a:tailEnd len="med" w="med" type="triangle"/>
          </a:ln>
        </p:spPr>
      </p:cxnSp>
      <p:sp>
        <p:nvSpPr>
          <p:cNvPr id="393" name="Google Shape;393;p23"/>
          <p:cNvSpPr txBox="1"/>
          <p:nvPr/>
        </p:nvSpPr>
        <p:spPr>
          <a:xfrm>
            <a:off x="6245352" y="2788920"/>
            <a:ext cx="548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100"/>
              <a:buFont typeface="Consolas"/>
              <a:buNone/>
            </a:pPr>
            <a:r>
              <a:rPr b="0" i="0" lang="en-US" sz="1100" u="none" cap="none" strike="noStrike">
                <a:solidFill>
                  <a:srgbClr val="4B5D73"/>
                </a:solidFill>
                <a:latin typeface="Consolas"/>
                <a:ea typeface="Consolas"/>
                <a:cs typeface="Consolas"/>
                <a:sym typeface="Consolas"/>
              </a:rPr>
              <a:t>h_W</a:t>
            </a:r>
            <a:endParaRPr b="0" i="0" sz="1100" u="none" cap="none" strike="noStrike">
              <a:solidFill>
                <a:schemeClr val="dk1"/>
              </a:solidFill>
              <a:latin typeface="Calibri"/>
              <a:ea typeface="Calibri"/>
              <a:cs typeface="Calibri"/>
              <a:sym typeface="Calibri"/>
            </a:endParaRPr>
          </a:p>
        </p:txBody>
      </p:sp>
      <p:sp>
        <p:nvSpPr>
          <p:cNvPr id="394" name="Google Shape;394;p23"/>
          <p:cNvSpPr/>
          <p:nvPr/>
        </p:nvSpPr>
        <p:spPr>
          <a:xfrm>
            <a:off x="8641080" y="3154680"/>
            <a:ext cx="310896" cy="1737360"/>
          </a:xfrm>
          <a:prstGeom prst="rect">
            <a:avLst/>
          </a:prstGeom>
          <a:solidFill>
            <a:srgbClr val="E08A3C"/>
          </a:solidFill>
          <a:ln cap="flat" cmpd="sng" w="9525">
            <a:solidFill>
              <a:srgbClr val="A55A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3"/>
          <p:cNvSpPr txBox="1"/>
          <p:nvPr/>
        </p:nvSpPr>
        <p:spPr>
          <a:xfrm>
            <a:off x="8641080" y="3154680"/>
            <a:ext cx="310896" cy="1737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B</a:t>
            </a:r>
            <a:endParaRPr b="0" i="0" sz="1400" u="none" cap="none" strike="noStrike">
              <a:solidFill>
                <a:schemeClr val="dk1"/>
              </a:solidFill>
              <a:latin typeface="Calibri"/>
              <a:ea typeface="Calibri"/>
              <a:cs typeface="Calibri"/>
              <a:sym typeface="Calibri"/>
            </a:endParaRPr>
          </a:p>
        </p:txBody>
      </p:sp>
      <p:sp>
        <p:nvSpPr>
          <p:cNvPr id="396" name="Google Shape;396;p23"/>
          <p:cNvSpPr/>
          <p:nvPr/>
        </p:nvSpPr>
        <p:spPr>
          <a:xfrm>
            <a:off x="9098280" y="3154680"/>
            <a:ext cx="1737360" cy="310896"/>
          </a:xfrm>
          <a:prstGeom prst="rect">
            <a:avLst/>
          </a:prstGeom>
          <a:solidFill>
            <a:srgbClr val="E08A3C"/>
          </a:solidFill>
          <a:ln cap="flat" cmpd="sng" w="9525">
            <a:solidFill>
              <a:srgbClr val="A55A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3"/>
          <p:cNvSpPr txBox="1"/>
          <p:nvPr/>
        </p:nvSpPr>
        <p:spPr>
          <a:xfrm>
            <a:off x="9098280" y="3154680"/>
            <a:ext cx="17373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A</a:t>
            </a:r>
            <a:endParaRPr b="0" i="0" sz="1400" u="none" cap="none" strike="noStrike">
              <a:solidFill>
                <a:schemeClr val="dk1"/>
              </a:solidFill>
              <a:latin typeface="Calibri"/>
              <a:ea typeface="Calibri"/>
              <a:cs typeface="Calibri"/>
              <a:sym typeface="Calibri"/>
            </a:endParaRPr>
          </a:p>
        </p:txBody>
      </p:sp>
      <p:cxnSp>
        <p:nvCxnSpPr>
          <p:cNvPr id="398" name="Google Shape;398;p23"/>
          <p:cNvCxnSpPr/>
          <p:nvPr/>
        </p:nvCxnSpPr>
        <p:spPr>
          <a:xfrm>
            <a:off x="8951976" y="3310128"/>
            <a:ext cx="146304" cy="0"/>
          </a:xfrm>
          <a:prstGeom prst="straightConnector1">
            <a:avLst/>
          </a:prstGeom>
          <a:noFill/>
          <a:ln cap="flat" cmpd="sng" w="15225">
            <a:solidFill>
              <a:srgbClr val="A55A18"/>
            </a:solidFill>
            <a:prstDash val="solid"/>
            <a:round/>
            <a:headEnd len="sm" w="sm" type="none"/>
            <a:tailEnd len="med" w="med" type="triangle"/>
          </a:ln>
        </p:spPr>
      </p:cxnSp>
      <p:sp>
        <p:nvSpPr>
          <p:cNvPr id="399" name="Google Shape;399;p23"/>
          <p:cNvSpPr txBox="1"/>
          <p:nvPr/>
        </p:nvSpPr>
        <p:spPr>
          <a:xfrm>
            <a:off x="7772400" y="3703320"/>
            <a:ext cx="822960" cy="457200"/>
          </a:xfrm>
          <a:prstGeom prst="rect">
            <a:avLst/>
          </a:prstGeom>
          <a:noFill/>
          <a:ln>
            <a:noFill/>
          </a:ln>
        </p:spPr>
        <p:txBody>
          <a:bodyPr anchorCtr="0" anchor="ctr" bIns="0" lIns="0" spcFirstLastPara="1" rIns="0" wrap="square" tIns="0">
            <a:noAutofit/>
          </a:bodyPr>
          <a:lstStyle/>
          <a:p>
            <a:pPr indent="0" lvl="0" marL="0" marR="0" rtl="0" algn="r">
              <a:lnSpc>
                <a:spcPct val="130000"/>
              </a:lnSpc>
              <a:spcBef>
                <a:spcPts val="0"/>
              </a:spcBef>
              <a:spcAft>
                <a:spcPts val="0"/>
              </a:spcAft>
              <a:buClr>
                <a:srgbClr val="A55A18"/>
              </a:buClr>
              <a:buSzPts val="1000"/>
              <a:buFont typeface="Consolas"/>
              <a:buNone/>
            </a:pPr>
            <a:r>
              <a:rPr lang="en-US" sz="1000">
                <a:solidFill>
                  <a:srgbClr val="A55A18"/>
                </a:solidFill>
                <a:latin typeface="Consolas"/>
                <a:ea typeface="Consolas"/>
                <a:cs typeface="Consolas"/>
                <a:sym typeface="Consolas"/>
              </a:rPr>
              <a:t>B</a:t>
            </a:r>
            <a:r>
              <a:rPr b="0" i="0" lang="en-US" sz="1000" u="none" cap="none" strike="noStrike">
                <a:solidFill>
                  <a:srgbClr val="A55A18"/>
                </a:solidFill>
                <a:latin typeface="Consolas"/>
                <a:ea typeface="Consolas"/>
                <a:cs typeface="Consolas"/>
                <a:sym typeface="Consolas"/>
              </a:rPr>
              <a:t>: d × r</a:t>
            </a:r>
            <a:endParaRPr b="0" i="0" sz="1000" u="none" cap="none" strike="noStrike">
              <a:solidFill>
                <a:schemeClr val="dk1"/>
              </a:solidFill>
              <a:latin typeface="Calibri"/>
              <a:ea typeface="Calibri"/>
              <a:cs typeface="Calibri"/>
              <a:sym typeface="Calibri"/>
            </a:endParaRPr>
          </a:p>
          <a:p>
            <a:pPr indent="0" lvl="0" marL="0" rtl="0" algn="ctr">
              <a:lnSpc>
                <a:spcPct val="130000"/>
              </a:lnSpc>
              <a:spcBef>
                <a:spcPts val="0"/>
              </a:spcBef>
              <a:spcAft>
                <a:spcPts val="0"/>
              </a:spcAft>
              <a:buClr>
                <a:schemeClr val="accent4"/>
              </a:buClr>
              <a:buSzPts val="1000"/>
              <a:buFont typeface="Consolas"/>
              <a:buNone/>
            </a:pPr>
            <a:r>
              <a:rPr lang="en-US" sz="1000">
                <a:solidFill>
                  <a:schemeClr val="accent4"/>
                </a:solidFill>
                <a:latin typeface="Consolas"/>
                <a:ea typeface="Consolas"/>
                <a:cs typeface="Consolas"/>
                <a:sym typeface="Consolas"/>
              </a:rPr>
              <a:t>começa em zero</a:t>
            </a:r>
            <a:endParaRPr sz="1000">
              <a:solidFill>
                <a:schemeClr val="dk1"/>
              </a:solidFill>
              <a:latin typeface="Calibri"/>
              <a:ea typeface="Calibri"/>
              <a:cs typeface="Calibri"/>
              <a:sym typeface="Calibri"/>
            </a:endParaRPr>
          </a:p>
          <a:p>
            <a:pPr indent="0" lvl="0" marL="0" marR="0" rtl="0" algn="r">
              <a:lnSpc>
                <a:spcPct val="130000"/>
              </a:lnSpc>
              <a:spcBef>
                <a:spcPts val="0"/>
              </a:spcBef>
              <a:spcAft>
                <a:spcPts val="0"/>
              </a:spcAft>
              <a:buClr>
                <a:srgbClr val="A55A18"/>
              </a:buClr>
              <a:buSzPts val="1000"/>
              <a:buFont typeface="Consolas"/>
              <a:buNone/>
            </a:pPr>
            <a:r>
              <a:t/>
            </a:r>
            <a:endParaRPr sz="1000">
              <a:solidFill>
                <a:srgbClr val="A55A18"/>
              </a:solidFill>
              <a:latin typeface="Consolas"/>
              <a:ea typeface="Consolas"/>
              <a:cs typeface="Consolas"/>
              <a:sym typeface="Consolas"/>
            </a:endParaRPr>
          </a:p>
        </p:txBody>
      </p:sp>
      <p:sp>
        <p:nvSpPr>
          <p:cNvPr id="400" name="Google Shape;400;p23"/>
          <p:cNvSpPr txBox="1"/>
          <p:nvPr/>
        </p:nvSpPr>
        <p:spPr>
          <a:xfrm>
            <a:off x="9098268" y="3611878"/>
            <a:ext cx="1737300" cy="4116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A55A18"/>
              </a:buClr>
              <a:buSzPts val="1000"/>
              <a:buFont typeface="Consolas"/>
              <a:buNone/>
            </a:pPr>
            <a:r>
              <a:rPr lang="en-US" sz="1000">
                <a:solidFill>
                  <a:srgbClr val="A55A18"/>
                </a:solidFill>
                <a:latin typeface="Consolas"/>
                <a:ea typeface="Consolas"/>
                <a:cs typeface="Consolas"/>
                <a:sym typeface="Consolas"/>
              </a:rPr>
              <a:t>A</a:t>
            </a:r>
            <a:r>
              <a:rPr b="0" i="0" lang="en-US" sz="1000" u="none" cap="none" strike="noStrike">
                <a:solidFill>
                  <a:srgbClr val="A55A18"/>
                </a:solidFill>
                <a:latin typeface="Consolas"/>
                <a:ea typeface="Consolas"/>
                <a:cs typeface="Consolas"/>
                <a:sym typeface="Consolas"/>
              </a:rPr>
              <a:t>: r × d</a:t>
            </a:r>
            <a:endParaRPr b="0" i="0" sz="1000" u="none" cap="none" strike="noStrike">
              <a:solidFill>
                <a:srgbClr val="A55A18"/>
              </a:solidFill>
              <a:latin typeface="Consolas"/>
              <a:ea typeface="Consolas"/>
              <a:cs typeface="Consolas"/>
              <a:sym typeface="Consolas"/>
            </a:endParaRPr>
          </a:p>
          <a:p>
            <a:pPr indent="0" lvl="0" marL="0" marR="0" rtl="0" algn="ctr">
              <a:lnSpc>
                <a:spcPct val="130000"/>
              </a:lnSpc>
              <a:spcBef>
                <a:spcPts val="0"/>
              </a:spcBef>
              <a:spcAft>
                <a:spcPts val="0"/>
              </a:spcAft>
              <a:buClr>
                <a:srgbClr val="A55A18"/>
              </a:buClr>
              <a:buSzPts val="1000"/>
              <a:buFont typeface="Consolas"/>
              <a:buNone/>
            </a:pPr>
            <a:r>
              <a:rPr lang="en-US" sz="1000">
                <a:solidFill>
                  <a:srgbClr val="A55A18"/>
                </a:solidFill>
                <a:latin typeface="Consolas"/>
                <a:ea typeface="Consolas"/>
                <a:cs typeface="Consolas"/>
                <a:sym typeface="Consolas"/>
              </a:rPr>
              <a:t>Aleatória</a:t>
            </a:r>
            <a:endParaRPr sz="1000">
              <a:solidFill>
                <a:srgbClr val="A55A18"/>
              </a:solidFill>
              <a:latin typeface="Consolas"/>
              <a:ea typeface="Consolas"/>
              <a:cs typeface="Consolas"/>
              <a:sym typeface="Consolas"/>
            </a:endParaRPr>
          </a:p>
          <a:p>
            <a:pPr indent="0" lvl="0" marL="0" marR="0" rtl="0" algn="ctr">
              <a:lnSpc>
                <a:spcPct val="130000"/>
              </a:lnSpc>
              <a:spcBef>
                <a:spcPts val="0"/>
              </a:spcBef>
              <a:spcAft>
                <a:spcPts val="0"/>
              </a:spcAft>
              <a:buClr>
                <a:srgbClr val="A55A18"/>
              </a:buClr>
              <a:buSzPts val="1000"/>
              <a:buFont typeface="Consolas"/>
              <a:buNone/>
            </a:pPr>
            <a:r>
              <a:t/>
            </a:r>
            <a:endParaRPr b="0" i="0" sz="1000" u="none" cap="none" strike="noStrike">
              <a:solidFill>
                <a:schemeClr val="dk1"/>
              </a:solidFill>
              <a:latin typeface="Calibri"/>
              <a:ea typeface="Calibri"/>
              <a:cs typeface="Calibri"/>
              <a:sym typeface="Calibri"/>
            </a:endParaRPr>
          </a:p>
        </p:txBody>
      </p:sp>
      <p:cxnSp>
        <p:nvCxnSpPr>
          <p:cNvPr id="401" name="Google Shape;401;p23"/>
          <p:cNvCxnSpPr/>
          <p:nvPr/>
        </p:nvCxnSpPr>
        <p:spPr>
          <a:xfrm rot="10800000">
            <a:off x="9966960" y="2734056"/>
            <a:ext cx="0" cy="420624"/>
          </a:xfrm>
          <a:prstGeom prst="straightConnector1">
            <a:avLst/>
          </a:prstGeom>
          <a:noFill/>
          <a:ln cap="flat" cmpd="sng" w="17775">
            <a:solidFill>
              <a:srgbClr val="A55A18"/>
            </a:solidFill>
            <a:prstDash val="solid"/>
            <a:round/>
            <a:headEnd len="sm" w="sm" type="none"/>
            <a:tailEnd len="sm" w="sm" type="none"/>
          </a:ln>
        </p:spPr>
      </p:cxnSp>
      <p:cxnSp>
        <p:nvCxnSpPr>
          <p:cNvPr id="402" name="Google Shape;402;p23"/>
          <p:cNvCxnSpPr/>
          <p:nvPr/>
        </p:nvCxnSpPr>
        <p:spPr>
          <a:xfrm rot="10800000">
            <a:off x="8055864" y="2734056"/>
            <a:ext cx="1911096" cy="0"/>
          </a:xfrm>
          <a:prstGeom prst="straightConnector1">
            <a:avLst/>
          </a:prstGeom>
          <a:noFill/>
          <a:ln cap="flat" cmpd="sng" w="17775">
            <a:solidFill>
              <a:srgbClr val="A55A18"/>
            </a:solidFill>
            <a:prstDash val="solid"/>
            <a:round/>
            <a:headEnd len="sm" w="sm" type="none"/>
            <a:tailEnd len="med" w="med" type="triangle"/>
          </a:ln>
        </p:spPr>
      </p:cxnSp>
      <p:sp>
        <p:nvSpPr>
          <p:cNvPr id="403" name="Google Shape;403;p23"/>
          <p:cNvSpPr txBox="1"/>
          <p:nvPr/>
        </p:nvSpPr>
        <p:spPr>
          <a:xfrm>
            <a:off x="10040112" y="2788920"/>
            <a:ext cx="548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100"/>
              <a:buFont typeface="Consolas"/>
              <a:buNone/>
            </a:pPr>
            <a:r>
              <a:rPr b="0" i="0" lang="en-US" sz="1100" u="none" cap="none" strike="noStrike">
                <a:solidFill>
                  <a:srgbClr val="A55A18"/>
                </a:solidFill>
                <a:latin typeface="Consolas"/>
                <a:ea typeface="Consolas"/>
                <a:cs typeface="Consolas"/>
                <a:sym typeface="Consolas"/>
              </a:rPr>
              <a:t>h_L</a:t>
            </a:r>
            <a:endParaRPr b="0" i="0" sz="1100" u="none" cap="none" strike="noStrike">
              <a:solidFill>
                <a:schemeClr val="dk1"/>
              </a:solidFill>
              <a:latin typeface="Calibri"/>
              <a:ea typeface="Calibri"/>
              <a:cs typeface="Calibri"/>
              <a:sym typeface="Calibri"/>
            </a:endParaRPr>
          </a:p>
        </p:txBody>
      </p:sp>
      <p:sp>
        <p:nvSpPr>
          <p:cNvPr id="404" name="Google Shape;404;p23"/>
          <p:cNvSpPr/>
          <p:nvPr/>
        </p:nvSpPr>
        <p:spPr>
          <a:xfrm>
            <a:off x="7589520" y="5285232"/>
            <a:ext cx="548640" cy="384048"/>
          </a:xfrm>
          <a:prstGeom prst="roundRect">
            <a:avLst>
              <a:gd fmla="val 14286" name="adj"/>
            </a:avLst>
          </a:prstGeom>
          <a:solidFill>
            <a:srgbClr val="EFF3F7"/>
          </a:solidFill>
          <a:ln cap="flat" cmpd="sng" w="12700">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3"/>
          <p:cNvSpPr txBox="1"/>
          <p:nvPr/>
        </p:nvSpPr>
        <p:spPr>
          <a:xfrm>
            <a:off x="7589520" y="5285232"/>
            <a:ext cx="54864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C2E"/>
              </a:buClr>
              <a:buSzPts val="1400"/>
              <a:buFont typeface="Calibri"/>
              <a:buNone/>
            </a:pPr>
            <a:r>
              <a:rPr b="1" i="0" lang="en-US" sz="1400" u="none" cap="none" strike="noStrike">
                <a:solidFill>
                  <a:srgbClr val="0F1C2E"/>
                </a:solidFill>
                <a:latin typeface="Calibri"/>
                <a:ea typeface="Calibri"/>
                <a:cs typeface="Calibri"/>
                <a:sym typeface="Calibri"/>
              </a:rPr>
              <a:t>x</a:t>
            </a:r>
            <a:endParaRPr b="0" i="0" sz="1400" u="none" cap="none" strike="noStrike">
              <a:solidFill>
                <a:schemeClr val="dk1"/>
              </a:solidFill>
              <a:latin typeface="Calibri"/>
              <a:ea typeface="Calibri"/>
              <a:cs typeface="Calibri"/>
              <a:sym typeface="Calibri"/>
            </a:endParaRPr>
          </a:p>
        </p:txBody>
      </p:sp>
      <p:cxnSp>
        <p:nvCxnSpPr>
          <p:cNvPr id="406" name="Google Shape;406;p23"/>
          <p:cNvCxnSpPr/>
          <p:nvPr/>
        </p:nvCxnSpPr>
        <p:spPr>
          <a:xfrm rot="10800000">
            <a:off x="7863840" y="5102352"/>
            <a:ext cx="0" cy="182880"/>
          </a:xfrm>
          <a:prstGeom prst="straightConnector1">
            <a:avLst/>
          </a:prstGeom>
          <a:noFill/>
          <a:ln cap="flat" cmpd="sng" w="17775">
            <a:solidFill>
              <a:srgbClr val="8494A6"/>
            </a:solidFill>
            <a:prstDash val="solid"/>
            <a:round/>
            <a:headEnd len="sm" w="sm" type="none"/>
            <a:tailEnd len="sm" w="sm" type="none"/>
          </a:ln>
        </p:spPr>
      </p:cxnSp>
      <p:cxnSp>
        <p:nvCxnSpPr>
          <p:cNvPr id="407" name="Google Shape;407;p23"/>
          <p:cNvCxnSpPr/>
          <p:nvPr/>
        </p:nvCxnSpPr>
        <p:spPr>
          <a:xfrm rot="10800000">
            <a:off x="6172200" y="5102352"/>
            <a:ext cx="1691640" cy="0"/>
          </a:xfrm>
          <a:prstGeom prst="straightConnector1">
            <a:avLst/>
          </a:prstGeom>
          <a:noFill/>
          <a:ln cap="flat" cmpd="sng" w="17775">
            <a:solidFill>
              <a:srgbClr val="8494A6"/>
            </a:solidFill>
            <a:prstDash val="solid"/>
            <a:round/>
            <a:headEnd len="sm" w="sm" type="none"/>
            <a:tailEnd len="sm" w="sm" type="none"/>
          </a:ln>
        </p:spPr>
      </p:cxnSp>
      <p:cxnSp>
        <p:nvCxnSpPr>
          <p:cNvPr id="408" name="Google Shape;408;p23"/>
          <p:cNvCxnSpPr/>
          <p:nvPr/>
        </p:nvCxnSpPr>
        <p:spPr>
          <a:xfrm rot="10800000">
            <a:off x="6172200" y="4892040"/>
            <a:ext cx="0" cy="210312"/>
          </a:xfrm>
          <a:prstGeom prst="straightConnector1">
            <a:avLst/>
          </a:prstGeom>
          <a:noFill/>
          <a:ln cap="flat" cmpd="sng" w="17775">
            <a:solidFill>
              <a:srgbClr val="8494A6"/>
            </a:solidFill>
            <a:prstDash val="solid"/>
            <a:round/>
            <a:headEnd len="sm" w="sm" type="none"/>
            <a:tailEnd len="med" w="med" type="triangle"/>
          </a:ln>
        </p:spPr>
      </p:cxnSp>
      <p:cxnSp>
        <p:nvCxnSpPr>
          <p:cNvPr id="409" name="Google Shape;409;p23"/>
          <p:cNvCxnSpPr/>
          <p:nvPr/>
        </p:nvCxnSpPr>
        <p:spPr>
          <a:xfrm>
            <a:off x="7863840" y="5102352"/>
            <a:ext cx="932688" cy="0"/>
          </a:xfrm>
          <a:prstGeom prst="straightConnector1">
            <a:avLst/>
          </a:prstGeom>
          <a:noFill/>
          <a:ln cap="flat" cmpd="sng" w="17775">
            <a:solidFill>
              <a:srgbClr val="8494A6"/>
            </a:solidFill>
            <a:prstDash val="solid"/>
            <a:round/>
            <a:headEnd len="sm" w="sm" type="none"/>
            <a:tailEnd len="sm" w="sm" type="none"/>
          </a:ln>
        </p:spPr>
      </p:cxnSp>
      <p:cxnSp>
        <p:nvCxnSpPr>
          <p:cNvPr id="410" name="Google Shape;410;p23"/>
          <p:cNvCxnSpPr/>
          <p:nvPr/>
        </p:nvCxnSpPr>
        <p:spPr>
          <a:xfrm rot="10800000">
            <a:off x="8796528" y="4892040"/>
            <a:ext cx="0" cy="210312"/>
          </a:xfrm>
          <a:prstGeom prst="straightConnector1">
            <a:avLst/>
          </a:prstGeom>
          <a:noFill/>
          <a:ln cap="flat" cmpd="sng" w="17775">
            <a:solidFill>
              <a:srgbClr val="8494A6"/>
            </a:solidFill>
            <a:prstDash val="solid"/>
            <a:round/>
            <a:headEnd len="sm" w="sm" type="none"/>
            <a:tailEnd len="med" w="med" type="triangle"/>
          </a:ln>
        </p:spPr>
      </p:cxnSp>
      <p:cxnSp>
        <p:nvCxnSpPr>
          <p:cNvPr id="411" name="Google Shape;411;p23"/>
          <p:cNvCxnSpPr/>
          <p:nvPr/>
        </p:nvCxnSpPr>
        <p:spPr>
          <a:xfrm>
            <a:off x="8595360" y="2112264"/>
            <a:ext cx="2560320" cy="0"/>
          </a:xfrm>
          <a:prstGeom prst="straightConnector1">
            <a:avLst/>
          </a:prstGeom>
          <a:noFill/>
          <a:ln cap="flat" cmpd="sng" w="20300">
            <a:solidFill>
              <a:srgbClr val="C0392B"/>
            </a:solidFill>
            <a:prstDash val="dash"/>
            <a:round/>
            <a:headEnd len="sm" w="sm" type="none"/>
            <a:tailEnd len="sm" w="sm" type="none"/>
          </a:ln>
        </p:spPr>
      </p:cxnSp>
      <p:cxnSp>
        <p:nvCxnSpPr>
          <p:cNvPr id="412" name="Google Shape;412;p23"/>
          <p:cNvCxnSpPr/>
          <p:nvPr/>
        </p:nvCxnSpPr>
        <p:spPr>
          <a:xfrm>
            <a:off x="11155680" y="2112264"/>
            <a:ext cx="0" cy="1197864"/>
          </a:xfrm>
          <a:prstGeom prst="straightConnector1">
            <a:avLst/>
          </a:prstGeom>
          <a:noFill/>
          <a:ln cap="flat" cmpd="sng" w="20300">
            <a:solidFill>
              <a:srgbClr val="C0392B"/>
            </a:solidFill>
            <a:prstDash val="dash"/>
            <a:round/>
            <a:headEnd len="sm" w="sm" type="none"/>
            <a:tailEnd len="sm" w="sm" type="none"/>
          </a:ln>
        </p:spPr>
      </p:cxnSp>
      <p:cxnSp>
        <p:nvCxnSpPr>
          <p:cNvPr id="413" name="Google Shape;413;p23"/>
          <p:cNvCxnSpPr/>
          <p:nvPr/>
        </p:nvCxnSpPr>
        <p:spPr>
          <a:xfrm rot="10800000">
            <a:off x="10835640" y="3310128"/>
            <a:ext cx="320040" cy="0"/>
          </a:xfrm>
          <a:prstGeom prst="straightConnector1">
            <a:avLst/>
          </a:prstGeom>
          <a:noFill/>
          <a:ln cap="flat" cmpd="sng" w="20300">
            <a:solidFill>
              <a:srgbClr val="C0392B"/>
            </a:solidFill>
            <a:prstDash val="dash"/>
            <a:round/>
            <a:headEnd len="sm" w="sm" type="none"/>
            <a:tailEnd len="med" w="med" type="triangle"/>
          </a:ln>
        </p:spPr>
      </p:cxnSp>
      <p:cxnSp>
        <p:nvCxnSpPr>
          <p:cNvPr id="414" name="Google Shape;414;p23"/>
          <p:cNvCxnSpPr/>
          <p:nvPr/>
        </p:nvCxnSpPr>
        <p:spPr>
          <a:xfrm>
            <a:off x="11155680" y="3310128"/>
            <a:ext cx="0" cy="1261872"/>
          </a:xfrm>
          <a:prstGeom prst="straightConnector1">
            <a:avLst/>
          </a:prstGeom>
          <a:noFill/>
          <a:ln cap="flat" cmpd="sng" w="20300">
            <a:solidFill>
              <a:srgbClr val="C0392B"/>
            </a:solidFill>
            <a:prstDash val="dash"/>
            <a:round/>
            <a:headEnd len="sm" w="sm" type="none"/>
            <a:tailEnd len="sm" w="sm" type="none"/>
          </a:ln>
        </p:spPr>
      </p:cxnSp>
      <p:cxnSp>
        <p:nvCxnSpPr>
          <p:cNvPr id="415" name="Google Shape;415;p23"/>
          <p:cNvCxnSpPr/>
          <p:nvPr/>
        </p:nvCxnSpPr>
        <p:spPr>
          <a:xfrm rot="10800000">
            <a:off x="8951976" y="4572000"/>
            <a:ext cx="2203704" cy="0"/>
          </a:xfrm>
          <a:prstGeom prst="straightConnector1">
            <a:avLst/>
          </a:prstGeom>
          <a:noFill/>
          <a:ln cap="flat" cmpd="sng" w="20300">
            <a:solidFill>
              <a:srgbClr val="C0392B"/>
            </a:solidFill>
            <a:prstDash val="dash"/>
            <a:round/>
            <a:headEnd len="sm" w="sm" type="none"/>
            <a:tailEnd len="med" w="med" type="triangle"/>
          </a:ln>
        </p:spPr>
      </p:cxnSp>
      <p:sp>
        <p:nvSpPr>
          <p:cNvPr id="416" name="Google Shape;416;p23"/>
          <p:cNvSpPr txBox="1"/>
          <p:nvPr/>
        </p:nvSpPr>
        <p:spPr>
          <a:xfrm>
            <a:off x="8778240" y="1847088"/>
            <a:ext cx="23317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050"/>
              <a:buFont typeface="Calibri"/>
              <a:buNone/>
            </a:pPr>
            <a:r>
              <a:rPr b="0" i="1" lang="en-US" sz="1050" u="none" cap="none" strike="noStrike">
                <a:solidFill>
                  <a:srgbClr val="C0392B"/>
                </a:solidFill>
                <a:latin typeface="Calibri"/>
                <a:ea typeface="Calibri"/>
                <a:cs typeface="Calibri"/>
                <a:sym typeface="Calibri"/>
              </a:rPr>
              <a:t>gradiente: só A e B mudam</a:t>
            </a:r>
            <a:endParaRPr b="0" i="0" sz="1050" u="none" cap="none" strike="noStrike">
              <a:solidFill>
                <a:schemeClr val="dk1"/>
              </a:solidFill>
              <a:latin typeface="Calibri"/>
              <a:ea typeface="Calibri"/>
              <a:cs typeface="Calibri"/>
              <a:sym typeface="Calibri"/>
            </a:endParaRPr>
          </a:p>
        </p:txBody>
      </p:sp>
      <p:sp>
        <p:nvSpPr>
          <p:cNvPr id="417" name="Google Shape;417;p23"/>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4"/>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A atualização de baixo rank</a:t>
            </a:r>
            <a:endParaRPr sz="3100"/>
          </a:p>
        </p:txBody>
      </p:sp>
      <p:sp>
        <p:nvSpPr>
          <p:cNvPr id="424" name="Google Shape;424;p24"/>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Em vez de aprender um ΔW do tamanho de W, a LoRA aprende duas matrizes finas, e ΔW = </a:t>
            </a:r>
            <a:r>
              <a:rPr lang="en-US" sz="1450">
                <a:solidFill>
                  <a:srgbClr val="4B5D73"/>
                </a:solidFill>
                <a:latin typeface="Calibri"/>
                <a:ea typeface="Calibri"/>
                <a:cs typeface="Calibri"/>
                <a:sym typeface="Calibri"/>
              </a:rPr>
              <a:t>B</a:t>
            </a:r>
            <a:r>
              <a:rPr b="0" i="0" lang="en-US" sz="1450" u="none" cap="none" strike="noStrike">
                <a:solidFill>
                  <a:srgbClr val="4B5D73"/>
                </a:solidFill>
                <a:latin typeface="Calibri"/>
                <a:ea typeface="Calibri"/>
                <a:cs typeface="Calibri"/>
                <a:sym typeface="Calibri"/>
              </a:rPr>
              <a:t>·</a:t>
            </a:r>
            <a:r>
              <a:rPr lang="en-US" sz="1450">
                <a:solidFill>
                  <a:srgbClr val="4B5D73"/>
                </a:solidFill>
                <a:latin typeface="Calibri"/>
                <a:ea typeface="Calibri"/>
                <a:cs typeface="Calibri"/>
                <a:sym typeface="Calibri"/>
              </a:rPr>
              <a:t>A</a:t>
            </a:r>
            <a:r>
              <a:rPr b="0" i="0" lang="en-US" sz="1450" u="none" cap="none" strike="noStrike">
                <a:solidFill>
                  <a:srgbClr val="4B5D73"/>
                </a:solidFill>
                <a:latin typeface="Calibri"/>
                <a:ea typeface="Calibri"/>
                <a:cs typeface="Calibri"/>
                <a:sym typeface="Calibri"/>
              </a:rPr>
              <a:t>.</a:t>
            </a:r>
            <a:endParaRPr b="0" i="0" sz="1450" u="none" cap="none" strike="noStrike">
              <a:solidFill>
                <a:schemeClr val="dk1"/>
              </a:solidFill>
              <a:latin typeface="Calibri"/>
              <a:ea typeface="Calibri"/>
              <a:cs typeface="Calibri"/>
              <a:sym typeface="Calibri"/>
            </a:endParaRPr>
          </a:p>
        </p:txBody>
      </p:sp>
      <p:sp>
        <p:nvSpPr>
          <p:cNvPr id="425" name="Google Shape;425;p24"/>
          <p:cNvSpPr/>
          <p:nvPr/>
        </p:nvSpPr>
        <p:spPr>
          <a:xfrm>
            <a:off x="777240" y="1783080"/>
            <a:ext cx="5577840" cy="566928"/>
          </a:xfrm>
          <a:prstGeom prst="roundRect">
            <a:avLst>
              <a:gd fmla="val 12903" name="adj"/>
            </a:avLst>
          </a:prstGeom>
          <a:solidFill>
            <a:srgbClr val="0F1C2E"/>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4"/>
          <p:cNvSpPr txBox="1"/>
          <p:nvPr/>
        </p:nvSpPr>
        <p:spPr>
          <a:xfrm>
            <a:off x="1097280" y="1783080"/>
            <a:ext cx="270662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0" i="0" lang="en-US" sz="1900" u="none" cap="none" strike="noStrike">
                <a:solidFill>
                  <a:srgbClr val="FFFFFF"/>
                </a:solidFill>
                <a:latin typeface="Cambria"/>
                <a:ea typeface="Cambria"/>
                <a:cs typeface="Cambria"/>
                <a:sym typeface="Cambria"/>
              </a:rPr>
              <a:t>W' = W + (α/r) · </a:t>
            </a:r>
            <a:r>
              <a:rPr lang="en-US" sz="1900">
                <a:solidFill>
                  <a:srgbClr val="FFFFFF"/>
                </a:solidFill>
                <a:latin typeface="Cambria"/>
                <a:ea typeface="Cambria"/>
                <a:cs typeface="Cambria"/>
                <a:sym typeface="Cambria"/>
              </a:rPr>
              <a:t>B</a:t>
            </a:r>
            <a:r>
              <a:rPr b="0" i="0" lang="en-US" sz="1900" u="none" cap="none" strike="noStrike">
                <a:solidFill>
                  <a:srgbClr val="FFFFFF"/>
                </a:solidFill>
                <a:latin typeface="Cambria"/>
                <a:ea typeface="Cambria"/>
                <a:cs typeface="Cambria"/>
                <a:sym typeface="Cambria"/>
              </a:rPr>
              <a:t>· </a:t>
            </a:r>
            <a:r>
              <a:rPr lang="en-US" sz="1900">
                <a:solidFill>
                  <a:srgbClr val="FFFFFF"/>
                </a:solidFill>
                <a:latin typeface="Cambria"/>
                <a:ea typeface="Cambria"/>
                <a:cs typeface="Cambria"/>
                <a:sym typeface="Cambria"/>
              </a:rPr>
              <a:t>A</a:t>
            </a:r>
            <a:endParaRPr b="0" i="0" sz="1900" u="none" cap="none" strike="noStrike">
              <a:solidFill>
                <a:schemeClr val="dk1"/>
              </a:solidFill>
              <a:latin typeface="Calibri"/>
              <a:ea typeface="Calibri"/>
              <a:cs typeface="Calibri"/>
              <a:sym typeface="Calibri"/>
            </a:endParaRPr>
          </a:p>
        </p:txBody>
      </p:sp>
      <p:sp>
        <p:nvSpPr>
          <p:cNvPr id="427" name="Google Shape;427;p24"/>
          <p:cNvSpPr txBox="1"/>
          <p:nvPr/>
        </p:nvSpPr>
        <p:spPr>
          <a:xfrm>
            <a:off x="3803904" y="1783080"/>
            <a:ext cx="2231136" cy="5669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08A3C"/>
              </a:buClr>
              <a:buSzPts val="1200"/>
              <a:buFont typeface="Calibri"/>
              <a:buNone/>
            </a:pPr>
            <a:r>
              <a:rPr b="0" i="1" lang="en-US" sz="1200" u="none" cap="none" strike="noStrike">
                <a:solidFill>
                  <a:srgbClr val="E08A3C"/>
                </a:solidFill>
                <a:latin typeface="Calibri"/>
                <a:ea typeface="Calibri"/>
                <a:cs typeface="Calibri"/>
                <a:sym typeface="Calibri"/>
              </a:rPr>
              <a:t>ΔW = </a:t>
            </a:r>
            <a:r>
              <a:rPr i="1" lang="en-US" sz="1200">
                <a:solidFill>
                  <a:srgbClr val="E08A3C"/>
                </a:solidFill>
                <a:latin typeface="Calibri"/>
                <a:ea typeface="Calibri"/>
                <a:cs typeface="Calibri"/>
                <a:sym typeface="Calibri"/>
              </a:rPr>
              <a:t>B</a:t>
            </a:r>
            <a:r>
              <a:rPr b="0" i="1" lang="en-US" sz="1200" u="none" cap="none" strike="noStrike">
                <a:solidFill>
                  <a:srgbClr val="E08A3C"/>
                </a:solidFill>
                <a:latin typeface="Calibri"/>
                <a:ea typeface="Calibri"/>
                <a:cs typeface="Calibri"/>
                <a:sym typeface="Calibri"/>
              </a:rPr>
              <a:t>· </a:t>
            </a:r>
            <a:r>
              <a:rPr i="1" lang="en-US" sz="1200">
                <a:solidFill>
                  <a:srgbClr val="E08A3C"/>
                </a:solidFill>
                <a:latin typeface="Calibri"/>
                <a:ea typeface="Calibri"/>
                <a:cs typeface="Calibri"/>
                <a:sym typeface="Calibri"/>
              </a:rPr>
              <a:t>A</a:t>
            </a:r>
            <a:endParaRPr b="0" i="0" sz="1200" u="none" cap="none" strike="noStrike">
              <a:solidFill>
                <a:schemeClr val="dk1"/>
              </a:solidFill>
              <a:latin typeface="Calibri"/>
              <a:ea typeface="Calibri"/>
              <a:cs typeface="Calibri"/>
              <a:sym typeface="Calibri"/>
            </a:endParaRPr>
          </a:p>
        </p:txBody>
      </p:sp>
      <p:sp>
        <p:nvSpPr>
          <p:cNvPr id="428" name="Google Shape;428;p24"/>
          <p:cNvSpPr/>
          <p:nvPr/>
        </p:nvSpPr>
        <p:spPr>
          <a:xfrm>
            <a:off x="777240" y="2606040"/>
            <a:ext cx="2103120" cy="2103120"/>
          </a:xfrm>
          <a:prstGeom prst="rect">
            <a:avLst/>
          </a:prstGeom>
          <a:solidFill>
            <a:srgbClr val="FBEFE1"/>
          </a:solidFill>
          <a:ln cap="flat" cmpd="sng" w="17775">
            <a:solidFill>
              <a:srgbClr val="E08A3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4"/>
          <p:cNvSpPr txBox="1"/>
          <p:nvPr/>
        </p:nvSpPr>
        <p:spPr>
          <a:xfrm>
            <a:off x="777240" y="3108960"/>
            <a:ext cx="21031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2600"/>
              <a:buFont typeface="Cambria"/>
              <a:buNone/>
            </a:pPr>
            <a:r>
              <a:rPr b="1" i="0" lang="en-US" sz="2600" u="none" cap="none" strike="noStrike">
                <a:solidFill>
                  <a:srgbClr val="A55A18"/>
                </a:solidFill>
                <a:latin typeface="Cambria"/>
                <a:ea typeface="Cambria"/>
                <a:cs typeface="Cambria"/>
                <a:sym typeface="Cambria"/>
              </a:rPr>
              <a:t>ΔW</a:t>
            </a:r>
            <a:endParaRPr b="0" i="0" sz="2600" u="none" cap="none" strike="noStrike">
              <a:solidFill>
                <a:schemeClr val="dk1"/>
              </a:solidFill>
              <a:latin typeface="Calibri"/>
              <a:ea typeface="Calibri"/>
              <a:cs typeface="Calibri"/>
              <a:sym typeface="Calibri"/>
            </a:endParaRPr>
          </a:p>
        </p:txBody>
      </p:sp>
      <p:sp>
        <p:nvSpPr>
          <p:cNvPr id="430" name="Google Shape;430;p24"/>
          <p:cNvSpPr txBox="1"/>
          <p:nvPr/>
        </p:nvSpPr>
        <p:spPr>
          <a:xfrm>
            <a:off x="777240" y="3657600"/>
            <a:ext cx="2103120" cy="502920"/>
          </a:xfrm>
          <a:prstGeom prst="rect">
            <a:avLst/>
          </a:prstGeom>
          <a:noFill/>
          <a:ln>
            <a:noFill/>
          </a:ln>
        </p:spPr>
        <p:txBody>
          <a:bodyPr anchorCtr="0" anchor="ctr" bIns="0" lIns="0" spcFirstLastPara="1" rIns="0" wrap="square" tIns="0">
            <a:noAutofit/>
          </a:bodyPr>
          <a:lstStyle/>
          <a:p>
            <a:pPr indent="0" lvl="0" marL="0" marR="0" rtl="0" algn="ctr">
              <a:lnSpc>
                <a:spcPct val="136363"/>
              </a:lnSpc>
              <a:spcBef>
                <a:spcPts val="0"/>
              </a:spcBef>
              <a:spcAft>
                <a:spcPts val="0"/>
              </a:spcAft>
              <a:buClr>
                <a:srgbClr val="A55A18"/>
              </a:buClr>
              <a:buSzPts val="1100"/>
              <a:buFont typeface="Consolas"/>
              <a:buNone/>
            </a:pPr>
            <a:r>
              <a:rPr b="0" i="0" lang="en-US" sz="1100" u="none" cap="none" strike="noStrike">
                <a:solidFill>
                  <a:srgbClr val="A55A18"/>
                </a:solidFill>
                <a:latin typeface="Consolas"/>
                <a:ea typeface="Consolas"/>
                <a:cs typeface="Consolas"/>
                <a:sym typeface="Consolas"/>
              </a:rPr>
              <a:t>64 × 64</a:t>
            </a:r>
            <a:endParaRPr b="0" i="0" sz="1100" u="none" cap="none" strike="noStrike">
              <a:solidFill>
                <a:schemeClr val="dk1"/>
              </a:solidFill>
              <a:latin typeface="Calibri"/>
              <a:ea typeface="Calibri"/>
              <a:cs typeface="Calibri"/>
              <a:sym typeface="Calibri"/>
            </a:endParaRPr>
          </a:p>
          <a:p>
            <a:pPr indent="0" lvl="0" marL="0" marR="0" rtl="0" algn="ctr">
              <a:lnSpc>
                <a:spcPct val="136363"/>
              </a:lnSpc>
              <a:spcBef>
                <a:spcPts val="0"/>
              </a:spcBef>
              <a:spcAft>
                <a:spcPts val="0"/>
              </a:spcAft>
              <a:buClr>
                <a:srgbClr val="A55A18"/>
              </a:buClr>
              <a:buSzPts val="1100"/>
              <a:buFont typeface="Consolas"/>
              <a:buNone/>
            </a:pPr>
            <a:r>
              <a:rPr b="0" i="0" lang="en-US" sz="1100" u="none" cap="none" strike="noStrike">
                <a:solidFill>
                  <a:srgbClr val="A55A18"/>
                </a:solidFill>
                <a:latin typeface="Consolas"/>
                <a:ea typeface="Consolas"/>
                <a:cs typeface="Consolas"/>
                <a:sym typeface="Consolas"/>
              </a:rPr>
              <a:t>4.096 números</a:t>
            </a:r>
            <a:endParaRPr b="0" i="0" sz="1100" u="none" cap="none" strike="noStrike">
              <a:solidFill>
                <a:schemeClr val="dk1"/>
              </a:solidFill>
              <a:latin typeface="Calibri"/>
              <a:ea typeface="Calibri"/>
              <a:cs typeface="Calibri"/>
              <a:sym typeface="Calibri"/>
            </a:endParaRPr>
          </a:p>
        </p:txBody>
      </p:sp>
      <p:sp>
        <p:nvSpPr>
          <p:cNvPr id="431" name="Google Shape;431;p24"/>
          <p:cNvSpPr txBox="1"/>
          <p:nvPr/>
        </p:nvSpPr>
        <p:spPr>
          <a:xfrm>
            <a:off x="2880360" y="3383280"/>
            <a:ext cx="4114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C2E"/>
              </a:buClr>
              <a:buSzPts val="2600"/>
              <a:buFont typeface="Cambria"/>
              <a:buNone/>
            </a:pPr>
            <a:r>
              <a:rPr b="0" i="0" lang="en-US" sz="2600" u="none" cap="none" strike="noStrike">
                <a:solidFill>
                  <a:srgbClr val="0F1C2E"/>
                </a:solidFill>
                <a:latin typeface="Cambria"/>
                <a:ea typeface="Cambria"/>
                <a:cs typeface="Cambria"/>
                <a:sym typeface="Cambria"/>
              </a:rPr>
              <a:t>=</a:t>
            </a:r>
            <a:endParaRPr b="0" i="0" sz="2600" u="none" cap="none" strike="noStrike">
              <a:solidFill>
                <a:schemeClr val="dk1"/>
              </a:solidFill>
              <a:latin typeface="Calibri"/>
              <a:ea typeface="Calibri"/>
              <a:cs typeface="Calibri"/>
              <a:sym typeface="Calibri"/>
            </a:endParaRPr>
          </a:p>
        </p:txBody>
      </p:sp>
      <p:sp>
        <p:nvSpPr>
          <p:cNvPr id="432" name="Google Shape;432;p24"/>
          <p:cNvSpPr/>
          <p:nvPr/>
        </p:nvSpPr>
        <p:spPr>
          <a:xfrm>
            <a:off x="3337560" y="2606040"/>
            <a:ext cx="262890" cy="2103120"/>
          </a:xfrm>
          <a:prstGeom prst="rect">
            <a:avLst/>
          </a:prstGeom>
          <a:solidFill>
            <a:srgbClr val="E08A3C"/>
          </a:solidFill>
          <a:ln cap="flat" cmpd="sng" w="9525">
            <a:solidFill>
              <a:srgbClr val="A55A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4"/>
          <p:cNvSpPr txBox="1"/>
          <p:nvPr/>
        </p:nvSpPr>
        <p:spPr>
          <a:xfrm>
            <a:off x="3337560" y="2606040"/>
            <a:ext cx="262890" cy="2103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B</a:t>
            </a:r>
            <a:endParaRPr b="0" i="0" sz="1300" u="none" cap="none" strike="noStrike">
              <a:solidFill>
                <a:schemeClr val="dk1"/>
              </a:solidFill>
              <a:latin typeface="Calibri"/>
              <a:ea typeface="Calibri"/>
              <a:cs typeface="Calibri"/>
              <a:sym typeface="Calibri"/>
            </a:endParaRPr>
          </a:p>
        </p:txBody>
      </p:sp>
      <p:sp>
        <p:nvSpPr>
          <p:cNvPr id="434" name="Google Shape;434;p24"/>
          <p:cNvSpPr txBox="1"/>
          <p:nvPr/>
        </p:nvSpPr>
        <p:spPr>
          <a:xfrm>
            <a:off x="3063240" y="4745736"/>
            <a:ext cx="81153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1050"/>
              <a:buFont typeface="Consolas"/>
              <a:buNone/>
            </a:pPr>
            <a:r>
              <a:rPr b="0" i="0" lang="en-US" sz="1050" u="none" cap="none" strike="noStrike">
                <a:solidFill>
                  <a:srgbClr val="A55A18"/>
                </a:solidFill>
                <a:latin typeface="Consolas"/>
                <a:ea typeface="Consolas"/>
                <a:cs typeface="Consolas"/>
                <a:sym typeface="Consolas"/>
              </a:rPr>
              <a:t>64 × 8</a:t>
            </a:r>
            <a:endParaRPr b="0" i="0" sz="1050" u="none" cap="none" strike="noStrike">
              <a:solidFill>
                <a:schemeClr val="dk1"/>
              </a:solidFill>
              <a:latin typeface="Calibri"/>
              <a:ea typeface="Calibri"/>
              <a:cs typeface="Calibri"/>
              <a:sym typeface="Calibri"/>
            </a:endParaRPr>
          </a:p>
        </p:txBody>
      </p:sp>
      <p:sp>
        <p:nvSpPr>
          <p:cNvPr id="435" name="Google Shape;435;p24"/>
          <p:cNvSpPr txBox="1"/>
          <p:nvPr/>
        </p:nvSpPr>
        <p:spPr>
          <a:xfrm>
            <a:off x="3600450" y="2450592"/>
            <a:ext cx="3200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C2E"/>
              </a:buClr>
              <a:buSzPts val="2600"/>
              <a:buFont typeface="Cambria"/>
              <a:buNone/>
            </a:pPr>
            <a:r>
              <a:rPr b="1" i="0" lang="en-US" sz="2600" u="none" cap="none" strike="noStrike">
                <a:solidFill>
                  <a:srgbClr val="0F1C2E"/>
                </a:solidFill>
                <a:latin typeface="Cambria"/>
                <a:ea typeface="Cambria"/>
                <a:cs typeface="Cambria"/>
                <a:sym typeface="Cambria"/>
              </a:rPr>
              <a:t>·</a:t>
            </a:r>
            <a:endParaRPr b="0" i="0" sz="2600" u="none" cap="none" strike="noStrike">
              <a:solidFill>
                <a:schemeClr val="dk1"/>
              </a:solidFill>
              <a:latin typeface="Calibri"/>
              <a:ea typeface="Calibri"/>
              <a:cs typeface="Calibri"/>
              <a:sym typeface="Calibri"/>
            </a:endParaRPr>
          </a:p>
        </p:txBody>
      </p:sp>
      <p:sp>
        <p:nvSpPr>
          <p:cNvPr id="436" name="Google Shape;436;p24"/>
          <p:cNvSpPr/>
          <p:nvPr/>
        </p:nvSpPr>
        <p:spPr>
          <a:xfrm>
            <a:off x="3920490" y="2606040"/>
            <a:ext cx="2103120" cy="262890"/>
          </a:xfrm>
          <a:prstGeom prst="rect">
            <a:avLst/>
          </a:prstGeom>
          <a:solidFill>
            <a:srgbClr val="E08A3C"/>
          </a:solidFill>
          <a:ln cap="flat" cmpd="sng" w="9525">
            <a:solidFill>
              <a:srgbClr val="A55A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4"/>
          <p:cNvSpPr txBox="1"/>
          <p:nvPr/>
        </p:nvSpPr>
        <p:spPr>
          <a:xfrm>
            <a:off x="3920490" y="2606040"/>
            <a:ext cx="2103120" cy="26289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A</a:t>
            </a:r>
            <a:endParaRPr b="0" i="0" sz="1300" u="none" cap="none" strike="noStrike">
              <a:solidFill>
                <a:schemeClr val="dk1"/>
              </a:solidFill>
              <a:latin typeface="Calibri"/>
              <a:ea typeface="Calibri"/>
              <a:cs typeface="Calibri"/>
              <a:sym typeface="Calibri"/>
            </a:endParaRPr>
          </a:p>
        </p:txBody>
      </p:sp>
      <p:sp>
        <p:nvSpPr>
          <p:cNvPr id="438" name="Google Shape;438;p24"/>
          <p:cNvSpPr txBox="1"/>
          <p:nvPr/>
        </p:nvSpPr>
        <p:spPr>
          <a:xfrm>
            <a:off x="3920490" y="2896362"/>
            <a:ext cx="21031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1050"/>
              <a:buFont typeface="Consolas"/>
              <a:buNone/>
            </a:pPr>
            <a:r>
              <a:rPr b="0" i="0" lang="en-US" sz="1050" u="none" cap="none" strike="noStrike">
                <a:solidFill>
                  <a:srgbClr val="A55A18"/>
                </a:solidFill>
                <a:latin typeface="Consolas"/>
                <a:ea typeface="Consolas"/>
                <a:cs typeface="Consolas"/>
                <a:sym typeface="Consolas"/>
              </a:rPr>
              <a:t>8 × 64</a:t>
            </a:r>
            <a:endParaRPr b="0" i="0" sz="1050" u="none" cap="none" strike="noStrike">
              <a:solidFill>
                <a:schemeClr val="dk1"/>
              </a:solidFill>
              <a:latin typeface="Calibri"/>
              <a:ea typeface="Calibri"/>
              <a:cs typeface="Calibri"/>
              <a:sym typeface="Calibri"/>
            </a:endParaRPr>
          </a:p>
        </p:txBody>
      </p:sp>
      <p:sp>
        <p:nvSpPr>
          <p:cNvPr id="439" name="Google Shape;439;p24"/>
          <p:cNvSpPr txBox="1"/>
          <p:nvPr/>
        </p:nvSpPr>
        <p:spPr>
          <a:xfrm>
            <a:off x="3920490" y="3246120"/>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300"/>
              <a:buFont typeface="Calibri"/>
              <a:buNone/>
            </a:pPr>
            <a:r>
              <a:rPr b="1" i="0" lang="en-US" sz="1300" u="none" cap="none" strike="noStrike">
                <a:solidFill>
                  <a:srgbClr val="0F1C2E"/>
                </a:solidFill>
                <a:latin typeface="Calibri"/>
                <a:ea typeface="Calibri"/>
                <a:cs typeface="Calibri"/>
                <a:sym typeface="Calibri"/>
              </a:rPr>
              <a:t>Posto no máximo r</a:t>
            </a:r>
            <a:endParaRPr b="0" i="0" sz="1300" u="none" cap="none" strike="noStrike">
              <a:solidFill>
                <a:schemeClr val="dk1"/>
              </a:solidFill>
              <a:latin typeface="Calibri"/>
              <a:ea typeface="Calibri"/>
              <a:cs typeface="Calibri"/>
              <a:sym typeface="Calibri"/>
            </a:endParaRPr>
          </a:p>
        </p:txBody>
      </p:sp>
      <p:sp>
        <p:nvSpPr>
          <p:cNvPr id="440" name="Google Shape;440;p24"/>
          <p:cNvSpPr txBox="1"/>
          <p:nvPr/>
        </p:nvSpPr>
        <p:spPr>
          <a:xfrm>
            <a:off x="3920490" y="3575304"/>
            <a:ext cx="2103120" cy="457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O desvio só se move em r = 8 direções.</a:t>
            </a:r>
            <a:endParaRPr b="0" i="0" sz="1200" u="none" cap="none" strike="noStrike">
              <a:solidFill>
                <a:schemeClr val="dk1"/>
              </a:solidFill>
              <a:latin typeface="Calibri"/>
              <a:ea typeface="Calibri"/>
              <a:cs typeface="Calibri"/>
              <a:sym typeface="Calibri"/>
            </a:endParaRPr>
          </a:p>
        </p:txBody>
      </p:sp>
      <p:sp>
        <p:nvSpPr>
          <p:cNvPr id="441" name="Google Shape;441;p24"/>
          <p:cNvSpPr txBox="1"/>
          <p:nvPr/>
        </p:nvSpPr>
        <p:spPr>
          <a:xfrm>
            <a:off x="3920490" y="4023360"/>
            <a:ext cx="21031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300"/>
              <a:buFont typeface="Calibri"/>
              <a:buNone/>
            </a:pPr>
            <a:r>
              <a:rPr b="1" i="0" lang="en-US" sz="1300" u="none" cap="none" strike="noStrike">
                <a:solidFill>
                  <a:srgbClr val="A55A18"/>
                </a:solidFill>
                <a:latin typeface="Calibri"/>
                <a:ea typeface="Calibri"/>
                <a:cs typeface="Calibri"/>
                <a:sym typeface="Calibri"/>
              </a:rPr>
              <a:t>B começa em zero</a:t>
            </a:r>
            <a:endParaRPr b="0" i="0" sz="1300" u="none" cap="none" strike="noStrike">
              <a:solidFill>
                <a:schemeClr val="dk1"/>
              </a:solidFill>
              <a:latin typeface="Calibri"/>
              <a:ea typeface="Calibri"/>
              <a:cs typeface="Calibri"/>
              <a:sym typeface="Calibri"/>
            </a:endParaRPr>
          </a:p>
        </p:txBody>
      </p:sp>
      <p:sp>
        <p:nvSpPr>
          <p:cNvPr id="442" name="Google Shape;442;p24"/>
          <p:cNvSpPr txBox="1"/>
          <p:nvPr/>
        </p:nvSpPr>
        <p:spPr>
          <a:xfrm>
            <a:off x="3920490" y="4352544"/>
            <a:ext cx="2103120" cy="457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No início, ΔW = 0: o modelo é a base.</a:t>
            </a:r>
            <a:endParaRPr b="0" i="0" sz="1200" u="none" cap="none" strike="noStrike">
              <a:solidFill>
                <a:schemeClr val="dk1"/>
              </a:solidFill>
              <a:latin typeface="Calibri"/>
              <a:ea typeface="Calibri"/>
              <a:cs typeface="Calibri"/>
              <a:sym typeface="Calibri"/>
            </a:endParaRPr>
          </a:p>
        </p:txBody>
      </p:sp>
      <p:sp>
        <p:nvSpPr>
          <p:cNvPr id="443" name="Google Shape;443;p24"/>
          <p:cNvSpPr txBox="1"/>
          <p:nvPr/>
        </p:nvSpPr>
        <p:spPr>
          <a:xfrm>
            <a:off x="777240" y="5138928"/>
            <a:ext cx="5577840" cy="685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Na escala do nosso modelo </a:t>
            </a:r>
            <a:r>
              <a:rPr b="0" i="0" lang="en-US" sz="1200" u="none" cap="none" strike="noStrike">
                <a:solidFill>
                  <a:srgbClr val="4B5D73"/>
                </a:solidFill>
                <a:latin typeface="Calibri"/>
                <a:ea typeface="Calibri"/>
                <a:cs typeface="Calibri"/>
                <a:sym typeface="Calibri"/>
              </a:rPr>
              <a:t>(d = 64, como a matriz o; r = 8): A e B somam 1.024 números, 25% de ΔW. Com d = 4096, seriam 65.536 contra 16.777.216 (0,39%), e A ficaria 512 vezes mais estreita que o quadrado.</a:t>
            </a:r>
            <a:endParaRPr b="0" i="0" sz="1200" u="none" cap="none" strike="noStrike">
              <a:solidFill>
                <a:schemeClr val="dk1"/>
              </a:solidFill>
              <a:latin typeface="Calibri"/>
              <a:ea typeface="Calibri"/>
              <a:cs typeface="Calibri"/>
              <a:sym typeface="Calibri"/>
            </a:endParaRPr>
          </a:p>
        </p:txBody>
      </p:sp>
      <p:sp>
        <p:nvSpPr>
          <p:cNvPr id="444" name="Google Shape;444;p24"/>
          <p:cNvSpPr txBox="1"/>
          <p:nvPr/>
        </p:nvSpPr>
        <p:spPr>
          <a:xfrm>
            <a:off x="6903720" y="1783080"/>
            <a:ext cx="451073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Como no artigo da LoRA</a:t>
            </a:r>
            <a:endParaRPr b="0" i="0" sz="1600" u="none" cap="none" strike="noStrike">
              <a:solidFill>
                <a:schemeClr val="dk1"/>
              </a:solidFill>
              <a:latin typeface="Calibri"/>
              <a:ea typeface="Calibri"/>
              <a:cs typeface="Calibri"/>
              <a:sym typeface="Calibri"/>
            </a:endParaRPr>
          </a:p>
        </p:txBody>
      </p:sp>
      <p:sp>
        <p:nvSpPr>
          <p:cNvPr id="445" name="Google Shape;445;p24"/>
          <p:cNvSpPr/>
          <p:nvPr/>
        </p:nvSpPr>
        <p:spPr>
          <a:xfrm>
            <a:off x="7818120" y="2331720"/>
            <a:ext cx="2651760" cy="237744"/>
          </a:xfrm>
          <a:prstGeom prst="rect">
            <a:avLst/>
          </a:prstGeom>
          <a:solidFill>
            <a:srgbClr val="FBEFE1"/>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4"/>
          <p:cNvSpPr txBox="1"/>
          <p:nvPr/>
        </p:nvSpPr>
        <p:spPr>
          <a:xfrm>
            <a:off x="7452360" y="2313432"/>
            <a:ext cx="2743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1C2E"/>
              </a:buClr>
              <a:buSzPts val="1400"/>
              <a:buFont typeface="Calibri"/>
              <a:buNone/>
            </a:pPr>
            <a:r>
              <a:rPr b="1" i="0" lang="en-US" sz="1400" u="none" cap="none" strike="noStrike">
                <a:solidFill>
                  <a:srgbClr val="0F1C2E"/>
                </a:solidFill>
                <a:latin typeface="Calibri"/>
                <a:ea typeface="Calibri"/>
                <a:cs typeface="Calibri"/>
                <a:sym typeface="Calibri"/>
              </a:rPr>
              <a:t>h</a:t>
            </a:r>
            <a:endParaRPr b="0" i="0" sz="1400" u="none" cap="none" strike="noStrike">
              <a:solidFill>
                <a:schemeClr val="dk1"/>
              </a:solidFill>
              <a:latin typeface="Calibri"/>
              <a:ea typeface="Calibri"/>
              <a:cs typeface="Calibri"/>
              <a:sym typeface="Calibri"/>
            </a:endParaRPr>
          </a:p>
        </p:txBody>
      </p:sp>
      <p:sp>
        <p:nvSpPr>
          <p:cNvPr id="447" name="Google Shape;447;p24"/>
          <p:cNvSpPr/>
          <p:nvPr/>
        </p:nvSpPr>
        <p:spPr>
          <a:xfrm>
            <a:off x="7086600" y="2926080"/>
            <a:ext cx="1828800" cy="1600200"/>
          </a:xfrm>
          <a:prstGeom prst="roundRect">
            <a:avLst>
              <a:gd fmla="val 2857"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4"/>
          <p:cNvSpPr txBox="1"/>
          <p:nvPr/>
        </p:nvSpPr>
        <p:spPr>
          <a:xfrm>
            <a:off x="7086600" y="2926080"/>
            <a:ext cx="1828800" cy="1600200"/>
          </a:xfrm>
          <a:prstGeom prst="rect">
            <a:avLst/>
          </a:prstGeom>
          <a:noFill/>
          <a:ln>
            <a:noFill/>
          </a:ln>
        </p:spPr>
        <p:txBody>
          <a:bodyPr anchorCtr="0" anchor="ctr" bIns="0" lIns="0" spcFirstLastPara="1" rIns="0" wrap="square" tIns="0">
            <a:noAutofit/>
          </a:bodyPr>
          <a:lstStyle/>
          <a:p>
            <a:pPr indent="0" lvl="0" marL="0" marR="0" rtl="0" algn="ctr">
              <a:lnSpc>
                <a:spcPct val="141666"/>
              </a:lnSpc>
              <a:spcBef>
                <a:spcPts val="0"/>
              </a:spcBef>
              <a:spcAft>
                <a:spcPts val="0"/>
              </a:spcAft>
              <a:buClr>
                <a:srgbClr val="4B5D73"/>
              </a:buClr>
              <a:buSzPts val="1200"/>
              <a:buFont typeface="Calibri"/>
              <a:buNone/>
            </a:pPr>
            <a:r>
              <a:rPr b="1" i="0" lang="en-US" sz="1200" u="none" cap="none" strike="noStrike">
                <a:solidFill>
                  <a:srgbClr val="4B5D73"/>
                </a:solidFill>
                <a:latin typeface="Calibri"/>
                <a:ea typeface="Calibri"/>
                <a:cs typeface="Calibri"/>
                <a:sym typeface="Calibri"/>
              </a:rPr>
              <a:t>Pesos pré-treinados</a:t>
            </a:r>
            <a:endParaRPr b="0" i="0" sz="1200" u="none" cap="none" strike="noStrike">
              <a:solidFill>
                <a:schemeClr val="dk1"/>
              </a:solidFill>
              <a:latin typeface="Calibri"/>
              <a:ea typeface="Calibri"/>
              <a:cs typeface="Calibri"/>
              <a:sym typeface="Calibri"/>
            </a:endParaRPr>
          </a:p>
          <a:p>
            <a:pPr indent="0" lvl="0" marL="0" marR="0" rtl="0" algn="ctr">
              <a:lnSpc>
                <a:spcPct val="141666"/>
              </a:lnSpc>
              <a:spcBef>
                <a:spcPts val="0"/>
              </a:spcBef>
              <a:spcAft>
                <a:spcPts val="0"/>
              </a:spcAft>
              <a:buClr>
                <a:srgbClr val="4B5D73"/>
              </a:buClr>
              <a:buSzPts val="1200"/>
              <a:buFont typeface="Calibri"/>
              <a:buNone/>
            </a:pPr>
            <a:r>
              <a:rPr b="1" i="0" lang="en-US" sz="1200" u="none" cap="none" strike="noStrike">
                <a:solidFill>
                  <a:srgbClr val="4B5D73"/>
                </a:solidFill>
                <a:latin typeface="Calibri"/>
                <a:ea typeface="Calibri"/>
                <a:cs typeface="Calibri"/>
                <a:sym typeface="Calibri"/>
              </a:rPr>
              <a:t>W: d × d</a:t>
            </a:r>
            <a:endParaRPr b="0" i="0" sz="1200" u="none" cap="none" strike="noStrike">
              <a:solidFill>
                <a:schemeClr val="dk1"/>
              </a:solidFill>
              <a:latin typeface="Calibri"/>
              <a:ea typeface="Calibri"/>
              <a:cs typeface="Calibri"/>
              <a:sym typeface="Calibri"/>
            </a:endParaRPr>
          </a:p>
          <a:p>
            <a:pPr indent="0" lvl="0" marL="0" marR="0" rtl="0" algn="ctr">
              <a:lnSpc>
                <a:spcPct val="141666"/>
              </a:lnSpc>
              <a:spcBef>
                <a:spcPts val="0"/>
              </a:spcBef>
              <a:spcAft>
                <a:spcPts val="0"/>
              </a:spcAft>
              <a:buClr>
                <a:srgbClr val="4B5D73"/>
              </a:buClr>
              <a:buSzPts val="1200"/>
              <a:buFont typeface="Calibri"/>
              <a:buNone/>
            </a:pPr>
            <a:r>
              <a:rPr b="1" i="0" lang="en-US" sz="1200" u="none" cap="none" strike="noStrike">
                <a:solidFill>
                  <a:srgbClr val="4B5D73"/>
                </a:solidFill>
                <a:latin typeface="Calibri"/>
                <a:ea typeface="Calibri"/>
                <a:cs typeface="Calibri"/>
                <a:sym typeface="Calibri"/>
              </a:rPr>
              <a:t>congelada</a:t>
            </a:r>
            <a:endParaRPr b="0" i="0" sz="1200" u="none" cap="none" strike="noStrike">
              <a:solidFill>
                <a:schemeClr val="dk1"/>
              </a:solidFill>
              <a:latin typeface="Calibri"/>
              <a:ea typeface="Calibri"/>
              <a:cs typeface="Calibri"/>
              <a:sym typeface="Calibri"/>
            </a:endParaRPr>
          </a:p>
        </p:txBody>
      </p:sp>
      <p:sp>
        <p:nvSpPr>
          <p:cNvPr id="449" name="Google Shape;449;p24"/>
          <p:cNvSpPr/>
          <p:nvPr/>
        </p:nvSpPr>
        <p:spPr>
          <a:xfrm>
            <a:off x="9235440" y="2926080"/>
            <a:ext cx="2011680" cy="685800"/>
          </a:xfrm>
          <a:custGeom>
            <a:rect b="b" l="l" r="r" t="t"/>
            <a:pathLst>
              <a:path extrusionOk="0" h="685800" w="2011680">
                <a:moveTo>
                  <a:pt x="0" y="0"/>
                </a:moveTo>
                <a:lnTo>
                  <a:pt x="2011680" y="0"/>
                </a:lnTo>
                <a:lnTo>
                  <a:pt x="1325880" y="685800"/>
                </a:lnTo>
                <a:lnTo>
                  <a:pt x="685800" y="685800"/>
                </a:lnTo>
                <a:close/>
              </a:path>
            </a:pathLst>
          </a:custGeom>
          <a:solidFill>
            <a:srgbClr val="E08A3C"/>
          </a:solidFill>
          <a:ln cap="flat" cmpd="sng" w="12700">
            <a:solidFill>
              <a:srgbClr val="A55A18"/>
            </a:solidFill>
            <a:prstDash val="solid"/>
            <a:round/>
            <a:headEnd len="sm" w="sm" type="none"/>
            <a:tailEnd len="sm" w="sm" type="none"/>
          </a:ln>
        </p:spPr>
      </p:sp>
      <p:sp>
        <p:nvSpPr>
          <p:cNvPr id="450" name="Google Shape;450;p24"/>
          <p:cNvSpPr txBox="1"/>
          <p:nvPr/>
        </p:nvSpPr>
        <p:spPr>
          <a:xfrm>
            <a:off x="9235440" y="2926080"/>
            <a:ext cx="20116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B = 0</a:t>
            </a:r>
            <a:endParaRPr b="0" i="0" sz="1200" u="none" cap="none" strike="noStrike">
              <a:solidFill>
                <a:schemeClr val="dk1"/>
              </a:solidFill>
              <a:latin typeface="Calibri"/>
              <a:ea typeface="Calibri"/>
              <a:cs typeface="Calibri"/>
              <a:sym typeface="Calibri"/>
            </a:endParaRPr>
          </a:p>
        </p:txBody>
      </p:sp>
      <p:sp>
        <p:nvSpPr>
          <p:cNvPr id="451" name="Google Shape;451;p24"/>
          <p:cNvSpPr/>
          <p:nvPr/>
        </p:nvSpPr>
        <p:spPr>
          <a:xfrm>
            <a:off x="9235440" y="3840480"/>
            <a:ext cx="2011680" cy="685800"/>
          </a:xfrm>
          <a:custGeom>
            <a:rect b="b" l="l" r="r" t="t"/>
            <a:pathLst>
              <a:path extrusionOk="0" h="685800" w="2011680">
                <a:moveTo>
                  <a:pt x="685800" y="0"/>
                </a:moveTo>
                <a:lnTo>
                  <a:pt x="1325880" y="0"/>
                </a:lnTo>
                <a:lnTo>
                  <a:pt x="2011680" y="685800"/>
                </a:lnTo>
                <a:lnTo>
                  <a:pt x="0" y="685800"/>
                </a:lnTo>
                <a:close/>
              </a:path>
            </a:pathLst>
          </a:custGeom>
          <a:solidFill>
            <a:srgbClr val="E08A3C"/>
          </a:solidFill>
          <a:ln cap="flat" cmpd="sng" w="12700">
            <a:solidFill>
              <a:srgbClr val="A55A18"/>
            </a:solidFill>
            <a:prstDash val="solid"/>
            <a:round/>
            <a:headEnd len="sm" w="sm" type="none"/>
            <a:tailEnd len="sm" w="sm" type="none"/>
          </a:ln>
        </p:spPr>
      </p:sp>
      <p:sp>
        <p:nvSpPr>
          <p:cNvPr id="452" name="Google Shape;452;p24"/>
          <p:cNvSpPr txBox="1"/>
          <p:nvPr/>
        </p:nvSpPr>
        <p:spPr>
          <a:xfrm>
            <a:off x="9235440" y="3959352"/>
            <a:ext cx="20116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 aleatória</a:t>
            </a:r>
            <a:endParaRPr b="0" i="0" sz="1200" u="none" cap="none" strike="noStrike">
              <a:solidFill>
                <a:schemeClr val="dk1"/>
              </a:solidFill>
              <a:latin typeface="Calibri"/>
              <a:ea typeface="Calibri"/>
              <a:cs typeface="Calibri"/>
              <a:sym typeface="Calibri"/>
            </a:endParaRPr>
          </a:p>
        </p:txBody>
      </p:sp>
      <p:sp>
        <p:nvSpPr>
          <p:cNvPr id="453" name="Google Shape;453;p24"/>
          <p:cNvSpPr txBox="1"/>
          <p:nvPr/>
        </p:nvSpPr>
        <p:spPr>
          <a:xfrm>
            <a:off x="10607040" y="3602736"/>
            <a:ext cx="365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400"/>
              <a:buFont typeface="Cambria"/>
              <a:buNone/>
            </a:pPr>
            <a:r>
              <a:rPr b="1" i="1" lang="en-US" sz="1400" u="none" cap="none" strike="noStrike">
                <a:solidFill>
                  <a:srgbClr val="A55A18"/>
                </a:solidFill>
                <a:latin typeface="Cambria"/>
                <a:ea typeface="Cambria"/>
                <a:cs typeface="Cambria"/>
                <a:sym typeface="Cambria"/>
              </a:rPr>
              <a:t>r</a:t>
            </a:r>
            <a:endParaRPr b="0" i="0" sz="1400" u="none" cap="none" strike="noStrike">
              <a:solidFill>
                <a:schemeClr val="dk1"/>
              </a:solidFill>
              <a:latin typeface="Calibri"/>
              <a:ea typeface="Calibri"/>
              <a:cs typeface="Calibri"/>
              <a:sym typeface="Calibri"/>
            </a:endParaRPr>
          </a:p>
        </p:txBody>
      </p:sp>
      <p:sp>
        <p:nvSpPr>
          <p:cNvPr id="454" name="Google Shape;454;p24"/>
          <p:cNvSpPr/>
          <p:nvPr/>
        </p:nvSpPr>
        <p:spPr>
          <a:xfrm>
            <a:off x="7818120" y="4983480"/>
            <a:ext cx="2651760" cy="237744"/>
          </a:xfrm>
          <a:prstGeom prst="rect">
            <a:avLst/>
          </a:prstGeom>
          <a:solidFill>
            <a:srgbClr val="FBEFE1"/>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4"/>
          <p:cNvSpPr txBox="1"/>
          <p:nvPr/>
        </p:nvSpPr>
        <p:spPr>
          <a:xfrm>
            <a:off x="7452360" y="4965192"/>
            <a:ext cx="2743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1C2E"/>
              </a:buClr>
              <a:buSzPts val="1400"/>
              <a:buFont typeface="Calibri"/>
              <a:buNone/>
            </a:pPr>
            <a:r>
              <a:rPr b="1" i="0" lang="en-US" sz="1400" u="none" cap="none" strike="noStrike">
                <a:solidFill>
                  <a:srgbClr val="0F1C2E"/>
                </a:solidFill>
                <a:latin typeface="Calibri"/>
                <a:ea typeface="Calibri"/>
                <a:cs typeface="Calibri"/>
                <a:sym typeface="Calibri"/>
              </a:rPr>
              <a:t>x</a:t>
            </a:r>
            <a:endParaRPr b="0" i="0" sz="1400" u="none" cap="none" strike="noStrike">
              <a:solidFill>
                <a:schemeClr val="dk1"/>
              </a:solidFill>
              <a:latin typeface="Calibri"/>
              <a:ea typeface="Calibri"/>
              <a:cs typeface="Calibri"/>
              <a:sym typeface="Calibri"/>
            </a:endParaRPr>
          </a:p>
        </p:txBody>
      </p:sp>
      <p:sp>
        <p:nvSpPr>
          <p:cNvPr id="456" name="Google Shape;456;p24"/>
          <p:cNvSpPr txBox="1"/>
          <p:nvPr/>
        </p:nvSpPr>
        <p:spPr>
          <a:xfrm>
            <a:off x="7818120" y="5230368"/>
            <a:ext cx="2651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200"/>
              <a:buFont typeface="Cambria"/>
              <a:buNone/>
            </a:pPr>
            <a:r>
              <a:rPr b="0" i="1" lang="en-US" sz="1200" u="none" cap="none" strike="noStrike">
                <a:solidFill>
                  <a:srgbClr val="4B5D73"/>
                </a:solidFill>
                <a:latin typeface="Cambria"/>
                <a:ea typeface="Cambria"/>
                <a:cs typeface="Cambria"/>
                <a:sym typeface="Cambria"/>
              </a:rPr>
              <a:t>d</a:t>
            </a:r>
            <a:endParaRPr b="0" i="0" sz="1200" u="none" cap="none" strike="noStrike">
              <a:solidFill>
                <a:schemeClr val="dk1"/>
              </a:solidFill>
              <a:latin typeface="Calibri"/>
              <a:ea typeface="Calibri"/>
              <a:cs typeface="Calibri"/>
              <a:sym typeface="Calibri"/>
            </a:endParaRPr>
          </a:p>
        </p:txBody>
      </p:sp>
      <p:cxnSp>
        <p:nvCxnSpPr>
          <p:cNvPr id="457" name="Google Shape;457;p24"/>
          <p:cNvCxnSpPr/>
          <p:nvPr/>
        </p:nvCxnSpPr>
        <p:spPr>
          <a:xfrm rot="10800000">
            <a:off x="8001000" y="4526280"/>
            <a:ext cx="0" cy="457200"/>
          </a:xfrm>
          <a:prstGeom prst="straightConnector1">
            <a:avLst/>
          </a:prstGeom>
          <a:noFill/>
          <a:ln cap="flat" cmpd="sng" w="17775">
            <a:solidFill>
              <a:srgbClr val="8494A6"/>
            </a:solidFill>
            <a:prstDash val="solid"/>
            <a:round/>
            <a:headEnd len="sm" w="sm" type="none"/>
            <a:tailEnd len="med" w="med" type="triangle"/>
          </a:ln>
        </p:spPr>
      </p:cxnSp>
      <p:cxnSp>
        <p:nvCxnSpPr>
          <p:cNvPr id="458" name="Google Shape;458;p24"/>
          <p:cNvCxnSpPr/>
          <p:nvPr/>
        </p:nvCxnSpPr>
        <p:spPr>
          <a:xfrm rot="10800000">
            <a:off x="10241280" y="4526280"/>
            <a:ext cx="0" cy="457200"/>
          </a:xfrm>
          <a:prstGeom prst="straightConnector1">
            <a:avLst/>
          </a:prstGeom>
          <a:noFill/>
          <a:ln cap="flat" cmpd="sng" w="17775">
            <a:solidFill>
              <a:srgbClr val="A55A18"/>
            </a:solidFill>
            <a:prstDash val="solid"/>
            <a:round/>
            <a:headEnd len="sm" w="sm" type="none"/>
            <a:tailEnd len="med" w="med" type="triangle"/>
          </a:ln>
        </p:spPr>
      </p:cxnSp>
      <p:cxnSp>
        <p:nvCxnSpPr>
          <p:cNvPr id="459" name="Google Shape;459;p24"/>
          <p:cNvCxnSpPr/>
          <p:nvPr/>
        </p:nvCxnSpPr>
        <p:spPr>
          <a:xfrm rot="10800000">
            <a:off x="8001000" y="2569464"/>
            <a:ext cx="0" cy="356616"/>
          </a:xfrm>
          <a:prstGeom prst="straightConnector1">
            <a:avLst/>
          </a:prstGeom>
          <a:noFill/>
          <a:ln cap="flat" cmpd="sng" w="17775">
            <a:solidFill>
              <a:srgbClr val="8494A6"/>
            </a:solidFill>
            <a:prstDash val="solid"/>
            <a:round/>
            <a:headEnd len="sm" w="sm" type="none"/>
            <a:tailEnd len="med" w="med" type="triangle"/>
          </a:ln>
        </p:spPr>
      </p:cxnSp>
      <p:cxnSp>
        <p:nvCxnSpPr>
          <p:cNvPr id="460" name="Google Shape;460;p24"/>
          <p:cNvCxnSpPr/>
          <p:nvPr/>
        </p:nvCxnSpPr>
        <p:spPr>
          <a:xfrm rot="10800000">
            <a:off x="10241280" y="2569464"/>
            <a:ext cx="0" cy="356616"/>
          </a:xfrm>
          <a:prstGeom prst="straightConnector1">
            <a:avLst/>
          </a:prstGeom>
          <a:noFill/>
          <a:ln cap="flat" cmpd="sng" w="17775">
            <a:solidFill>
              <a:srgbClr val="A55A18"/>
            </a:solidFill>
            <a:prstDash val="solid"/>
            <a:round/>
            <a:headEnd len="sm" w="sm" type="none"/>
            <a:tailEnd len="med" w="med" type="triangle"/>
          </a:ln>
        </p:spPr>
      </p:cxnSp>
      <p:sp>
        <p:nvSpPr>
          <p:cNvPr id="461" name="Google Shape;461;p24"/>
          <p:cNvSpPr txBox="1"/>
          <p:nvPr/>
        </p:nvSpPr>
        <p:spPr>
          <a:xfrm>
            <a:off x="8915400" y="257860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C2E"/>
              </a:buClr>
              <a:buSzPts val="2000"/>
              <a:buFont typeface="Calibri"/>
              <a:buNone/>
            </a:pPr>
            <a:r>
              <a:rPr b="1" i="0" lang="en-US" sz="2000" u="none" cap="none" strike="noStrike">
                <a:solidFill>
                  <a:srgbClr val="0F1C2E"/>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462" name="Google Shape;462;p24"/>
          <p:cNvSpPr txBox="1"/>
          <p:nvPr/>
        </p:nvSpPr>
        <p:spPr>
          <a:xfrm>
            <a:off x="6903720" y="5468112"/>
            <a:ext cx="4510735"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494A6"/>
              </a:buClr>
              <a:buSzPts val="1000"/>
              <a:buFont typeface="Calibri"/>
              <a:buNone/>
            </a:pPr>
            <a:r>
              <a:rPr b="0" i="1" lang="en-US" sz="1000" u="none" cap="none" strike="noStrike">
                <a:solidFill>
                  <a:srgbClr val="8494A6"/>
                </a:solidFill>
                <a:latin typeface="Calibri"/>
                <a:ea typeface="Calibri"/>
                <a:cs typeface="Calibri"/>
                <a:sym typeface="Calibri"/>
              </a:rPr>
              <a:t>Redesenhado de Hu et al. (2021), Fig. 1. No artigo, A ~ N(0, σ²); no PEFT e no nosso código, A é uniforme.</a:t>
            </a:r>
            <a:endParaRPr b="0" i="0" sz="1000" u="none" cap="none" strike="noStrike">
              <a:solidFill>
                <a:schemeClr val="dk1"/>
              </a:solidFill>
              <a:latin typeface="Calibri"/>
              <a:ea typeface="Calibri"/>
              <a:cs typeface="Calibri"/>
              <a:sym typeface="Calibri"/>
            </a:endParaRPr>
          </a:p>
        </p:txBody>
      </p:sp>
      <p:sp>
        <p:nvSpPr>
          <p:cNvPr id="463" name="Google Shape;463;p24"/>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5"/>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Onde a LoRA entra no transformer</a:t>
            </a:r>
            <a:endParaRPr sz="3100"/>
          </a:p>
        </p:txBody>
      </p:sp>
      <p:sp>
        <p:nvSpPr>
          <p:cNvPr id="470" name="Google Shape;470;p25"/>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Cada bloco tem várias matrizes lineares. Escolher quais ganham A·B é o target_modules do PEFT.</a:t>
            </a:r>
            <a:endParaRPr b="0" i="0" sz="1450" u="none" cap="none" strike="noStrike">
              <a:solidFill>
                <a:schemeClr val="dk1"/>
              </a:solidFill>
              <a:latin typeface="Calibri"/>
              <a:ea typeface="Calibri"/>
              <a:cs typeface="Calibri"/>
              <a:sym typeface="Calibri"/>
            </a:endParaRPr>
          </a:p>
        </p:txBody>
      </p:sp>
      <p:sp>
        <p:nvSpPr>
          <p:cNvPr id="471" name="Google Shape;471;p25"/>
          <p:cNvSpPr/>
          <p:nvPr/>
        </p:nvSpPr>
        <p:spPr>
          <a:xfrm>
            <a:off x="777240" y="1783080"/>
            <a:ext cx="1920240" cy="3154680"/>
          </a:xfrm>
          <a:prstGeom prst="roundRect">
            <a:avLst>
              <a:gd fmla="val 3810"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5"/>
          <p:cNvSpPr txBox="1"/>
          <p:nvPr/>
        </p:nvSpPr>
        <p:spPr>
          <a:xfrm>
            <a:off x="914400" y="1837944"/>
            <a:ext cx="16459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1" i="0" lang="en-US" sz="950" u="none" cap="none" strike="noStrike">
                <a:solidFill>
                  <a:srgbClr val="8494A6"/>
                </a:solidFill>
                <a:latin typeface="Calibri"/>
                <a:ea typeface="Calibri"/>
                <a:cs typeface="Calibri"/>
                <a:sym typeface="Calibri"/>
              </a:rPr>
              <a:t>O MODELO</a:t>
            </a:r>
            <a:endParaRPr b="0" i="0" sz="950" u="none" cap="none" strike="noStrike">
              <a:solidFill>
                <a:schemeClr val="dk1"/>
              </a:solidFill>
              <a:latin typeface="Calibri"/>
              <a:ea typeface="Calibri"/>
              <a:cs typeface="Calibri"/>
              <a:sym typeface="Calibri"/>
            </a:endParaRPr>
          </a:p>
        </p:txBody>
      </p:sp>
      <p:sp>
        <p:nvSpPr>
          <p:cNvPr id="473" name="Google Shape;473;p25"/>
          <p:cNvSpPr/>
          <p:nvPr/>
        </p:nvSpPr>
        <p:spPr>
          <a:xfrm>
            <a:off x="1188720" y="4462272"/>
            <a:ext cx="1097280" cy="292608"/>
          </a:xfrm>
          <a:prstGeom prst="roundRect">
            <a:avLst>
              <a:gd fmla="val 18750" name="adj"/>
            </a:avLst>
          </a:prstGeom>
          <a:solidFill>
            <a:srgbClr val="EFF3F7"/>
          </a:solidFill>
          <a:ln cap="flat" cmpd="sng" w="114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5"/>
          <p:cNvSpPr txBox="1"/>
          <p:nvPr/>
        </p:nvSpPr>
        <p:spPr>
          <a:xfrm>
            <a:off x="1188720" y="4462272"/>
            <a:ext cx="10972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050"/>
              <a:buFont typeface="Consolas"/>
              <a:buNone/>
            </a:pPr>
            <a:r>
              <a:rPr b="0" i="0" lang="en-US" sz="1050" u="none" cap="none" strike="noStrike">
                <a:solidFill>
                  <a:srgbClr val="4B5D73"/>
                </a:solidFill>
                <a:latin typeface="Consolas"/>
                <a:ea typeface="Consolas"/>
                <a:cs typeface="Consolas"/>
                <a:sym typeface="Consolas"/>
              </a:rPr>
              <a:t>tokens</a:t>
            </a:r>
            <a:endParaRPr b="0" i="0" sz="1050" u="none" cap="none" strike="noStrike">
              <a:solidFill>
                <a:schemeClr val="dk1"/>
              </a:solidFill>
              <a:latin typeface="Calibri"/>
              <a:ea typeface="Calibri"/>
              <a:cs typeface="Calibri"/>
              <a:sym typeface="Calibri"/>
            </a:endParaRPr>
          </a:p>
        </p:txBody>
      </p:sp>
      <p:cxnSp>
        <p:nvCxnSpPr>
          <p:cNvPr id="475" name="Google Shape;475;p25"/>
          <p:cNvCxnSpPr/>
          <p:nvPr/>
        </p:nvCxnSpPr>
        <p:spPr>
          <a:xfrm rot="10800000">
            <a:off x="1737360" y="2514600"/>
            <a:ext cx="0" cy="1947672"/>
          </a:xfrm>
          <a:prstGeom prst="straightConnector1">
            <a:avLst/>
          </a:prstGeom>
          <a:noFill/>
          <a:ln cap="flat" cmpd="sng" w="15225">
            <a:solidFill>
              <a:srgbClr val="8494A6"/>
            </a:solidFill>
            <a:prstDash val="solid"/>
            <a:round/>
            <a:headEnd len="sm" w="sm" type="none"/>
            <a:tailEnd len="med" w="med" type="triangle"/>
          </a:ln>
        </p:spPr>
      </p:cxnSp>
      <p:sp>
        <p:nvSpPr>
          <p:cNvPr id="476" name="Google Shape;476;p25"/>
          <p:cNvSpPr/>
          <p:nvPr/>
        </p:nvSpPr>
        <p:spPr>
          <a:xfrm>
            <a:off x="1005840" y="3931920"/>
            <a:ext cx="146304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5"/>
          <p:cNvSpPr txBox="1"/>
          <p:nvPr/>
        </p:nvSpPr>
        <p:spPr>
          <a:xfrm>
            <a:off x="1005840" y="393192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bloco 1</a:t>
            </a:r>
            <a:endParaRPr b="0" i="0" sz="1150" u="none" cap="none" strike="noStrike">
              <a:solidFill>
                <a:schemeClr val="dk1"/>
              </a:solidFill>
              <a:latin typeface="Calibri"/>
              <a:ea typeface="Calibri"/>
              <a:cs typeface="Calibri"/>
              <a:sym typeface="Calibri"/>
            </a:endParaRPr>
          </a:p>
        </p:txBody>
      </p:sp>
      <p:sp>
        <p:nvSpPr>
          <p:cNvPr id="478" name="Google Shape;478;p25"/>
          <p:cNvSpPr/>
          <p:nvPr/>
        </p:nvSpPr>
        <p:spPr>
          <a:xfrm>
            <a:off x="1005840" y="3429000"/>
            <a:ext cx="146304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5"/>
          <p:cNvSpPr txBox="1"/>
          <p:nvPr/>
        </p:nvSpPr>
        <p:spPr>
          <a:xfrm>
            <a:off x="1005840" y="3429000"/>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bloco 2</a:t>
            </a:r>
            <a:endParaRPr b="0" i="0" sz="1150" u="none" cap="none" strike="noStrike">
              <a:solidFill>
                <a:schemeClr val="dk1"/>
              </a:solidFill>
              <a:latin typeface="Calibri"/>
              <a:ea typeface="Calibri"/>
              <a:cs typeface="Calibri"/>
              <a:sym typeface="Calibri"/>
            </a:endParaRPr>
          </a:p>
        </p:txBody>
      </p:sp>
      <p:sp>
        <p:nvSpPr>
          <p:cNvPr id="480" name="Google Shape;480;p25"/>
          <p:cNvSpPr/>
          <p:nvPr/>
        </p:nvSpPr>
        <p:spPr>
          <a:xfrm>
            <a:off x="1005840" y="3429000"/>
            <a:ext cx="1463040" cy="365760"/>
          </a:xfrm>
          <a:prstGeom prst="roundRect">
            <a:avLst>
              <a:gd fmla="val 12500" name="adj"/>
            </a:avLst>
          </a:prstGeom>
          <a:noFill/>
          <a:ln cap="flat" cmpd="sng" w="254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5"/>
          <p:cNvSpPr txBox="1"/>
          <p:nvPr/>
        </p:nvSpPr>
        <p:spPr>
          <a:xfrm>
            <a:off x="1005840" y="3017520"/>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1400"/>
              <a:buFont typeface="Calibri"/>
              <a:buNone/>
            </a:pPr>
            <a:r>
              <a:rPr b="1" i="0" lang="en-US" sz="1400" u="none" cap="none" strike="noStrike">
                <a:solidFill>
                  <a:srgbClr val="8494A6"/>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2" name="Google Shape;482;p25"/>
          <p:cNvSpPr/>
          <p:nvPr/>
        </p:nvSpPr>
        <p:spPr>
          <a:xfrm>
            <a:off x="1005840" y="2633472"/>
            <a:ext cx="146304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5"/>
          <p:cNvSpPr txBox="1"/>
          <p:nvPr/>
        </p:nvSpPr>
        <p:spPr>
          <a:xfrm>
            <a:off x="1005840" y="2633472"/>
            <a:ext cx="14630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bloco N</a:t>
            </a:r>
            <a:endParaRPr b="0" i="0" sz="1150" u="none" cap="none" strike="noStrike">
              <a:solidFill>
                <a:schemeClr val="dk1"/>
              </a:solidFill>
              <a:latin typeface="Calibri"/>
              <a:ea typeface="Calibri"/>
              <a:cs typeface="Calibri"/>
              <a:sym typeface="Calibri"/>
            </a:endParaRPr>
          </a:p>
        </p:txBody>
      </p:sp>
      <p:sp>
        <p:nvSpPr>
          <p:cNvPr id="484" name="Google Shape;484;p25"/>
          <p:cNvSpPr/>
          <p:nvPr/>
        </p:nvSpPr>
        <p:spPr>
          <a:xfrm>
            <a:off x="1051560" y="2212848"/>
            <a:ext cx="1371600" cy="292608"/>
          </a:xfrm>
          <a:prstGeom prst="roundRect">
            <a:avLst>
              <a:gd fmla="val 18750" name="adj"/>
            </a:avLst>
          </a:prstGeom>
          <a:solidFill>
            <a:srgbClr val="EFF3F7"/>
          </a:solidFill>
          <a:ln cap="flat" cmpd="sng" w="114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5"/>
          <p:cNvSpPr txBox="1"/>
          <p:nvPr/>
        </p:nvSpPr>
        <p:spPr>
          <a:xfrm>
            <a:off x="1051560" y="221284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050"/>
              <a:buFont typeface="Consolas"/>
              <a:buNone/>
            </a:pPr>
            <a:r>
              <a:rPr b="0" i="0" lang="en-US" sz="1050" u="none" cap="none" strike="noStrike">
                <a:solidFill>
                  <a:srgbClr val="4B5D73"/>
                </a:solidFill>
                <a:latin typeface="Consolas"/>
                <a:ea typeface="Consolas"/>
                <a:cs typeface="Consolas"/>
                <a:sym typeface="Consolas"/>
              </a:rPr>
              <a:t>próximo token</a:t>
            </a:r>
            <a:endParaRPr b="0" i="0" sz="1050" u="none" cap="none" strike="noStrike">
              <a:solidFill>
                <a:schemeClr val="dk1"/>
              </a:solidFill>
              <a:latin typeface="Calibri"/>
              <a:ea typeface="Calibri"/>
              <a:cs typeface="Calibri"/>
              <a:sym typeface="Calibri"/>
            </a:endParaRPr>
          </a:p>
        </p:txBody>
      </p:sp>
      <p:sp>
        <p:nvSpPr>
          <p:cNvPr id="486" name="Google Shape;486;p25"/>
          <p:cNvSpPr/>
          <p:nvPr/>
        </p:nvSpPr>
        <p:spPr>
          <a:xfrm>
            <a:off x="3017520" y="1783080"/>
            <a:ext cx="2286000" cy="3154680"/>
          </a:xfrm>
          <a:prstGeom prst="roundRect">
            <a:avLst>
              <a:gd fmla="val 3200"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5"/>
          <p:cNvSpPr txBox="1"/>
          <p:nvPr/>
        </p:nvSpPr>
        <p:spPr>
          <a:xfrm>
            <a:off x="3154680" y="1837944"/>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950"/>
              <a:buFont typeface="Calibri"/>
              <a:buNone/>
            </a:pPr>
            <a:r>
              <a:rPr b="1" i="0" lang="en-US" sz="950" u="none" cap="none" strike="noStrike">
                <a:solidFill>
                  <a:srgbClr val="8494A6"/>
                </a:solidFill>
                <a:latin typeface="Calibri"/>
                <a:ea typeface="Calibri"/>
                <a:cs typeface="Calibri"/>
                <a:sym typeface="Calibri"/>
              </a:rPr>
              <a:t>UM BLOCO</a:t>
            </a:r>
            <a:endParaRPr b="0" i="0" sz="950" u="none" cap="none" strike="noStrike">
              <a:solidFill>
                <a:schemeClr val="dk1"/>
              </a:solidFill>
              <a:latin typeface="Calibri"/>
              <a:ea typeface="Calibri"/>
              <a:cs typeface="Calibri"/>
              <a:sym typeface="Calibri"/>
            </a:endParaRPr>
          </a:p>
        </p:txBody>
      </p:sp>
      <p:cxnSp>
        <p:nvCxnSpPr>
          <p:cNvPr id="488" name="Google Shape;488;p25"/>
          <p:cNvCxnSpPr/>
          <p:nvPr/>
        </p:nvCxnSpPr>
        <p:spPr>
          <a:xfrm flipH="1" rot="10800000">
            <a:off x="2468880" y="1783080"/>
            <a:ext cx="548640" cy="1645920"/>
          </a:xfrm>
          <a:prstGeom prst="straightConnector1">
            <a:avLst/>
          </a:prstGeom>
          <a:noFill/>
          <a:ln cap="flat" cmpd="sng" w="12700">
            <a:solidFill>
              <a:srgbClr val="C9D3DD"/>
            </a:solidFill>
            <a:prstDash val="solid"/>
            <a:round/>
            <a:headEnd len="sm" w="sm" type="none"/>
            <a:tailEnd len="sm" w="sm" type="none"/>
          </a:ln>
        </p:spPr>
      </p:cxnSp>
      <p:cxnSp>
        <p:nvCxnSpPr>
          <p:cNvPr id="489" name="Google Shape;489;p25"/>
          <p:cNvCxnSpPr/>
          <p:nvPr/>
        </p:nvCxnSpPr>
        <p:spPr>
          <a:xfrm>
            <a:off x="2468880" y="3794760"/>
            <a:ext cx="548640" cy="1143000"/>
          </a:xfrm>
          <a:prstGeom prst="straightConnector1">
            <a:avLst/>
          </a:prstGeom>
          <a:noFill/>
          <a:ln cap="flat" cmpd="sng" w="12700">
            <a:solidFill>
              <a:srgbClr val="C9D3DD"/>
            </a:solidFill>
            <a:prstDash val="solid"/>
            <a:round/>
            <a:headEnd len="sm" w="sm" type="none"/>
            <a:tailEnd len="sm" w="sm" type="none"/>
          </a:ln>
        </p:spPr>
      </p:cxnSp>
      <p:cxnSp>
        <p:nvCxnSpPr>
          <p:cNvPr id="490" name="Google Shape;490;p25"/>
          <p:cNvCxnSpPr/>
          <p:nvPr/>
        </p:nvCxnSpPr>
        <p:spPr>
          <a:xfrm rot="10800000">
            <a:off x="4160520" y="2240280"/>
            <a:ext cx="0" cy="2514600"/>
          </a:xfrm>
          <a:prstGeom prst="straightConnector1">
            <a:avLst/>
          </a:prstGeom>
          <a:noFill/>
          <a:ln cap="flat" cmpd="sng" w="15225">
            <a:solidFill>
              <a:srgbClr val="8494A6"/>
            </a:solidFill>
            <a:prstDash val="solid"/>
            <a:round/>
            <a:headEnd len="sm" w="sm" type="none"/>
            <a:tailEnd len="med" w="med" type="triangle"/>
          </a:ln>
        </p:spPr>
      </p:cxnSp>
      <p:sp>
        <p:nvSpPr>
          <p:cNvPr id="491" name="Google Shape;491;p25"/>
          <p:cNvSpPr/>
          <p:nvPr/>
        </p:nvSpPr>
        <p:spPr>
          <a:xfrm>
            <a:off x="3246120" y="4206240"/>
            <a:ext cx="1828800" cy="347472"/>
          </a:xfrm>
          <a:prstGeom prst="roundRect">
            <a:avLst>
              <a:gd fmla="val 13158"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5"/>
          <p:cNvSpPr txBox="1"/>
          <p:nvPr/>
        </p:nvSpPr>
        <p:spPr>
          <a:xfrm>
            <a:off x="3246120" y="4206240"/>
            <a:ext cx="18288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00"/>
              <a:buFont typeface="Calibri"/>
              <a:buNone/>
            </a:pPr>
            <a:r>
              <a:rPr b="1" i="0" lang="en-US" sz="1100" u="none" cap="none" strike="noStrike">
                <a:solidFill>
                  <a:srgbClr val="4B5D73"/>
                </a:solidFill>
                <a:latin typeface="Calibri"/>
                <a:ea typeface="Calibri"/>
                <a:cs typeface="Calibri"/>
                <a:sym typeface="Calibri"/>
              </a:rPr>
              <a:t>LayerNorm</a:t>
            </a:r>
            <a:endParaRPr b="0" i="0" sz="1100" u="none" cap="none" strike="noStrike">
              <a:solidFill>
                <a:schemeClr val="dk1"/>
              </a:solidFill>
              <a:latin typeface="Calibri"/>
              <a:ea typeface="Calibri"/>
              <a:cs typeface="Calibri"/>
              <a:sym typeface="Calibri"/>
            </a:endParaRPr>
          </a:p>
        </p:txBody>
      </p:sp>
      <p:sp>
        <p:nvSpPr>
          <p:cNvPr id="493" name="Google Shape;493;p25"/>
          <p:cNvSpPr/>
          <p:nvPr/>
        </p:nvSpPr>
        <p:spPr>
          <a:xfrm>
            <a:off x="3246120" y="3611880"/>
            <a:ext cx="1828800" cy="411480"/>
          </a:xfrm>
          <a:prstGeom prst="roundRect">
            <a:avLst>
              <a:gd fmla="val 11111"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5"/>
          <p:cNvSpPr txBox="1"/>
          <p:nvPr/>
        </p:nvSpPr>
        <p:spPr>
          <a:xfrm>
            <a:off x="3246120" y="3611880"/>
            <a:ext cx="18288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200"/>
              <a:buFont typeface="Calibri"/>
              <a:buNone/>
            </a:pPr>
            <a:r>
              <a:rPr b="1" i="0" lang="en-US" sz="1200" u="none" cap="none" strike="noStrike">
                <a:solidFill>
                  <a:srgbClr val="4B5D73"/>
                </a:solidFill>
                <a:latin typeface="Calibri"/>
                <a:ea typeface="Calibri"/>
                <a:cs typeface="Calibri"/>
                <a:sym typeface="Calibri"/>
              </a:rPr>
              <a:t>atenção</a:t>
            </a:r>
            <a:endParaRPr b="0" i="0" sz="1200" u="none" cap="none" strike="noStrike">
              <a:solidFill>
                <a:schemeClr val="dk1"/>
              </a:solidFill>
              <a:latin typeface="Calibri"/>
              <a:ea typeface="Calibri"/>
              <a:cs typeface="Calibri"/>
              <a:sym typeface="Calibri"/>
            </a:endParaRPr>
          </a:p>
        </p:txBody>
      </p:sp>
      <p:sp>
        <p:nvSpPr>
          <p:cNvPr id="495" name="Google Shape;495;p25"/>
          <p:cNvSpPr/>
          <p:nvPr/>
        </p:nvSpPr>
        <p:spPr>
          <a:xfrm>
            <a:off x="3246120" y="3611880"/>
            <a:ext cx="1828800" cy="411480"/>
          </a:xfrm>
          <a:prstGeom prst="roundRect">
            <a:avLst>
              <a:gd fmla="val 11111" name="adj"/>
            </a:avLst>
          </a:prstGeom>
          <a:noFill/>
          <a:ln cap="flat" cmpd="sng" w="254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5"/>
          <p:cNvSpPr/>
          <p:nvPr/>
        </p:nvSpPr>
        <p:spPr>
          <a:xfrm>
            <a:off x="3246120" y="3081528"/>
            <a:ext cx="1828800" cy="347472"/>
          </a:xfrm>
          <a:prstGeom prst="roundRect">
            <a:avLst>
              <a:gd fmla="val 13158"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5"/>
          <p:cNvSpPr txBox="1"/>
          <p:nvPr/>
        </p:nvSpPr>
        <p:spPr>
          <a:xfrm>
            <a:off x="3246120" y="3081528"/>
            <a:ext cx="18288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00"/>
              <a:buFont typeface="Calibri"/>
              <a:buNone/>
            </a:pPr>
            <a:r>
              <a:rPr b="1" i="0" lang="en-US" sz="1100" u="none" cap="none" strike="noStrike">
                <a:solidFill>
                  <a:srgbClr val="4B5D73"/>
                </a:solidFill>
                <a:latin typeface="Calibri"/>
                <a:ea typeface="Calibri"/>
                <a:cs typeface="Calibri"/>
                <a:sym typeface="Calibri"/>
              </a:rPr>
              <a:t>LayerNorm</a:t>
            </a:r>
            <a:endParaRPr b="0" i="0" sz="1100" u="none" cap="none" strike="noStrike">
              <a:solidFill>
                <a:schemeClr val="dk1"/>
              </a:solidFill>
              <a:latin typeface="Calibri"/>
              <a:ea typeface="Calibri"/>
              <a:cs typeface="Calibri"/>
              <a:sym typeface="Calibri"/>
            </a:endParaRPr>
          </a:p>
        </p:txBody>
      </p:sp>
      <p:sp>
        <p:nvSpPr>
          <p:cNvPr id="498" name="Google Shape;498;p25"/>
          <p:cNvSpPr/>
          <p:nvPr/>
        </p:nvSpPr>
        <p:spPr>
          <a:xfrm>
            <a:off x="3246120" y="2487168"/>
            <a:ext cx="1828800" cy="411480"/>
          </a:xfrm>
          <a:prstGeom prst="roundRect">
            <a:avLst>
              <a:gd fmla="val 11111" name="adj"/>
            </a:avLst>
          </a:prstGeom>
          <a:solidFill>
            <a:srgbClr val="E6EBF0"/>
          </a:solidFill>
          <a:ln cap="flat" cmpd="sng" w="16500">
            <a:solidFill>
              <a:srgbClr val="E08A3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5"/>
          <p:cNvSpPr txBox="1"/>
          <p:nvPr/>
        </p:nvSpPr>
        <p:spPr>
          <a:xfrm>
            <a:off x="3246120" y="2487168"/>
            <a:ext cx="18288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200"/>
              <a:buFont typeface="Calibri"/>
              <a:buNone/>
            </a:pPr>
            <a:r>
              <a:rPr b="1" i="0" lang="en-US" sz="1200" u="none" cap="none" strike="noStrike">
                <a:solidFill>
                  <a:srgbClr val="4B5D73"/>
                </a:solidFill>
                <a:latin typeface="Calibri"/>
                <a:ea typeface="Calibri"/>
                <a:cs typeface="Calibri"/>
                <a:sym typeface="Calibri"/>
              </a:rPr>
              <a:t>MLP: fc e pr</a:t>
            </a:r>
            <a:endParaRPr b="0" i="0" sz="1200" u="none" cap="none" strike="noStrike">
              <a:solidFill>
                <a:schemeClr val="dk1"/>
              </a:solidFill>
              <a:latin typeface="Calibri"/>
              <a:ea typeface="Calibri"/>
              <a:cs typeface="Calibri"/>
              <a:sym typeface="Calibri"/>
            </a:endParaRPr>
          </a:p>
        </p:txBody>
      </p:sp>
      <p:sp>
        <p:nvSpPr>
          <p:cNvPr id="500" name="Google Shape;500;p25"/>
          <p:cNvSpPr/>
          <p:nvPr/>
        </p:nvSpPr>
        <p:spPr>
          <a:xfrm>
            <a:off x="5623560" y="1783080"/>
            <a:ext cx="5790895" cy="3154680"/>
          </a:xfrm>
          <a:prstGeom prst="roundRect">
            <a:avLst>
              <a:gd fmla="val 2319" name="adj"/>
            </a:avLst>
          </a:prstGeom>
          <a:solidFill>
            <a:srgbClr val="FFFFFF"/>
          </a:solidFill>
          <a:ln cap="flat" cmpd="sng" w="15225">
            <a:solidFill>
              <a:srgbClr val="0F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5"/>
          <p:cNvSpPr txBox="1"/>
          <p:nvPr/>
        </p:nvSpPr>
        <p:spPr>
          <a:xfrm>
            <a:off x="5897880" y="1856232"/>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950"/>
              <a:buFont typeface="Calibri"/>
              <a:buNone/>
            </a:pPr>
            <a:r>
              <a:rPr b="1" i="0" lang="en-US" sz="950" u="none" cap="none" strike="noStrike">
                <a:solidFill>
                  <a:srgbClr val="A55A18"/>
                </a:solidFill>
                <a:latin typeface="Calibri"/>
                <a:ea typeface="Calibri"/>
                <a:cs typeface="Calibri"/>
                <a:sym typeface="Calibri"/>
              </a:rPr>
              <a:t>DENTRO DA ATENÇÃO</a:t>
            </a:r>
            <a:endParaRPr b="0" i="0" sz="950" u="none" cap="none" strike="noStrike">
              <a:solidFill>
                <a:schemeClr val="dk1"/>
              </a:solidFill>
              <a:latin typeface="Calibri"/>
              <a:ea typeface="Calibri"/>
              <a:cs typeface="Calibri"/>
              <a:sym typeface="Calibri"/>
            </a:endParaRPr>
          </a:p>
        </p:txBody>
      </p:sp>
      <p:cxnSp>
        <p:nvCxnSpPr>
          <p:cNvPr id="502" name="Google Shape;502;p25"/>
          <p:cNvCxnSpPr/>
          <p:nvPr/>
        </p:nvCxnSpPr>
        <p:spPr>
          <a:xfrm flipH="1" rot="10800000">
            <a:off x="5074920" y="1783080"/>
            <a:ext cx="548640" cy="1828800"/>
          </a:xfrm>
          <a:prstGeom prst="straightConnector1">
            <a:avLst/>
          </a:prstGeom>
          <a:noFill/>
          <a:ln cap="flat" cmpd="sng" w="12700">
            <a:solidFill>
              <a:srgbClr val="C9D3DD"/>
            </a:solidFill>
            <a:prstDash val="solid"/>
            <a:round/>
            <a:headEnd len="sm" w="sm" type="none"/>
            <a:tailEnd len="sm" w="sm" type="none"/>
          </a:ln>
        </p:spPr>
      </p:cxnSp>
      <p:cxnSp>
        <p:nvCxnSpPr>
          <p:cNvPr id="503" name="Google Shape;503;p25"/>
          <p:cNvCxnSpPr/>
          <p:nvPr/>
        </p:nvCxnSpPr>
        <p:spPr>
          <a:xfrm>
            <a:off x="5074920" y="4023360"/>
            <a:ext cx="548640" cy="914400"/>
          </a:xfrm>
          <a:prstGeom prst="straightConnector1">
            <a:avLst/>
          </a:prstGeom>
          <a:noFill/>
          <a:ln cap="flat" cmpd="sng" w="12700">
            <a:solidFill>
              <a:srgbClr val="C9D3DD"/>
            </a:solidFill>
            <a:prstDash val="solid"/>
            <a:round/>
            <a:headEnd len="sm" w="sm" type="none"/>
            <a:tailEnd len="sm" w="sm" type="none"/>
          </a:ln>
        </p:spPr>
      </p:cxnSp>
      <p:sp>
        <p:nvSpPr>
          <p:cNvPr id="504" name="Google Shape;504;p25"/>
          <p:cNvSpPr/>
          <p:nvPr/>
        </p:nvSpPr>
        <p:spPr>
          <a:xfrm>
            <a:off x="5870448" y="2697480"/>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5"/>
          <p:cNvSpPr/>
          <p:nvPr/>
        </p:nvSpPr>
        <p:spPr>
          <a:xfrm>
            <a:off x="5870448" y="2953512"/>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5"/>
          <p:cNvSpPr/>
          <p:nvPr/>
        </p:nvSpPr>
        <p:spPr>
          <a:xfrm>
            <a:off x="5870448" y="3209544"/>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5"/>
          <p:cNvSpPr/>
          <p:nvPr/>
        </p:nvSpPr>
        <p:spPr>
          <a:xfrm>
            <a:off x="5870448" y="3465576"/>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5"/>
          <p:cNvSpPr/>
          <p:nvPr/>
        </p:nvSpPr>
        <p:spPr>
          <a:xfrm>
            <a:off x="5870448" y="3721608"/>
            <a:ext cx="201168" cy="201168"/>
          </a:xfrm>
          <a:prstGeom prst="rect">
            <a:avLst/>
          </a:prstGeom>
          <a:solidFill>
            <a:srgbClr val="FFFFFF"/>
          </a:solidFill>
          <a:ln cap="flat" cmpd="sng" w="11425">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5"/>
          <p:cNvSpPr txBox="1"/>
          <p:nvPr/>
        </p:nvSpPr>
        <p:spPr>
          <a:xfrm>
            <a:off x="5669280" y="4005072"/>
            <a:ext cx="6400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950"/>
              <a:buFont typeface="Calibri"/>
              <a:buNone/>
            </a:pPr>
            <a:r>
              <a:rPr b="0" i="1" lang="en-US" sz="950" u="none" cap="none" strike="noStrike">
                <a:solidFill>
                  <a:srgbClr val="8494A6"/>
                </a:solidFill>
                <a:latin typeface="Calibri"/>
                <a:ea typeface="Calibri"/>
                <a:cs typeface="Calibri"/>
                <a:sym typeface="Calibri"/>
              </a:rPr>
              <a:t>entrada</a:t>
            </a:r>
            <a:endParaRPr b="0" i="0" sz="950" u="none" cap="none" strike="noStrike">
              <a:solidFill>
                <a:schemeClr val="dk1"/>
              </a:solidFill>
              <a:latin typeface="Calibri"/>
              <a:ea typeface="Calibri"/>
              <a:cs typeface="Calibri"/>
              <a:sym typeface="Calibri"/>
            </a:endParaRPr>
          </a:p>
        </p:txBody>
      </p:sp>
      <p:cxnSp>
        <p:nvCxnSpPr>
          <p:cNvPr id="510" name="Google Shape;510;p25"/>
          <p:cNvCxnSpPr/>
          <p:nvPr/>
        </p:nvCxnSpPr>
        <p:spPr>
          <a:xfrm>
            <a:off x="6071616" y="3337560"/>
            <a:ext cx="283464" cy="0"/>
          </a:xfrm>
          <a:prstGeom prst="straightConnector1">
            <a:avLst/>
          </a:prstGeom>
          <a:noFill/>
          <a:ln cap="flat" cmpd="sng" w="17775">
            <a:solidFill>
              <a:srgbClr val="8494A6"/>
            </a:solidFill>
            <a:prstDash val="solid"/>
            <a:round/>
            <a:headEnd len="sm" w="sm" type="none"/>
            <a:tailEnd len="sm" w="sm" type="none"/>
          </a:ln>
        </p:spPr>
      </p:cxnSp>
      <p:cxnSp>
        <p:nvCxnSpPr>
          <p:cNvPr id="511" name="Google Shape;511;p25"/>
          <p:cNvCxnSpPr/>
          <p:nvPr/>
        </p:nvCxnSpPr>
        <p:spPr>
          <a:xfrm>
            <a:off x="6355080" y="2304288"/>
            <a:ext cx="0" cy="2057400"/>
          </a:xfrm>
          <a:prstGeom prst="straightConnector1">
            <a:avLst/>
          </a:prstGeom>
          <a:noFill/>
          <a:ln cap="flat" cmpd="sng" w="17775">
            <a:solidFill>
              <a:srgbClr val="8494A6"/>
            </a:solidFill>
            <a:prstDash val="solid"/>
            <a:round/>
            <a:headEnd len="sm" w="sm" type="none"/>
            <a:tailEnd len="sm" w="sm" type="none"/>
          </a:ln>
        </p:spPr>
      </p:cxnSp>
      <p:cxnSp>
        <p:nvCxnSpPr>
          <p:cNvPr id="512" name="Google Shape;512;p25"/>
          <p:cNvCxnSpPr/>
          <p:nvPr/>
        </p:nvCxnSpPr>
        <p:spPr>
          <a:xfrm>
            <a:off x="6355080" y="2308860"/>
            <a:ext cx="365760" cy="0"/>
          </a:xfrm>
          <a:prstGeom prst="straightConnector1">
            <a:avLst/>
          </a:prstGeom>
          <a:noFill/>
          <a:ln cap="flat" cmpd="sng" w="17775">
            <a:solidFill>
              <a:srgbClr val="8494A6"/>
            </a:solidFill>
            <a:prstDash val="solid"/>
            <a:round/>
            <a:headEnd len="sm" w="sm" type="none"/>
            <a:tailEnd len="med" w="med" type="triangle"/>
          </a:ln>
        </p:spPr>
      </p:cxnSp>
      <p:sp>
        <p:nvSpPr>
          <p:cNvPr id="513" name="Google Shape;513;p25"/>
          <p:cNvSpPr/>
          <p:nvPr/>
        </p:nvSpPr>
        <p:spPr>
          <a:xfrm>
            <a:off x="6720840" y="2148840"/>
            <a:ext cx="822960" cy="320040"/>
          </a:xfrm>
          <a:prstGeom prst="roundRect">
            <a:avLst>
              <a:gd fmla="val 14286" name="adj"/>
            </a:avLst>
          </a:prstGeom>
          <a:solidFill>
            <a:srgbClr val="E08A3C"/>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5"/>
          <p:cNvSpPr txBox="1"/>
          <p:nvPr/>
        </p:nvSpPr>
        <p:spPr>
          <a:xfrm>
            <a:off x="6720840" y="2148840"/>
            <a:ext cx="822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A·B</a:t>
            </a:r>
            <a:endParaRPr b="0" i="0" sz="1150" u="none" cap="none" strike="noStrike">
              <a:solidFill>
                <a:schemeClr val="dk1"/>
              </a:solidFill>
              <a:latin typeface="Calibri"/>
              <a:ea typeface="Calibri"/>
              <a:cs typeface="Calibri"/>
              <a:sym typeface="Calibri"/>
            </a:endParaRPr>
          </a:p>
        </p:txBody>
      </p:sp>
      <p:cxnSp>
        <p:nvCxnSpPr>
          <p:cNvPr id="515" name="Google Shape;515;p25"/>
          <p:cNvCxnSpPr/>
          <p:nvPr/>
        </p:nvCxnSpPr>
        <p:spPr>
          <a:xfrm>
            <a:off x="6355080" y="2788920"/>
            <a:ext cx="365760" cy="0"/>
          </a:xfrm>
          <a:prstGeom prst="straightConnector1">
            <a:avLst/>
          </a:prstGeom>
          <a:noFill/>
          <a:ln cap="flat" cmpd="sng" w="17775">
            <a:solidFill>
              <a:srgbClr val="8494A6"/>
            </a:solidFill>
            <a:prstDash val="solid"/>
            <a:round/>
            <a:headEnd len="sm" w="sm" type="none"/>
            <a:tailEnd len="med" w="med" type="triangle"/>
          </a:ln>
        </p:spPr>
      </p:cxnSp>
      <p:sp>
        <p:nvSpPr>
          <p:cNvPr id="516" name="Google Shape;516;p25"/>
          <p:cNvSpPr/>
          <p:nvPr/>
        </p:nvSpPr>
        <p:spPr>
          <a:xfrm>
            <a:off x="6720840" y="2606040"/>
            <a:ext cx="8229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5"/>
          <p:cNvSpPr txBox="1"/>
          <p:nvPr/>
        </p:nvSpPr>
        <p:spPr>
          <a:xfrm>
            <a:off x="6720840" y="2606040"/>
            <a:ext cx="822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W_q</a:t>
            </a:r>
            <a:endParaRPr b="0" i="0" sz="1150" u="none" cap="none" strike="noStrike">
              <a:solidFill>
                <a:schemeClr val="dk1"/>
              </a:solidFill>
              <a:latin typeface="Calibri"/>
              <a:ea typeface="Calibri"/>
              <a:cs typeface="Calibri"/>
              <a:sym typeface="Calibri"/>
            </a:endParaRPr>
          </a:p>
        </p:txBody>
      </p:sp>
      <p:cxnSp>
        <p:nvCxnSpPr>
          <p:cNvPr id="518" name="Google Shape;518;p25"/>
          <p:cNvCxnSpPr/>
          <p:nvPr/>
        </p:nvCxnSpPr>
        <p:spPr>
          <a:xfrm>
            <a:off x="6355080" y="3337560"/>
            <a:ext cx="365760" cy="0"/>
          </a:xfrm>
          <a:prstGeom prst="straightConnector1">
            <a:avLst/>
          </a:prstGeom>
          <a:noFill/>
          <a:ln cap="flat" cmpd="sng" w="17775">
            <a:solidFill>
              <a:srgbClr val="8494A6"/>
            </a:solidFill>
            <a:prstDash val="solid"/>
            <a:round/>
            <a:headEnd len="sm" w="sm" type="none"/>
            <a:tailEnd len="med" w="med" type="triangle"/>
          </a:ln>
        </p:spPr>
      </p:cxnSp>
      <p:sp>
        <p:nvSpPr>
          <p:cNvPr id="519" name="Google Shape;519;p25"/>
          <p:cNvSpPr/>
          <p:nvPr/>
        </p:nvSpPr>
        <p:spPr>
          <a:xfrm>
            <a:off x="6720840" y="3154680"/>
            <a:ext cx="822960" cy="365760"/>
          </a:xfrm>
          <a:prstGeom prst="roundRect">
            <a:avLst>
              <a:gd fmla="val 12500" name="adj"/>
            </a:avLst>
          </a:prstGeom>
          <a:solidFill>
            <a:srgbClr val="E6EBF0"/>
          </a:solidFill>
          <a:ln cap="flat" cmpd="sng" w="16500">
            <a:solidFill>
              <a:srgbClr val="E08A3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5"/>
          <p:cNvSpPr txBox="1"/>
          <p:nvPr/>
        </p:nvSpPr>
        <p:spPr>
          <a:xfrm>
            <a:off x="6720840" y="3154680"/>
            <a:ext cx="822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W_k</a:t>
            </a:r>
            <a:endParaRPr b="0" i="0" sz="1150" u="none" cap="none" strike="noStrike">
              <a:solidFill>
                <a:schemeClr val="dk1"/>
              </a:solidFill>
              <a:latin typeface="Calibri"/>
              <a:ea typeface="Calibri"/>
              <a:cs typeface="Calibri"/>
              <a:sym typeface="Calibri"/>
            </a:endParaRPr>
          </a:p>
        </p:txBody>
      </p:sp>
      <p:cxnSp>
        <p:nvCxnSpPr>
          <p:cNvPr id="521" name="Google Shape;521;p25"/>
          <p:cNvCxnSpPr/>
          <p:nvPr/>
        </p:nvCxnSpPr>
        <p:spPr>
          <a:xfrm>
            <a:off x="6355080" y="3886200"/>
            <a:ext cx="365760" cy="0"/>
          </a:xfrm>
          <a:prstGeom prst="straightConnector1">
            <a:avLst/>
          </a:prstGeom>
          <a:noFill/>
          <a:ln cap="flat" cmpd="sng" w="17775">
            <a:solidFill>
              <a:srgbClr val="8494A6"/>
            </a:solidFill>
            <a:prstDash val="solid"/>
            <a:round/>
            <a:headEnd len="sm" w="sm" type="none"/>
            <a:tailEnd len="med" w="med" type="triangle"/>
          </a:ln>
        </p:spPr>
      </p:cxnSp>
      <p:sp>
        <p:nvSpPr>
          <p:cNvPr id="522" name="Google Shape;522;p25"/>
          <p:cNvSpPr/>
          <p:nvPr/>
        </p:nvSpPr>
        <p:spPr>
          <a:xfrm>
            <a:off x="6720840" y="3703320"/>
            <a:ext cx="822960" cy="365760"/>
          </a:xfrm>
          <a:prstGeom prst="roundRect">
            <a:avLst>
              <a:gd fmla="val 12500" name="adj"/>
            </a:avLst>
          </a:prstGeom>
          <a:solidFill>
            <a:srgbClr val="E6EBF0"/>
          </a:solidFill>
          <a:ln cap="flat" cmpd="sng" w="12700">
            <a:solidFill>
              <a:srgbClr val="B0B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5"/>
          <p:cNvSpPr txBox="1"/>
          <p:nvPr/>
        </p:nvSpPr>
        <p:spPr>
          <a:xfrm>
            <a:off x="6720840" y="3703320"/>
            <a:ext cx="822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W_v</a:t>
            </a:r>
            <a:endParaRPr b="0" i="0" sz="1150" u="none" cap="none" strike="noStrike">
              <a:solidFill>
                <a:schemeClr val="dk1"/>
              </a:solidFill>
              <a:latin typeface="Calibri"/>
              <a:ea typeface="Calibri"/>
              <a:cs typeface="Calibri"/>
              <a:sym typeface="Calibri"/>
            </a:endParaRPr>
          </a:p>
        </p:txBody>
      </p:sp>
      <p:cxnSp>
        <p:nvCxnSpPr>
          <p:cNvPr id="524" name="Google Shape;524;p25"/>
          <p:cNvCxnSpPr/>
          <p:nvPr/>
        </p:nvCxnSpPr>
        <p:spPr>
          <a:xfrm>
            <a:off x="6355080" y="4366260"/>
            <a:ext cx="365760" cy="0"/>
          </a:xfrm>
          <a:prstGeom prst="straightConnector1">
            <a:avLst/>
          </a:prstGeom>
          <a:noFill/>
          <a:ln cap="flat" cmpd="sng" w="17775">
            <a:solidFill>
              <a:srgbClr val="8494A6"/>
            </a:solidFill>
            <a:prstDash val="solid"/>
            <a:round/>
            <a:headEnd len="sm" w="sm" type="none"/>
            <a:tailEnd len="med" w="med" type="triangle"/>
          </a:ln>
        </p:spPr>
      </p:cxnSp>
      <p:sp>
        <p:nvSpPr>
          <p:cNvPr id="525" name="Google Shape;525;p25"/>
          <p:cNvSpPr/>
          <p:nvPr/>
        </p:nvSpPr>
        <p:spPr>
          <a:xfrm>
            <a:off x="6720840" y="4206240"/>
            <a:ext cx="822960" cy="320040"/>
          </a:xfrm>
          <a:prstGeom prst="roundRect">
            <a:avLst>
              <a:gd fmla="val 14286" name="adj"/>
            </a:avLst>
          </a:prstGeom>
          <a:solidFill>
            <a:srgbClr val="E08A3C"/>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5"/>
          <p:cNvSpPr txBox="1"/>
          <p:nvPr/>
        </p:nvSpPr>
        <p:spPr>
          <a:xfrm>
            <a:off x="6720840" y="4206240"/>
            <a:ext cx="822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A·B</a:t>
            </a:r>
            <a:endParaRPr b="0" i="0" sz="1150" u="none" cap="none" strike="noStrike">
              <a:solidFill>
                <a:schemeClr val="dk1"/>
              </a:solidFill>
              <a:latin typeface="Calibri"/>
              <a:ea typeface="Calibri"/>
              <a:cs typeface="Calibri"/>
              <a:sym typeface="Calibri"/>
            </a:endParaRPr>
          </a:p>
        </p:txBody>
      </p:sp>
      <p:sp>
        <p:nvSpPr>
          <p:cNvPr id="527" name="Google Shape;527;p25"/>
          <p:cNvSpPr/>
          <p:nvPr/>
        </p:nvSpPr>
        <p:spPr>
          <a:xfrm>
            <a:off x="7772400" y="2651760"/>
            <a:ext cx="274320" cy="274320"/>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5"/>
          <p:cNvSpPr txBox="1"/>
          <p:nvPr/>
        </p:nvSpPr>
        <p:spPr>
          <a:xfrm>
            <a:off x="7772400" y="265176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cxnSp>
        <p:nvCxnSpPr>
          <p:cNvPr id="529" name="Google Shape;529;p25"/>
          <p:cNvCxnSpPr/>
          <p:nvPr/>
        </p:nvCxnSpPr>
        <p:spPr>
          <a:xfrm>
            <a:off x="7543800" y="2788920"/>
            <a:ext cx="228600" cy="0"/>
          </a:xfrm>
          <a:prstGeom prst="straightConnector1">
            <a:avLst/>
          </a:prstGeom>
          <a:noFill/>
          <a:ln cap="flat" cmpd="sng" w="17775">
            <a:solidFill>
              <a:srgbClr val="8494A6"/>
            </a:solidFill>
            <a:prstDash val="solid"/>
            <a:round/>
            <a:headEnd len="sm" w="sm" type="none"/>
            <a:tailEnd len="med" w="med" type="triangle"/>
          </a:ln>
        </p:spPr>
      </p:cxnSp>
      <p:cxnSp>
        <p:nvCxnSpPr>
          <p:cNvPr id="530" name="Google Shape;530;p25"/>
          <p:cNvCxnSpPr/>
          <p:nvPr/>
        </p:nvCxnSpPr>
        <p:spPr>
          <a:xfrm>
            <a:off x="7543800" y="2308860"/>
            <a:ext cx="365760" cy="0"/>
          </a:xfrm>
          <a:prstGeom prst="straightConnector1">
            <a:avLst/>
          </a:prstGeom>
          <a:noFill/>
          <a:ln cap="flat" cmpd="sng" w="17775">
            <a:solidFill>
              <a:srgbClr val="A55A18"/>
            </a:solidFill>
            <a:prstDash val="solid"/>
            <a:round/>
            <a:headEnd len="sm" w="sm" type="none"/>
            <a:tailEnd len="sm" w="sm" type="none"/>
          </a:ln>
        </p:spPr>
      </p:cxnSp>
      <p:cxnSp>
        <p:nvCxnSpPr>
          <p:cNvPr id="531" name="Google Shape;531;p25"/>
          <p:cNvCxnSpPr/>
          <p:nvPr/>
        </p:nvCxnSpPr>
        <p:spPr>
          <a:xfrm>
            <a:off x="7909560" y="2308860"/>
            <a:ext cx="0" cy="342900"/>
          </a:xfrm>
          <a:prstGeom prst="straightConnector1">
            <a:avLst/>
          </a:prstGeom>
          <a:noFill/>
          <a:ln cap="flat" cmpd="sng" w="17775">
            <a:solidFill>
              <a:srgbClr val="A55A18"/>
            </a:solidFill>
            <a:prstDash val="solid"/>
            <a:round/>
            <a:headEnd len="sm" w="sm" type="none"/>
            <a:tailEnd len="med" w="med" type="triangle"/>
          </a:ln>
        </p:spPr>
      </p:cxnSp>
      <p:sp>
        <p:nvSpPr>
          <p:cNvPr id="532" name="Google Shape;532;p25"/>
          <p:cNvSpPr/>
          <p:nvPr/>
        </p:nvSpPr>
        <p:spPr>
          <a:xfrm>
            <a:off x="7772400" y="3749040"/>
            <a:ext cx="274320" cy="274320"/>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5"/>
          <p:cNvSpPr txBox="1"/>
          <p:nvPr/>
        </p:nvSpPr>
        <p:spPr>
          <a:xfrm>
            <a:off x="7772400" y="37490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cxnSp>
        <p:nvCxnSpPr>
          <p:cNvPr id="534" name="Google Shape;534;p25"/>
          <p:cNvCxnSpPr/>
          <p:nvPr/>
        </p:nvCxnSpPr>
        <p:spPr>
          <a:xfrm>
            <a:off x="7543800" y="3886200"/>
            <a:ext cx="228600" cy="0"/>
          </a:xfrm>
          <a:prstGeom prst="straightConnector1">
            <a:avLst/>
          </a:prstGeom>
          <a:noFill/>
          <a:ln cap="flat" cmpd="sng" w="17775">
            <a:solidFill>
              <a:srgbClr val="8494A6"/>
            </a:solidFill>
            <a:prstDash val="solid"/>
            <a:round/>
            <a:headEnd len="sm" w="sm" type="none"/>
            <a:tailEnd len="med" w="med" type="triangle"/>
          </a:ln>
        </p:spPr>
      </p:cxnSp>
      <p:cxnSp>
        <p:nvCxnSpPr>
          <p:cNvPr id="535" name="Google Shape;535;p25"/>
          <p:cNvCxnSpPr/>
          <p:nvPr/>
        </p:nvCxnSpPr>
        <p:spPr>
          <a:xfrm>
            <a:off x="7543800" y="4366260"/>
            <a:ext cx="365760" cy="0"/>
          </a:xfrm>
          <a:prstGeom prst="straightConnector1">
            <a:avLst/>
          </a:prstGeom>
          <a:noFill/>
          <a:ln cap="flat" cmpd="sng" w="17775">
            <a:solidFill>
              <a:srgbClr val="A55A18"/>
            </a:solidFill>
            <a:prstDash val="solid"/>
            <a:round/>
            <a:headEnd len="sm" w="sm" type="none"/>
            <a:tailEnd len="sm" w="sm" type="none"/>
          </a:ln>
        </p:spPr>
      </p:cxnSp>
      <p:cxnSp>
        <p:nvCxnSpPr>
          <p:cNvPr id="536" name="Google Shape;536;p25"/>
          <p:cNvCxnSpPr/>
          <p:nvPr/>
        </p:nvCxnSpPr>
        <p:spPr>
          <a:xfrm rot="10800000">
            <a:off x="7909560" y="4023360"/>
            <a:ext cx="0" cy="342900"/>
          </a:xfrm>
          <a:prstGeom prst="straightConnector1">
            <a:avLst/>
          </a:prstGeom>
          <a:noFill/>
          <a:ln cap="flat" cmpd="sng" w="17775">
            <a:solidFill>
              <a:srgbClr val="A55A18"/>
            </a:solidFill>
            <a:prstDash val="solid"/>
            <a:round/>
            <a:headEnd len="sm" w="sm" type="none"/>
            <a:tailEnd len="med" w="med" type="triangle"/>
          </a:ln>
        </p:spPr>
      </p:cxnSp>
      <p:sp>
        <p:nvSpPr>
          <p:cNvPr id="537" name="Google Shape;537;p25"/>
          <p:cNvSpPr/>
          <p:nvPr/>
        </p:nvSpPr>
        <p:spPr>
          <a:xfrm>
            <a:off x="8412480" y="2606040"/>
            <a:ext cx="1600200" cy="1463040"/>
          </a:xfrm>
          <a:prstGeom prst="roundRect">
            <a:avLst>
              <a:gd fmla="val 3750" name="adj"/>
            </a:avLst>
          </a:prstGeom>
          <a:solidFill>
            <a:srgbClr val="EFF3F7"/>
          </a:solidFill>
          <a:ln cap="flat" cmpd="sng" w="12700">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5"/>
          <p:cNvSpPr txBox="1"/>
          <p:nvPr/>
        </p:nvSpPr>
        <p:spPr>
          <a:xfrm>
            <a:off x="8412480" y="2606040"/>
            <a:ext cx="1600200" cy="1463040"/>
          </a:xfrm>
          <a:prstGeom prst="rect">
            <a:avLst/>
          </a:prstGeom>
          <a:noFill/>
          <a:ln>
            <a:noFill/>
          </a:ln>
        </p:spPr>
        <p:txBody>
          <a:bodyPr anchorCtr="0" anchor="ctr" bIns="0" lIns="0" spcFirstLastPara="1" rIns="0" wrap="square" tIns="0">
            <a:noAutofit/>
          </a:bodyPr>
          <a:lstStyle/>
          <a:p>
            <a:pPr indent="0" lvl="0" marL="0" marR="0" rtl="0" algn="ctr">
              <a:lnSpc>
                <a:spcPct val="152380"/>
              </a:lnSpc>
              <a:spcBef>
                <a:spcPts val="0"/>
              </a:spcBef>
              <a:spcAft>
                <a:spcPts val="0"/>
              </a:spcAft>
              <a:buClr>
                <a:srgbClr val="0F1C2E"/>
              </a:buClr>
              <a:buSzPts val="1050"/>
              <a:buFont typeface="Consolas"/>
              <a:buNone/>
            </a:pPr>
            <a:r>
              <a:rPr b="0" i="0" lang="en-US" sz="1050" u="none" cap="none" strike="noStrike">
                <a:solidFill>
                  <a:srgbClr val="0F1C2E"/>
                </a:solidFill>
                <a:latin typeface="Consolas"/>
                <a:ea typeface="Consolas"/>
                <a:cs typeface="Consolas"/>
                <a:sym typeface="Consolas"/>
              </a:rPr>
              <a:t>softmax(Q·Kᵀ/√d)</a:t>
            </a:r>
            <a:endParaRPr b="0" i="0" sz="1050" u="none" cap="none" strike="noStrike">
              <a:solidFill>
                <a:schemeClr val="dk1"/>
              </a:solidFill>
              <a:latin typeface="Calibri"/>
              <a:ea typeface="Calibri"/>
              <a:cs typeface="Calibri"/>
              <a:sym typeface="Calibri"/>
            </a:endParaRPr>
          </a:p>
          <a:p>
            <a:pPr indent="0" lvl="0" marL="0" marR="0" rtl="0" algn="ctr">
              <a:lnSpc>
                <a:spcPct val="152380"/>
              </a:lnSpc>
              <a:spcBef>
                <a:spcPts val="0"/>
              </a:spcBef>
              <a:spcAft>
                <a:spcPts val="0"/>
              </a:spcAft>
              <a:buClr>
                <a:srgbClr val="0F1C2E"/>
              </a:buClr>
              <a:buSzPts val="1050"/>
              <a:buFont typeface="Consolas"/>
              <a:buNone/>
            </a:pPr>
            <a:r>
              <a:rPr b="0" i="0" lang="en-US" sz="1050" u="none" cap="none" strike="noStrike">
                <a:solidFill>
                  <a:srgbClr val="0F1C2E"/>
                </a:solidFill>
                <a:latin typeface="Consolas"/>
                <a:ea typeface="Consolas"/>
                <a:cs typeface="Consolas"/>
                <a:sym typeface="Consolas"/>
              </a:rPr>
              <a:t>× V</a:t>
            </a:r>
            <a:endParaRPr b="0" i="0" sz="1050" u="none" cap="none" strike="noStrike">
              <a:solidFill>
                <a:schemeClr val="dk1"/>
              </a:solidFill>
              <a:latin typeface="Calibri"/>
              <a:ea typeface="Calibri"/>
              <a:cs typeface="Calibri"/>
              <a:sym typeface="Calibri"/>
            </a:endParaRPr>
          </a:p>
        </p:txBody>
      </p:sp>
      <p:cxnSp>
        <p:nvCxnSpPr>
          <p:cNvPr id="539" name="Google Shape;539;p25"/>
          <p:cNvCxnSpPr/>
          <p:nvPr/>
        </p:nvCxnSpPr>
        <p:spPr>
          <a:xfrm>
            <a:off x="8046720" y="2788920"/>
            <a:ext cx="365760" cy="0"/>
          </a:xfrm>
          <a:prstGeom prst="straightConnector1">
            <a:avLst/>
          </a:prstGeom>
          <a:noFill/>
          <a:ln cap="flat" cmpd="sng" w="17775">
            <a:solidFill>
              <a:srgbClr val="8494A6"/>
            </a:solidFill>
            <a:prstDash val="solid"/>
            <a:round/>
            <a:headEnd len="sm" w="sm" type="none"/>
            <a:tailEnd len="med" w="med" type="triangle"/>
          </a:ln>
        </p:spPr>
      </p:cxnSp>
      <p:cxnSp>
        <p:nvCxnSpPr>
          <p:cNvPr id="540" name="Google Shape;540;p25"/>
          <p:cNvCxnSpPr/>
          <p:nvPr/>
        </p:nvCxnSpPr>
        <p:spPr>
          <a:xfrm>
            <a:off x="7543800" y="3337560"/>
            <a:ext cx="868680" cy="0"/>
          </a:xfrm>
          <a:prstGeom prst="straightConnector1">
            <a:avLst/>
          </a:prstGeom>
          <a:noFill/>
          <a:ln cap="flat" cmpd="sng" w="17775">
            <a:solidFill>
              <a:srgbClr val="8494A6"/>
            </a:solidFill>
            <a:prstDash val="solid"/>
            <a:round/>
            <a:headEnd len="sm" w="sm" type="none"/>
            <a:tailEnd len="med" w="med" type="triangle"/>
          </a:ln>
        </p:spPr>
      </p:cxnSp>
      <p:cxnSp>
        <p:nvCxnSpPr>
          <p:cNvPr id="541" name="Google Shape;541;p25"/>
          <p:cNvCxnSpPr/>
          <p:nvPr/>
        </p:nvCxnSpPr>
        <p:spPr>
          <a:xfrm>
            <a:off x="8046720" y="3886200"/>
            <a:ext cx="365760" cy="0"/>
          </a:xfrm>
          <a:prstGeom prst="straightConnector1">
            <a:avLst/>
          </a:prstGeom>
          <a:noFill/>
          <a:ln cap="flat" cmpd="sng" w="17775">
            <a:solidFill>
              <a:srgbClr val="8494A6"/>
            </a:solidFill>
            <a:prstDash val="solid"/>
            <a:round/>
            <a:headEnd len="sm" w="sm" type="none"/>
            <a:tailEnd len="med" w="med" type="triangle"/>
          </a:ln>
        </p:spPr>
      </p:cxnSp>
      <p:cxnSp>
        <p:nvCxnSpPr>
          <p:cNvPr id="542" name="Google Shape;542;p25"/>
          <p:cNvCxnSpPr/>
          <p:nvPr/>
        </p:nvCxnSpPr>
        <p:spPr>
          <a:xfrm>
            <a:off x="10012680" y="3337560"/>
            <a:ext cx="228600" cy="0"/>
          </a:xfrm>
          <a:prstGeom prst="straightConnector1">
            <a:avLst/>
          </a:prstGeom>
          <a:noFill/>
          <a:ln cap="flat" cmpd="sng" w="17775">
            <a:solidFill>
              <a:srgbClr val="8494A6"/>
            </a:solidFill>
            <a:prstDash val="solid"/>
            <a:round/>
            <a:headEnd len="sm" w="sm" type="none"/>
            <a:tailEnd len="med" w="med" type="triangle"/>
          </a:ln>
        </p:spPr>
      </p:cxnSp>
      <p:sp>
        <p:nvSpPr>
          <p:cNvPr id="543" name="Google Shape;543;p25"/>
          <p:cNvSpPr/>
          <p:nvPr/>
        </p:nvSpPr>
        <p:spPr>
          <a:xfrm>
            <a:off x="10241280" y="3154680"/>
            <a:ext cx="685800" cy="365760"/>
          </a:xfrm>
          <a:prstGeom prst="roundRect">
            <a:avLst>
              <a:gd fmla="val 12500" name="adj"/>
            </a:avLst>
          </a:prstGeom>
          <a:solidFill>
            <a:srgbClr val="E6EBF0"/>
          </a:solidFill>
          <a:ln cap="flat" cmpd="sng" w="16500">
            <a:solidFill>
              <a:srgbClr val="E08A3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5"/>
          <p:cNvSpPr txBox="1"/>
          <p:nvPr/>
        </p:nvSpPr>
        <p:spPr>
          <a:xfrm>
            <a:off x="10241280" y="3154680"/>
            <a:ext cx="6858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150"/>
              <a:buFont typeface="Calibri"/>
              <a:buNone/>
            </a:pPr>
            <a:r>
              <a:rPr b="1" i="0" lang="en-US" sz="1150" u="none" cap="none" strike="noStrike">
                <a:solidFill>
                  <a:srgbClr val="4B5D73"/>
                </a:solidFill>
                <a:latin typeface="Calibri"/>
                <a:ea typeface="Calibri"/>
                <a:cs typeface="Calibri"/>
                <a:sym typeface="Calibri"/>
              </a:rPr>
              <a:t>W_o</a:t>
            </a:r>
            <a:endParaRPr b="0" i="0" sz="1150" u="none" cap="none" strike="noStrike">
              <a:solidFill>
                <a:schemeClr val="dk1"/>
              </a:solidFill>
              <a:latin typeface="Calibri"/>
              <a:ea typeface="Calibri"/>
              <a:cs typeface="Calibri"/>
              <a:sym typeface="Calibri"/>
            </a:endParaRPr>
          </a:p>
        </p:txBody>
      </p:sp>
      <p:cxnSp>
        <p:nvCxnSpPr>
          <p:cNvPr id="545" name="Google Shape;545;p25"/>
          <p:cNvCxnSpPr/>
          <p:nvPr/>
        </p:nvCxnSpPr>
        <p:spPr>
          <a:xfrm>
            <a:off x="10927080" y="3337560"/>
            <a:ext cx="320040" cy="0"/>
          </a:xfrm>
          <a:prstGeom prst="straightConnector1">
            <a:avLst/>
          </a:prstGeom>
          <a:noFill/>
          <a:ln cap="flat" cmpd="sng" w="17775">
            <a:solidFill>
              <a:srgbClr val="8494A6"/>
            </a:solidFill>
            <a:prstDash val="solid"/>
            <a:round/>
            <a:headEnd len="sm" w="sm" type="none"/>
            <a:tailEnd len="med" w="med" type="triangle"/>
          </a:ln>
        </p:spPr>
      </p:cxnSp>
      <p:sp>
        <p:nvSpPr>
          <p:cNvPr id="546" name="Google Shape;546;p25"/>
          <p:cNvSpPr/>
          <p:nvPr/>
        </p:nvSpPr>
        <p:spPr>
          <a:xfrm>
            <a:off x="5852160" y="4572000"/>
            <a:ext cx="256032" cy="182880"/>
          </a:xfrm>
          <a:prstGeom prst="roundRect">
            <a:avLst>
              <a:gd fmla="val 25000" name="adj"/>
            </a:avLst>
          </a:prstGeom>
          <a:solidFill>
            <a:srgbClr val="E08A3C"/>
          </a:solidFill>
          <a:ln cap="flat" cmpd="sng" w="1270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5"/>
          <p:cNvSpPr txBox="1"/>
          <p:nvPr/>
        </p:nvSpPr>
        <p:spPr>
          <a:xfrm>
            <a:off x="6172200" y="4535424"/>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050"/>
              <a:buFont typeface="Calibri"/>
              <a:buNone/>
            </a:pPr>
            <a:r>
              <a:rPr b="0" i="0" lang="en-US" sz="1050" u="none" cap="none" strike="noStrike">
                <a:solidFill>
                  <a:srgbClr val="4B5D73"/>
                </a:solidFill>
                <a:latin typeface="Calibri"/>
                <a:ea typeface="Calibri"/>
                <a:cs typeface="Calibri"/>
                <a:sym typeface="Calibri"/>
              </a:rPr>
              <a:t>LoRA no artigo original: W_q e W_v</a:t>
            </a:r>
            <a:endParaRPr b="0" i="0" sz="1050" u="none" cap="none" strike="noStrike">
              <a:solidFill>
                <a:schemeClr val="dk1"/>
              </a:solidFill>
              <a:latin typeface="Calibri"/>
              <a:ea typeface="Calibri"/>
              <a:cs typeface="Calibri"/>
              <a:sym typeface="Calibri"/>
            </a:endParaRPr>
          </a:p>
        </p:txBody>
      </p:sp>
      <p:sp>
        <p:nvSpPr>
          <p:cNvPr id="548" name="Google Shape;548;p25"/>
          <p:cNvSpPr/>
          <p:nvPr/>
        </p:nvSpPr>
        <p:spPr>
          <a:xfrm>
            <a:off x="8778240" y="4572000"/>
            <a:ext cx="256032" cy="182880"/>
          </a:xfrm>
          <a:prstGeom prst="roundRect">
            <a:avLst>
              <a:gd fmla="val 25000" name="adj"/>
            </a:avLst>
          </a:prstGeom>
          <a:solidFill>
            <a:srgbClr val="E6EBF0"/>
          </a:solidFill>
          <a:ln cap="flat" cmpd="sng" w="16500">
            <a:solidFill>
              <a:srgbClr val="E08A3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5"/>
          <p:cNvSpPr txBox="1"/>
          <p:nvPr/>
        </p:nvSpPr>
        <p:spPr>
          <a:xfrm>
            <a:off x="9098280" y="4535424"/>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050"/>
              <a:buFont typeface="Calibri"/>
              <a:buNone/>
            </a:pPr>
            <a:r>
              <a:rPr b="0" i="0" lang="en-US" sz="1050" u="none" cap="none" strike="noStrike">
                <a:solidFill>
                  <a:srgbClr val="4B5D73"/>
                </a:solidFill>
                <a:latin typeface="Calibri"/>
                <a:ea typeface="Calibri"/>
                <a:cs typeface="Calibri"/>
                <a:sym typeface="Calibri"/>
              </a:rPr>
              <a:t>também podem receber A·B</a:t>
            </a:r>
            <a:endParaRPr b="0" i="0" sz="1050" u="none" cap="none" strike="noStrike">
              <a:solidFill>
                <a:schemeClr val="dk1"/>
              </a:solidFill>
              <a:latin typeface="Calibri"/>
              <a:ea typeface="Calibri"/>
              <a:cs typeface="Calibri"/>
              <a:sym typeface="Calibri"/>
            </a:endParaRPr>
          </a:p>
        </p:txBody>
      </p:sp>
      <p:sp>
        <p:nvSpPr>
          <p:cNvPr id="550" name="Google Shape;550;p25"/>
          <p:cNvSpPr/>
          <p:nvPr/>
        </p:nvSpPr>
        <p:spPr>
          <a:xfrm>
            <a:off x="777240" y="5102352"/>
            <a:ext cx="3423818" cy="749808"/>
          </a:xfrm>
          <a:prstGeom prst="roundRect">
            <a:avLst>
              <a:gd fmla="val 9756"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5"/>
          <p:cNvSpPr txBox="1"/>
          <p:nvPr/>
        </p:nvSpPr>
        <p:spPr>
          <a:xfrm>
            <a:off x="960120" y="5148072"/>
            <a:ext cx="305805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50"/>
              <a:buFont typeface="Calibri"/>
              <a:buNone/>
            </a:pPr>
            <a:r>
              <a:rPr b="1" i="0" lang="en-US" sz="1250" u="none" cap="none" strike="noStrike">
                <a:solidFill>
                  <a:srgbClr val="0F1C2E"/>
                </a:solidFill>
                <a:latin typeface="Calibri"/>
                <a:ea typeface="Calibri"/>
                <a:cs typeface="Calibri"/>
                <a:sym typeface="Calibri"/>
              </a:rPr>
              <a:t>Hu et al. (2021)</a:t>
            </a:r>
            <a:endParaRPr b="0" i="0" sz="1250" u="none" cap="none" strike="noStrike">
              <a:solidFill>
                <a:schemeClr val="dk1"/>
              </a:solidFill>
              <a:latin typeface="Calibri"/>
              <a:ea typeface="Calibri"/>
              <a:cs typeface="Calibri"/>
              <a:sym typeface="Calibri"/>
            </a:endParaRPr>
          </a:p>
        </p:txBody>
      </p:sp>
      <p:sp>
        <p:nvSpPr>
          <p:cNvPr id="552" name="Google Shape;552;p25"/>
          <p:cNvSpPr txBox="1"/>
          <p:nvPr/>
        </p:nvSpPr>
        <p:spPr>
          <a:xfrm>
            <a:off x="960120" y="5458968"/>
            <a:ext cx="305805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100"/>
              <a:buFont typeface="Consolas"/>
              <a:buNone/>
            </a:pPr>
            <a:r>
              <a:rPr b="0" i="0" lang="en-US" sz="1100" u="none" cap="none" strike="noStrike">
                <a:solidFill>
                  <a:srgbClr val="A55A18"/>
                </a:solidFill>
                <a:latin typeface="Consolas"/>
                <a:ea typeface="Consolas"/>
                <a:cs typeface="Consolas"/>
                <a:sym typeface="Consolas"/>
              </a:rPr>
              <a:t>q_proj, v_proj</a:t>
            </a:r>
            <a:endParaRPr b="0" i="0" sz="1100" u="none" cap="none" strike="noStrike">
              <a:solidFill>
                <a:schemeClr val="dk1"/>
              </a:solidFill>
              <a:latin typeface="Calibri"/>
              <a:ea typeface="Calibri"/>
              <a:cs typeface="Calibri"/>
              <a:sym typeface="Calibri"/>
            </a:endParaRPr>
          </a:p>
        </p:txBody>
      </p:sp>
      <p:sp>
        <p:nvSpPr>
          <p:cNvPr id="553" name="Google Shape;553;p25"/>
          <p:cNvSpPr/>
          <p:nvPr/>
        </p:nvSpPr>
        <p:spPr>
          <a:xfrm>
            <a:off x="4383938" y="5102352"/>
            <a:ext cx="3423818" cy="749808"/>
          </a:xfrm>
          <a:prstGeom prst="roundRect">
            <a:avLst>
              <a:gd fmla="val 9756"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5"/>
          <p:cNvSpPr txBox="1"/>
          <p:nvPr/>
        </p:nvSpPr>
        <p:spPr>
          <a:xfrm>
            <a:off x="4566818" y="5148072"/>
            <a:ext cx="305805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50"/>
              <a:buFont typeface="Calibri"/>
              <a:buNone/>
            </a:pPr>
            <a:r>
              <a:rPr b="1" i="0" lang="en-US" sz="1250" u="none" cap="none" strike="noStrike">
                <a:solidFill>
                  <a:srgbClr val="0F1C2E"/>
                </a:solidFill>
                <a:latin typeface="Calibri"/>
                <a:ea typeface="Calibri"/>
                <a:cs typeface="Calibri"/>
                <a:sym typeface="Calibri"/>
              </a:rPr>
              <a:t>Semana 6 (Qwen2.5-0.5B)</a:t>
            </a:r>
            <a:endParaRPr b="0" i="0" sz="1250" u="none" cap="none" strike="noStrike">
              <a:solidFill>
                <a:schemeClr val="dk1"/>
              </a:solidFill>
              <a:latin typeface="Calibri"/>
              <a:ea typeface="Calibri"/>
              <a:cs typeface="Calibri"/>
              <a:sym typeface="Calibri"/>
            </a:endParaRPr>
          </a:p>
        </p:txBody>
      </p:sp>
      <p:sp>
        <p:nvSpPr>
          <p:cNvPr id="555" name="Google Shape;555;p25"/>
          <p:cNvSpPr txBox="1"/>
          <p:nvPr/>
        </p:nvSpPr>
        <p:spPr>
          <a:xfrm>
            <a:off x="4566818" y="5458968"/>
            <a:ext cx="305805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100"/>
              <a:buFont typeface="Consolas"/>
              <a:buNone/>
            </a:pPr>
            <a:r>
              <a:rPr b="0" i="0" lang="en-US" sz="1100" u="none" cap="none" strike="noStrike">
                <a:solidFill>
                  <a:srgbClr val="A55A18"/>
                </a:solidFill>
                <a:latin typeface="Consolas"/>
                <a:ea typeface="Consolas"/>
                <a:cs typeface="Consolas"/>
                <a:sym typeface="Consolas"/>
              </a:rPr>
              <a:t>q_proj, k_proj, v_proj, o_proj</a:t>
            </a:r>
            <a:endParaRPr b="0" i="0" sz="1100" u="none" cap="none" strike="noStrike">
              <a:solidFill>
                <a:schemeClr val="dk1"/>
              </a:solidFill>
              <a:latin typeface="Calibri"/>
              <a:ea typeface="Calibri"/>
              <a:cs typeface="Calibri"/>
              <a:sym typeface="Calibri"/>
            </a:endParaRPr>
          </a:p>
        </p:txBody>
      </p:sp>
      <p:sp>
        <p:nvSpPr>
          <p:cNvPr id="556" name="Google Shape;556;p25"/>
          <p:cNvSpPr/>
          <p:nvPr/>
        </p:nvSpPr>
        <p:spPr>
          <a:xfrm>
            <a:off x="7990637" y="5102352"/>
            <a:ext cx="3423818" cy="749808"/>
          </a:xfrm>
          <a:prstGeom prst="roundRect">
            <a:avLst>
              <a:gd fmla="val 9756" name="adj"/>
            </a:avLst>
          </a:prstGeom>
          <a:solidFill>
            <a:srgbClr val="FBEFE1"/>
          </a:solidFill>
          <a:ln cap="flat" cmpd="sng" w="152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5"/>
          <p:cNvSpPr txBox="1"/>
          <p:nvPr/>
        </p:nvSpPr>
        <p:spPr>
          <a:xfrm>
            <a:off x="8173517" y="5148072"/>
            <a:ext cx="305805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50"/>
              <a:buFont typeface="Calibri"/>
              <a:buNone/>
            </a:pPr>
            <a:r>
              <a:rPr b="1" i="0" lang="en-US" sz="1250" u="none" cap="none" strike="noStrike">
                <a:solidFill>
                  <a:srgbClr val="0F1C2E"/>
                </a:solidFill>
                <a:latin typeface="Calibri"/>
                <a:ea typeface="Calibri"/>
                <a:cs typeface="Calibri"/>
                <a:sym typeface="Calibri"/>
              </a:rPr>
              <a:t>QLoRA e o nosso laboratório</a:t>
            </a:r>
            <a:endParaRPr b="0" i="0" sz="1250" u="none" cap="none" strike="noStrike">
              <a:solidFill>
                <a:schemeClr val="dk1"/>
              </a:solidFill>
              <a:latin typeface="Calibri"/>
              <a:ea typeface="Calibri"/>
              <a:cs typeface="Calibri"/>
              <a:sym typeface="Calibri"/>
            </a:endParaRPr>
          </a:p>
        </p:txBody>
      </p:sp>
      <p:sp>
        <p:nvSpPr>
          <p:cNvPr id="558" name="Google Shape;558;p25"/>
          <p:cNvSpPr txBox="1"/>
          <p:nvPr/>
        </p:nvSpPr>
        <p:spPr>
          <a:xfrm>
            <a:off x="8173517" y="5458968"/>
            <a:ext cx="305805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100"/>
              <a:buFont typeface="Consolas"/>
              <a:buNone/>
            </a:pPr>
            <a:r>
              <a:rPr b="0" i="0" lang="en-US" sz="1100" u="none" cap="none" strike="noStrike">
                <a:solidFill>
                  <a:srgbClr val="A55A18"/>
                </a:solidFill>
                <a:latin typeface="Consolas"/>
                <a:ea typeface="Consolas"/>
                <a:cs typeface="Consolas"/>
                <a:sym typeface="Consolas"/>
              </a:rPr>
              <a:t>todas as lineares (all-linear)</a:t>
            </a:r>
            <a:endParaRPr b="0" i="0" sz="1100" u="none" cap="none" strike="noStrike">
              <a:solidFill>
                <a:schemeClr val="dk1"/>
              </a:solidFill>
              <a:latin typeface="Calibri"/>
              <a:ea typeface="Calibri"/>
              <a:cs typeface="Calibri"/>
              <a:sym typeface="Calibri"/>
            </a:endParaRPr>
          </a:p>
        </p:txBody>
      </p:sp>
      <p:sp>
        <p:nvSpPr>
          <p:cNvPr id="559" name="Google Shape;559;p25"/>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26"/>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Rank: quantas direções o adapter tem</a:t>
            </a:r>
            <a:endParaRPr sz="3100"/>
          </a:p>
        </p:txBody>
      </p:sp>
      <p:sp>
        <p:nvSpPr>
          <p:cNvPr id="566" name="Google Shape;566;p26"/>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Cada rank com a sua busca de taxa, escolhida na validação. Acerto no teste e parâmetros treináveis.</a:t>
            </a:r>
            <a:endParaRPr b="0" i="0" sz="1450" u="none" cap="none" strike="noStrike">
              <a:solidFill>
                <a:schemeClr val="dk1"/>
              </a:solidFill>
              <a:latin typeface="Calibri"/>
              <a:ea typeface="Calibri"/>
              <a:cs typeface="Calibri"/>
              <a:sym typeface="Calibri"/>
            </a:endParaRPr>
          </a:p>
        </p:txBody>
      </p:sp>
      <p:pic>
        <p:nvPicPr>
          <p:cNvPr id="567" name="Google Shape;567;p26"/>
          <p:cNvPicPr preferRelativeResize="0"/>
          <p:nvPr/>
        </p:nvPicPr>
        <p:blipFill rotWithShape="1">
          <a:blip r:embed="rId3">
            <a:alphaModFix/>
          </a:blip>
          <a:srcRect b="0" l="0" r="0" t="0"/>
          <a:stretch/>
        </p:blipFill>
        <p:spPr>
          <a:xfrm>
            <a:off x="777240" y="1783080"/>
            <a:ext cx="6949440" cy="3886200"/>
          </a:xfrm>
          <a:prstGeom prst="rect">
            <a:avLst/>
          </a:prstGeom>
          <a:noFill/>
          <a:ln>
            <a:noFill/>
          </a:ln>
        </p:spPr>
      </p:pic>
      <p:sp>
        <p:nvSpPr>
          <p:cNvPr id="568" name="Google Shape;568;p26"/>
          <p:cNvSpPr txBox="1"/>
          <p:nvPr/>
        </p:nvSpPr>
        <p:spPr>
          <a:xfrm>
            <a:off x="8046720" y="1810512"/>
            <a:ext cx="33677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450"/>
              <a:buFont typeface="Calibri"/>
              <a:buNone/>
            </a:pPr>
            <a:r>
              <a:rPr b="1" i="0" lang="en-US" sz="1450" u="none" cap="none" strike="noStrike">
                <a:solidFill>
                  <a:srgbClr val="A55A18"/>
                </a:solidFill>
                <a:latin typeface="Calibri"/>
                <a:ea typeface="Calibri"/>
                <a:cs typeface="Calibri"/>
                <a:sym typeface="Calibri"/>
              </a:rPr>
              <a:t>No nosso modelo</a:t>
            </a:r>
            <a:endParaRPr b="0" i="0" sz="1450" u="none" cap="none" strike="noStrike">
              <a:solidFill>
                <a:schemeClr val="dk1"/>
              </a:solidFill>
              <a:latin typeface="Calibri"/>
              <a:ea typeface="Calibri"/>
              <a:cs typeface="Calibri"/>
              <a:sym typeface="Calibri"/>
            </a:endParaRPr>
          </a:p>
        </p:txBody>
      </p:sp>
      <p:sp>
        <p:nvSpPr>
          <p:cNvPr id="569" name="Google Shape;569;p26"/>
          <p:cNvSpPr txBox="1"/>
          <p:nvPr/>
        </p:nvSpPr>
        <p:spPr>
          <a:xfrm>
            <a:off x="8046720" y="2139696"/>
            <a:ext cx="3367735" cy="13716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r = 1 ficou em 64%. De r = 2 em diante, todos ficaram no nível do ajuste completo (84%) ou acima. Diferenças entre ranks vizinhos cabem na variação entre sementes (r = 8: 81% a 91%).</a:t>
            </a:r>
            <a:endParaRPr b="0" i="0" sz="1300" u="none" cap="none" strike="noStrike">
              <a:solidFill>
                <a:schemeClr val="dk1"/>
              </a:solidFill>
              <a:latin typeface="Calibri"/>
              <a:ea typeface="Calibri"/>
              <a:cs typeface="Calibri"/>
              <a:sym typeface="Calibri"/>
            </a:endParaRPr>
          </a:p>
        </p:txBody>
      </p:sp>
      <p:sp>
        <p:nvSpPr>
          <p:cNvPr id="570" name="Google Shape;570;p26"/>
          <p:cNvSpPr txBox="1"/>
          <p:nvPr/>
        </p:nvSpPr>
        <p:spPr>
          <a:xfrm>
            <a:off x="8046720" y="3337560"/>
            <a:ext cx="33677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5F55"/>
              </a:buClr>
              <a:buSzPts val="1450"/>
              <a:buFont typeface="Calibri"/>
              <a:buNone/>
            </a:pPr>
            <a:r>
              <a:rPr b="1" i="0" lang="en-US" sz="1450" u="none" cap="none" strike="noStrike">
                <a:solidFill>
                  <a:srgbClr val="0E5F55"/>
                </a:solidFill>
                <a:latin typeface="Calibri"/>
                <a:ea typeface="Calibri"/>
                <a:cs typeface="Calibri"/>
                <a:sym typeface="Calibri"/>
              </a:rPr>
              <a:t>Na literatura</a:t>
            </a:r>
            <a:endParaRPr b="0" i="0" sz="1450" u="none" cap="none" strike="noStrike">
              <a:solidFill>
                <a:schemeClr val="dk1"/>
              </a:solidFill>
              <a:latin typeface="Calibri"/>
              <a:ea typeface="Calibri"/>
              <a:cs typeface="Calibri"/>
              <a:sym typeface="Calibri"/>
            </a:endParaRPr>
          </a:p>
        </p:txBody>
      </p:sp>
      <p:sp>
        <p:nvSpPr>
          <p:cNvPr id="571" name="Google Shape;571;p26"/>
          <p:cNvSpPr txBox="1"/>
          <p:nvPr/>
        </p:nvSpPr>
        <p:spPr>
          <a:xfrm>
            <a:off x="8046720" y="3666744"/>
            <a:ext cx="3367735" cy="114300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No GPT-3, r = 1 bastou em Wq e Wv. Na QLoRA, com adapters em todas as camadas, r de 8 a 256 quase não mudou o resultado.</a:t>
            </a:r>
            <a:endParaRPr b="0" i="0" sz="1300" u="none" cap="none" strike="noStrike">
              <a:solidFill>
                <a:schemeClr val="dk1"/>
              </a:solidFill>
              <a:latin typeface="Calibri"/>
              <a:ea typeface="Calibri"/>
              <a:cs typeface="Calibri"/>
              <a:sym typeface="Calibri"/>
            </a:endParaRPr>
          </a:p>
        </p:txBody>
      </p:sp>
      <p:sp>
        <p:nvSpPr>
          <p:cNvPr id="572" name="Google Shape;572;p26"/>
          <p:cNvSpPr txBox="1"/>
          <p:nvPr/>
        </p:nvSpPr>
        <p:spPr>
          <a:xfrm>
            <a:off x="8046720" y="4572000"/>
            <a:ext cx="33677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50"/>
              <a:buFont typeface="Calibri"/>
              <a:buNone/>
            </a:pPr>
            <a:r>
              <a:rPr b="1" i="0" lang="en-US" sz="1450" u="none" cap="none" strike="noStrike">
                <a:solidFill>
                  <a:srgbClr val="C0392B"/>
                </a:solidFill>
                <a:latin typeface="Calibri"/>
                <a:ea typeface="Calibri"/>
                <a:cs typeface="Calibri"/>
                <a:sym typeface="Calibri"/>
              </a:rPr>
              <a:t>Atenção na comparação</a:t>
            </a:r>
            <a:endParaRPr b="0" i="0" sz="1450" u="none" cap="none" strike="noStrike">
              <a:solidFill>
                <a:schemeClr val="dk1"/>
              </a:solidFill>
              <a:latin typeface="Calibri"/>
              <a:ea typeface="Calibri"/>
              <a:cs typeface="Calibri"/>
              <a:sym typeface="Calibri"/>
            </a:endParaRPr>
          </a:p>
        </p:txBody>
      </p:sp>
      <p:sp>
        <p:nvSpPr>
          <p:cNvPr id="573" name="Google Shape;573;p26"/>
          <p:cNvSpPr txBox="1"/>
          <p:nvPr/>
        </p:nvSpPr>
        <p:spPr>
          <a:xfrm>
            <a:off x="8046720" y="4901184"/>
            <a:ext cx="3367735" cy="109728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A taxa escolhida caiu com o rank: 8e-3 em r = 1, 1e-3 em r = 32. Uma taxa única mistura rank e escala.</a:t>
            </a:r>
            <a:endParaRPr b="0" i="0" sz="1300" u="none" cap="none" strike="noStrike">
              <a:solidFill>
                <a:schemeClr val="dk1"/>
              </a:solidFill>
              <a:latin typeface="Calibri"/>
              <a:ea typeface="Calibri"/>
              <a:cs typeface="Calibri"/>
              <a:sym typeface="Calibri"/>
            </a:endParaRPr>
          </a:p>
        </p:txBody>
      </p:sp>
      <p:sp>
        <p:nvSpPr>
          <p:cNvPr id="574" name="Google Shape;574;p26"/>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7"/>
          <p:cNvSpPr txBox="1"/>
          <p:nvPr>
            <p:ph type="title"/>
          </p:nvPr>
        </p:nvSpPr>
        <p:spPr>
          <a:xfrm>
            <a:off x="777240" y="676656"/>
            <a:ext cx="10637100" cy="567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lang="en-US"/>
              <a:t>Impacto do Rank (r): Parâmetros e Memória VRAM</a:t>
            </a:r>
            <a:endParaRPr sz="3100"/>
          </a:p>
        </p:txBody>
      </p:sp>
      <p:sp>
        <p:nvSpPr>
          <p:cNvPr id="581" name="Google Shape;581;p27"/>
          <p:cNvSpPr txBox="1"/>
          <p:nvPr/>
        </p:nvSpPr>
        <p:spPr>
          <a:xfrm>
            <a:off x="777240" y="1335024"/>
            <a:ext cx="10637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lang="en-US" sz="1450">
                <a:solidFill>
                  <a:schemeClr val="dk1"/>
                </a:solidFill>
                <a:latin typeface="Calibri"/>
                <a:ea typeface="Calibri"/>
                <a:cs typeface="Calibri"/>
                <a:sym typeface="Calibri"/>
              </a:rPr>
              <a:t>Trade-off prático entre capacidade de representação, parâmetros treináveis e consumo de GPU.</a:t>
            </a:r>
            <a:endParaRPr b="0" i="0" sz="1450" u="none" cap="none" strike="noStrike">
              <a:solidFill>
                <a:schemeClr val="dk1"/>
              </a:solidFill>
              <a:latin typeface="Calibri"/>
              <a:ea typeface="Calibri"/>
              <a:cs typeface="Calibri"/>
              <a:sym typeface="Calibri"/>
            </a:endParaRPr>
          </a:p>
        </p:txBody>
      </p:sp>
      <p:sp>
        <p:nvSpPr>
          <p:cNvPr id="582" name="Google Shape;582;p27"/>
          <p:cNvSpPr txBox="1"/>
          <p:nvPr>
            <p:ph idx="4294967295" type="sldNum"/>
          </p:nvPr>
        </p:nvSpPr>
        <p:spPr>
          <a:xfrm>
            <a:off x="10500055" y="6327648"/>
            <a:ext cx="914400" cy="237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
        <p:nvSpPr>
          <p:cNvPr id="583" name="Google Shape;583;p27"/>
          <p:cNvSpPr txBox="1"/>
          <p:nvPr/>
        </p:nvSpPr>
        <p:spPr>
          <a:xfrm>
            <a:off x="8046720" y="1803400"/>
            <a:ext cx="3368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450">
                <a:solidFill>
                  <a:srgbClr val="A55A18"/>
                </a:solidFill>
                <a:latin typeface="Calibri"/>
                <a:ea typeface="Calibri"/>
                <a:cs typeface="Calibri"/>
                <a:sym typeface="Calibri"/>
              </a:rPr>
              <a:t>Sweet Spot: r = 8 a r = 16</a:t>
            </a:r>
            <a:endParaRPr b="1" sz="1450">
              <a:solidFill>
                <a:srgbClr val="A55A18"/>
              </a:solidFill>
              <a:latin typeface="Calibri"/>
              <a:ea typeface="Calibri"/>
              <a:cs typeface="Calibri"/>
              <a:sym typeface="Calibri"/>
            </a:endParaRPr>
          </a:p>
        </p:txBody>
      </p:sp>
      <p:sp>
        <p:nvSpPr>
          <p:cNvPr id="584" name="Google Shape;584;p27"/>
          <p:cNvSpPr txBox="1"/>
          <p:nvPr/>
        </p:nvSpPr>
        <p:spPr>
          <a:xfrm>
            <a:off x="8046720" y="2133600"/>
            <a:ext cx="3368100" cy="114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4B5D73"/>
                </a:solidFill>
                <a:latin typeface="Calibri"/>
                <a:ea typeface="Calibri"/>
                <a:cs typeface="Calibri"/>
                <a:sym typeface="Calibri"/>
              </a:rPr>
              <a:t>Oferece o equilíbrio ideal entre desempenho e eficiência de memória. Em tarefas de fine-tuning, aumentar de r=16 para r=64 quase não agrega acurácia, mas dobra o uso de VRAM e o tamanho do adapter.</a:t>
            </a:r>
            <a:endParaRPr sz="1200">
              <a:solidFill>
                <a:srgbClr val="4B5D73"/>
              </a:solidFill>
              <a:latin typeface="Calibri"/>
              <a:ea typeface="Calibri"/>
              <a:cs typeface="Calibri"/>
              <a:sym typeface="Calibri"/>
            </a:endParaRPr>
          </a:p>
        </p:txBody>
      </p:sp>
      <p:sp>
        <p:nvSpPr>
          <p:cNvPr id="585" name="Google Shape;585;p27"/>
          <p:cNvSpPr txBox="1"/>
          <p:nvPr/>
        </p:nvSpPr>
        <p:spPr>
          <a:xfrm>
            <a:off x="8046720" y="3365500"/>
            <a:ext cx="3368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450">
                <a:solidFill>
                  <a:srgbClr val="0E5F55"/>
                </a:solidFill>
                <a:latin typeface="Calibri"/>
                <a:ea typeface="Calibri"/>
                <a:cs typeface="Calibri"/>
                <a:sym typeface="Calibri"/>
              </a:rPr>
              <a:t>Escala de Parâmetros</a:t>
            </a:r>
            <a:endParaRPr b="1" sz="1450">
              <a:solidFill>
                <a:srgbClr val="0E5F55"/>
              </a:solidFill>
              <a:latin typeface="Calibri"/>
              <a:ea typeface="Calibri"/>
              <a:cs typeface="Calibri"/>
              <a:sym typeface="Calibri"/>
            </a:endParaRPr>
          </a:p>
        </p:txBody>
      </p:sp>
      <p:sp>
        <p:nvSpPr>
          <p:cNvPr id="586" name="Google Shape;586;p27"/>
          <p:cNvSpPr txBox="1"/>
          <p:nvPr/>
        </p:nvSpPr>
        <p:spPr>
          <a:xfrm>
            <a:off x="8046720" y="3695700"/>
            <a:ext cx="3368100" cy="101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4B5D73"/>
                </a:solidFill>
                <a:latin typeface="Calibri"/>
                <a:ea typeface="Calibri"/>
                <a:cs typeface="Calibri"/>
                <a:sym typeface="Calibri"/>
              </a:rPr>
              <a:t>O volume de pesos treináveis escala linearmente com r (2 × d × r por matriz). Com r=8, treina-se apenas ~0,1% dos parâmetros em LLMs de 7B, mantendo checkpoints leves (&lt; 50 MB).</a:t>
            </a:r>
            <a:endParaRPr sz="1200">
              <a:solidFill>
                <a:srgbClr val="4B5D73"/>
              </a:solidFill>
              <a:latin typeface="Calibri"/>
              <a:ea typeface="Calibri"/>
              <a:cs typeface="Calibri"/>
              <a:sym typeface="Calibri"/>
            </a:endParaRPr>
          </a:p>
        </p:txBody>
      </p:sp>
      <p:sp>
        <p:nvSpPr>
          <p:cNvPr id="587" name="Google Shape;587;p27"/>
          <p:cNvSpPr txBox="1"/>
          <p:nvPr/>
        </p:nvSpPr>
        <p:spPr>
          <a:xfrm>
            <a:off x="8046720" y="4826000"/>
            <a:ext cx="3368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450">
                <a:solidFill>
                  <a:srgbClr val="1B365D"/>
                </a:solidFill>
                <a:latin typeface="Calibri"/>
                <a:ea typeface="Calibri"/>
                <a:cs typeface="Calibri"/>
                <a:sym typeface="Calibri"/>
              </a:rPr>
              <a:t>Viabilidade em GPU Única</a:t>
            </a:r>
            <a:endParaRPr b="1" sz="1450">
              <a:solidFill>
                <a:srgbClr val="1B365D"/>
              </a:solidFill>
              <a:latin typeface="Calibri"/>
              <a:ea typeface="Calibri"/>
              <a:cs typeface="Calibri"/>
              <a:sym typeface="Calibri"/>
            </a:endParaRPr>
          </a:p>
        </p:txBody>
      </p:sp>
      <p:sp>
        <p:nvSpPr>
          <p:cNvPr id="588" name="Google Shape;588;p27"/>
          <p:cNvSpPr txBox="1"/>
          <p:nvPr/>
        </p:nvSpPr>
        <p:spPr>
          <a:xfrm>
            <a:off x="8046720" y="5156200"/>
            <a:ext cx="3368100" cy="101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4B5D73"/>
                </a:solidFill>
                <a:latin typeface="Calibri"/>
                <a:ea typeface="Calibri"/>
                <a:cs typeface="Calibri"/>
                <a:sym typeface="Calibri"/>
              </a:rPr>
              <a:t>Com r=8 a 16, o consumo total de VRAM (~12 a 14 GB) viabiliza o ajuste fino em placas comerciais de 16 a 24 GB (como RTX 3090/4090), dispensando clusters multi-GPU caros.</a:t>
            </a:r>
            <a:endParaRPr sz="1200">
              <a:solidFill>
                <a:srgbClr val="4B5D73"/>
              </a:solidFill>
              <a:latin typeface="Calibri"/>
              <a:ea typeface="Calibri"/>
              <a:cs typeface="Calibri"/>
              <a:sym typeface="Calibri"/>
            </a:endParaRPr>
          </a:p>
        </p:txBody>
      </p:sp>
      <p:pic>
        <p:nvPicPr>
          <p:cNvPr id="589" name="Google Shape;589;p27"/>
          <p:cNvPicPr preferRelativeResize="0"/>
          <p:nvPr/>
        </p:nvPicPr>
        <p:blipFill>
          <a:blip r:embed="rId3">
            <a:alphaModFix/>
          </a:blip>
          <a:stretch>
            <a:fillRect/>
          </a:stretch>
        </p:blipFill>
        <p:spPr>
          <a:xfrm>
            <a:off x="778510" y="1783080"/>
            <a:ext cx="6946900" cy="3886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28"/>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Alpha: o volume do desvio</a:t>
            </a:r>
            <a:endParaRPr sz="3100"/>
          </a:p>
        </p:txBody>
      </p:sp>
      <p:sp>
        <p:nvSpPr>
          <p:cNvPr id="596" name="Google Shape;596;p28"/>
          <p:cNvSpPr/>
          <p:nvPr/>
        </p:nvSpPr>
        <p:spPr>
          <a:xfrm>
            <a:off x="777240" y="1463040"/>
            <a:ext cx="4297680" cy="777240"/>
          </a:xfrm>
          <a:prstGeom prst="roundRect">
            <a:avLst>
              <a:gd fmla="val 9412" name="adj"/>
            </a:avLst>
          </a:prstGeom>
          <a:solidFill>
            <a:srgbClr val="FFFFFF"/>
          </a:solidFill>
          <a:ln cap="flat" cmpd="sng" w="15225">
            <a:solidFill>
              <a:srgbClr val="17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8"/>
          <p:cNvSpPr txBox="1"/>
          <p:nvPr/>
        </p:nvSpPr>
        <p:spPr>
          <a:xfrm>
            <a:off x="1005840" y="1463040"/>
            <a:ext cx="3886200" cy="777240"/>
          </a:xfrm>
          <a:prstGeom prst="rect">
            <a:avLst/>
          </a:prstGeom>
          <a:noFill/>
          <a:ln>
            <a:noFill/>
          </a:ln>
        </p:spPr>
        <p:txBody>
          <a:bodyPr anchorCtr="0" anchor="ctr" bIns="0" lIns="0" spcFirstLastPara="1" rIns="0" wrap="square" tIns="0">
            <a:noAutofit/>
          </a:bodyPr>
          <a:lstStyle/>
          <a:p>
            <a:pPr indent="0" lvl="0" marL="0" marR="0" rtl="0" algn="l">
              <a:lnSpc>
                <a:spcPct val="135714"/>
              </a:lnSpc>
              <a:spcBef>
                <a:spcPts val="0"/>
              </a:spcBef>
              <a:spcAft>
                <a:spcPts val="0"/>
              </a:spcAft>
              <a:buClr>
                <a:srgbClr val="0E5F55"/>
              </a:buClr>
              <a:buSzPts val="1400"/>
              <a:buFont typeface="Calibri"/>
              <a:buNone/>
            </a:pPr>
            <a:r>
              <a:rPr b="1" i="0" lang="en-US" sz="1400" u="none" cap="none" strike="noStrike">
                <a:solidFill>
                  <a:srgbClr val="0E5F55"/>
                </a:solidFill>
                <a:latin typeface="Calibri"/>
                <a:ea typeface="Calibri"/>
                <a:cs typeface="Calibri"/>
                <a:sym typeface="Calibri"/>
              </a:rPr>
              <a:t>α/r </a:t>
            </a:r>
            <a:r>
              <a:rPr b="0" i="0" lang="en-US" sz="1400" u="none" cap="none" strike="noStrike">
                <a:solidFill>
                  <a:srgbClr val="4B5D73"/>
                </a:solidFill>
                <a:latin typeface="Calibri"/>
                <a:ea typeface="Calibri"/>
                <a:cs typeface="Calibri"/>
                <a:sym typeface="Calibri"/>
              </a:rPr>
              <a:t>regula quanto o desvio A·B pesa diante dos pesos originais W.</a:t>
            </a:r>
            <a:endParaRPr b="0" i="0" sz="1400" u="none" cap="none" strike="noStrike">
              <a:solidFill>
                <a:schemeClr val="dk1"/>
              </a:solidFill>
              <a:latin typeface="Calibri"/>
              <a:ea typeface="Calibri"/>
              <a:cs typeface="Calibri"/>
              <a:sym typeface="Calibri"/>
            </a:endParaRPr>
          </a:p>
        </p:txBody>
      </p:sp>
      <p:cxnSp>
        <p:nvCxnSpPr>
          <p:cNvPr id="598" name="Google Shape;598;p28"/>
          <p:cNvCxnSpPr/>
          <p:nvPr/>
        </p:nvCxnSpPr>
        <p:spPr>
          <a:xfrm>
            <a:off x="5074920" y="1664208"/>
            <a:ext cx="3566160" cy="0"/>
          </a:xfrm>
          <a:prstGeom prst="straightConnector1">
            <a:avLst/>
          </a:prstGeom>
          <a:noFill/>
          <a:ln cap="flat" cmpd="sng" w="19050">
            <a:solidFill>
              <a:srgbClr val="17897B"/>
            </a:solidFill>
            <a:prstDash val="solid"/>
            <a:round/>
            <a:headEnd len="sm" w="sm" type="none"/>
            <a:tailEnd len="sm" w="sm" type="none"/>
          </a:ln>
        </p:spPr>
      </p:cxnSp>
      <p:cxnSp>
        <p:nvCxnSpPr>
          <p:cNvPr id="599" name="Google Shape;599;p28"/>
          <p:cNvCxnSpPr/>
          <p:nvPr/>
        </p:nvCxnSpPr>
        <p:spPr>
          <a:xfrm>
            <a:off x="8641080" y="1664208"/>
            <a:ext cx="0" cy="329184"/>
          </a:xfrm>
          <a:prstGeom prst="straightConnector1">
            <a:avLst/>
          </a:prstGeom>
          <a:noFill/>
          <a:ln cap="flat" cmpd="sng" w="19050">
            <a:solidFill>
              <a:srgbClr val="17897B"/>
            </a:solidFill>
            <a:prstDash val="solid"/>
            <a:round/>
            <a:headEnd len="sm" w="sm" type="none"/>
            <a:tailEnd len="med" w="med" type="triangle"/>
          </a:ln>
        </p:spPr>
      </p:cxnSp>
      <p:sp>
        <p:nvSpPr>
          <p:cNvPr id="600" name="Google Shape;600;p28"/>
          <p:cNvSpPr txBox="1"/>
          <p:nvPr/>
        </p:nvSpPr>
        <p:spPr>
          <a:xfrm>
            <a:off x="5760720" y="2011680"/>
            <a:ext cx="2240280" cy="6400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F1C2E"/>
              </a:buClr>
              <a:buSzPts val="3000"/>
              <a:buFont typeface="Cambria"/>
              <a:buNone/>
            </a:pPr>
            <a:r>
              <a:rPr b="0" i="0" lang="en-US" sz="3000" u="none" cap="none" strike="noStrike">
                <a:solidFill>
                  <a:srgbClr val="0F1C2E"/>
                </a:solidFill>
                <a:latin typeface="Cambria"/>
                <a:ea typeface="Cambria"/>
                <a:cs typeface="Cambria"/>
                <a:sym typeface="Cambria"/>
              </a:rPr>
              <a:t>W' = W +</a:t>
            </a:r>
            <a:endParaRPr b="0" i="0" sz="3000" u="none" cap="none" strike="noStrike">
              <a:solidFill>
                <a:schemeClr val="dk1"/>
              </a:solidFill>
              <a:latin typeface="Calibri"/>
              <a:ea typeface="Calibri"/>
              <a:cs typeface="Calibri"/>
              <a:sym typeface="Calibri"/>
            </a:endParaRPr>
          </a:p>
        </p:txBody>
      </p:sp>
      <p:sp>
        <p:nvSpPr>
          <p:cNvPr id="601" name="Google Shape;601;p28"/>
          <p:cNvSpPr/>
          <p:nvPr/>
        </p:nvSpPr>
        <p:spPr>
          <a:xfrm>
            <a:off x="8092440" y="2011680"/>
            <a:ext cx="1097280" cy="640080"/>
          </a:xfrm>
          <a:prstGeom prst="roundRect">
            <a:avLst>
              <a:gd fmla="val 8571" name="adj"/>
            </a:avLst>
          </a:prstGeom>
          <a:solidFill>
            <a:srgbClr val="FBEFE1"/>
          </a:solidFill>
          <a:ln cap="flat" cmpd="sng" w="19050">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8"/>
          <p:cNvSpPr txBox="1"/>
          <p:nvPr/>
        </p:nvSpPr>
        <p:spPr>
          <a:xfrm>
            <a:off x="8092440" y="2011680"/>
            <a:ext cx="10972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55A18"/>
              </a:buClr>
              <a:buSzPts val="2800"/>
              <a:buFont typeface="Cambria"/>
              <a:buNone/>
            </a:pPr>
            <a:r>
              <a:rPr b="0" i="1" lang="en-US" sz="2800" u="none" cap="none" strike="noStrike">
                <a:solidFill>
                  <a:srgbClr val="A55A18"/>
                </a:solidFill>
                <a:latin typeface="Cambria"/>
                <a:ea typeface="Cambria"/>
                <a:cs typeface="Cambria"/>
                <a:sym typeface="Cambria"/>
              </a:rPr>
              <a:t>α / r</a:t>
            </a:r>
            <a:endParaRPr b="0" i="0" sz="2800" u="none" cap="none" strike="noStrike">
              <a:solidFill>
                <a:schemeClr val="dk1"/>
              </a:solidFill>
              <a:latin typeface="Calibri"/>
              <a:ea typeface="Calibri"/>
              <a:cs typeface="Calibri"/>
              <a:sym typeface="Calibri"/>
            </a:endParaRPr>
          </a:p>
        </p:txBody>
      </p:sp>
      <p:sp>
        <p:nvSpPr>
          <p:cNvPr id="603" name="Google Shape;603;p28"/>
          <p:cNvSpPr txBox="1"/>
          <p:nvPr/>
        </p:nvSpPr>
        <p:spPr>
          <a:xfrm>
            <a:off x="9281160" y="2011680"/>
            <a:ext cx="1828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3000"/>
              <a:buFont typeface="Cambria"/>
              <a:buNone/>
            </a:pPr>
            <a:r>
              <a:rPr b="0" i="0" lang="en-US" sz="3000" u="none" cap="none" strike="noStrike">
                <a:solidFill>
                  <a:srgbClr val="0F1C2E"/>
                </a:solidFill>
                <a:latin typeface="Cambria"/>
                <a:ea typeface="Cambria"/>
                <a:cs typeface="Cambria"/>
                <a:sym typeface="Cambria"/>
              </a:rPr>
              <a:t>· A · B</a:t>
            </a:r>
            <a:endParaRPr b="0" i="0" sz="3000" u="none" cap="none" strike="noStrike">
              <a:solidFill>
                <a:schemeClr val="dk1"/>
              </a:solidFill>
              <a:latin typeface="Calibri"/>
              <a:ea typeface="Calibri"/>
              <a:cs typeface="Calibri"/>
              <a:sym typeface="Calibri"/>
            </a:endParaRPr>
          </a:p>
        </p:txBody>
      </p:sp>
      <p:pic>
        <p:nvPicPr>
          <p:cNvPr id="604" name="Google Shape;604;p28"/>
          <p:cNvPicPr preferRelativeResize="0"/>
          <p:nvPr/>
        </p:nvPicPr>
        <p:blipFill rotWithShape="1">
          <a:blip r:embed="rId3">
            <a:alphaModFix/>
          </a:blip>
          <a:srcRect b="0" l="0" r="0" t="0"/>
          <a:stretch/>
        </p:blipFill>
        <p:spPr>
          <a:xfrm>
            <a:off x="777240" y="2834640"/>
            <a:ext cx="6583680" cy="2697480"/>
          </a:xfrm>
          <a:prstGeom prst="rect">
            <a:avLst/>
          </a:prstGeom>
          <a:noFill/>
          <a:ln>
            <a:noFill/>
          </a:ln>
        </p:spPr>
      </p:pic>
      <p:sp>
        <p:nvSpPr>
          <p:cNvPr id="605" name="Google Shape;605;p28"/>
          <p:cNvSpPr txBox="1"/>
          <p:nvPr/>
        </p:nvSpPr>
        <p:spPr>
          <a:xfrm>
            <a:off x="777240" y="5669280"/>
            <a:ext cx="6583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1100"/>
              <a:buFont typeface="Calibri"/>
              <a:buNone/>
            </a:pPr>
            <a:r>
              <a:rPr b="0" i="1" lang="en-US" sz="1100" u="none" cap="none" strike="noStrike">
                <a:solidFill>
                  <a:srgbClr val="8494A6"/>
                </a:solidFill>
                <a:latin typeface="Calibri"/>
                <a:ea typeface="Calibri"/>
                <a:cs typeface="Calibri"/>
                <a:sym typeface="Calibri"/>
              </a:rPr>
              <a:t>nosso modelo: r = 8 e taxa fixa em 1e-3; só α muda</a:t>
            </a:r>
            <a:endParaRPr b="0" i="0" sz="1100" u="none" cap="none" strike="noStrike">
              <a:solidFill>
                <a:schemeClr val="dk1"/>
              </a:solidFill>
              <a:latin typeface="Calibri"/>
              <a:ea typeface="Calibri"/>
              <a:cs typeface="Calibri"/>
              <a:sym typeface="Calibri"/>
            </a:endParaRPr>
          </a:p>
        </p:txBody>
      </p:sp>
      <p:sp>
        <p:nvSpPr>
          <p:cNvPr id="606" name="Google Shape;606;p28"/>
          <p:cNvSpPr txBox="1"/>
          <p:nvPr/>
        </p:nvSpPr>
        <p:spPr>
          <a:xfrm>
            <a:off x="7680960" y="2880360"/>
            <a:ext cx="373349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450"/>
              <a:buFont typeface="Calibri"/>
              <a:buNone/>
            </a:pPr>
            <a:r>
              <a:rPr b="1" i="0" lang="en-US" sz="1450" u="none" cap="none" strike="noStrike">
                <a:solidFill>
                  <a:srgbClr val="A55A18"/>
                </a:solidFill>
                <a:latin typeface="Calibri"/>
                <a:ea typeface="Calibri"/>
                <a:cs typeface="Calibri"/>
                <a:sym typeface="Calibri"/>
              </a:rPr>
              <a:t>Alpha e taxa andam juntos</a:t>
            </a:r>
            <a:endParaRPr b="0" i="0" sz="1450" u="none" cap="none" strike="noStrike">
              <a:solidFill>
                <a:schemeClr val="dk1"/>
              </a:solidFill>
              <a:latin typeface="Calibri"/>
              <a:ea typeface="Calibri"/>
              <a:cs typeface="Calibri"/>
              <a:sym typeface="Calibri"/>
            </a:endParaRPr>
          </a:p>
        </p:txBody>
      </p:sp>
      <p:sp>
        <p:nvSpPr>
          <p:cNvPr id="607" name="Google Shape;607;p28"/>
          <p:cNvSpPr txBox="1"/>
          <p:nvPr/>
        </p:nvSpPr>
        <p:spPr>
          <a:xfrm>
            <a:off x="7680960" y="3209544"/>
            <a:ext cx="3733495" cy="86868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Com Adam, ajustar α equivale grosso modo a ajustar a taxa (Hu et al., 2021). Mudou α ou r? Refaça a busca de taxa.</a:t>
            </a:r>
            <a:endParaRPr b="0" i="0" sz="1300" u="none" cap="none" strike="noStrike">
              <a:solidFill>
                <a:schemeClr val="dk1"/>
              </a:solidFill>
              <a:latin typeface="Calibri"/>
              <a:ea typeface="Calibri"/>
              <a:cs typeface="Calibri"/>
              <a:sym typeface="Calibri"/>
            </a:endParaRPr>
          </a:p>
        </p:txBody>
      </p:sp>
      <p:sp>
        <p:nvSpPr>
          <p:cNvPr id="608" name="Google Shape;608;p28"/>
          <p:cNvSpPr txBox="1"/>
          <p:nvPr/>
        </p:nvSpPr>
        <p:spPr>
          <a:xfrm>
            <a:off x="7680960" y="4206240"/>
            <a:ext cx="373349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450"/>
              <a:buFont typeface="Calibri"/>
              <a:buNone/>
            </a:pPr>
            <a:r>
              <a:rPr b="1" i="0" lang="en-US" sz="1450" u="none" cap="none" strike="noStrike">
                <a:solidFill>
                  <a:srgbClr val="0F1C2E"/>
                </a:solidFill>
                <a:latin typeface="Calibri"/>
                <a:ea typeface="Calibri"/>
                <a:cs typeface="Calibri"/>
                <a:sym typeface="Calibri"/>
              </a:rPr>
              <a:t>Convenções</a:t>
            </a:r>
            <a:endParaRPr b="0" i="0" sz="1450" u="none" cap="none" strike="noStrike">
              <a:solidFill>
                <a:schemeClr val="dk1"/>
              </a:solidFill>
              <a:latin typeface="Calibri"/>
              <a:ea typeface="Calibri"/>
              <a:cs typeface="Calibri"/>
              <a:sym typeface="Calibri"/>
            </a:endParaRPr>
          </a:p>
        </p:txBody>
      </p:sp>
      <p:sp>
        <p:nvSpPr>
          <p:cNvPr id="609" name="Google Shape;609;p28"/>
          <p:cNvSpPr txBox="1"/>
          <p:nvPr/>
        </p:nvSpPr>
        <p:spPr>
          <a:xfrm>
            <a:off x="7680960" y="4535424"/>
            <a:ext cx="3733495" cy="118872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O PEFT usa α = 8 por padrão; muitas receitas usam α = 2r, como a semana 6 (r = 16, α = 32). A rsLoRA troca α/r por α/√r para estabilizar ranks altos.</a:t>
            </a:r>
            <a:endParaRPr b="0" i="0" sz="1300" u="none" cap="none" strike="noStrike">
              <a:solidFill>
                <a:schemeClr val="dk1"/>
              </a:solidFill>
              <a:latin typeface="Calibri"/>
              <a:ea typeface="Calibri"/>
              <a:cs typeface="Calibri"/>
              <a:sym typeface="Calibri"/>
            </a:endParaRPr>
          </a:p>
        </p:txBody>
      </p:sp>
      <p:sp>
        <p:nvSpPr>
          <p:cNvPr id="610" name="Google Shape;610;p28"/>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29"/>
          <p:cNvSpPr txBox="1"/>
          <p:nvPr>
            <p:ph type="title"/>
          </p:nvPr>
        </p:nvSpPr>
        <p:spPr>
          <a:xfrm>
            <a:off x="777240" y="676656"/>
            <a:ext cx="10637100" cy="567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lang="en-US"/>
              <a:t>Curvas de Perda: Dinâmica do Hiperparâmetro Alpha</a:t>
            </a:r>
            <a:endParaRPr sz="3100"/>
          </a:p>
        </p:txBody>
      </p:sp>
      <p:sp>
        <p:nvSpPr>
          <p:cNvPr id="617" name="Google Shape;617;p29"/>
          <p:cNvSpPr txBox="1"/>
          <p:nvPr>
            <p:ph idx="4294967295" type="sldNum"/>
          </p:nvPr>
        </p:nvSpPr>
        <p:spPr>
          <a:xfrm>
            <a:off x="10500055" y="6327648"/>
            <a:ext cx="914400" cy="237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
        <p:nvSpPr>
          <p:cNvPr id="618" name="Google Shape;618;p29"/>
          <p:cNvSpPr txBox="1"/>
          <p:nvPr/>
        </p:nvSpPr>
        <p:spPr>
          <a:xfrm>
            <a:off x="777240" y="1320800"/>
            <a:ext cx="10637400" cy="3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450">
                <a:solidFill>
                  <a:srgbClr val="4B5D73"/>
                </a:solidFill>
                <a:latin typeface="Calibri"/>
                <a:ea typeface="Calibri"/>
                <a:cs typeface="Calibri"/>
                <a:sym typeface="Calibri"/>
              </a:rPr>
              <a:t>Comparação de convergência do treinamento (Loss vs Steps) para diferentes escalas de α/r.</a:t>
            </a:r>
            <a:endParaRPr sz="1450">
              <a:solidFill>
                <a:srgbClr val="4B5D73"/>
              </a:solidFill>
              <a:latin typeface="Calibri"/>
              <a:ea typeface="Calibri"/>
              <a:cs typeface="Calibri"/>
              <a:sym typeface="Calibri"/>
            </a:endParaRPr>
          </a:p>
        </p:txBody>
      </p:sp>
      <p:sp>
        <p:nvSpPr>
          <p:cNvPr id="619" name="Google Shape;619;p29"/>
          <p:cNvSpPr txBox="1"/>
          <p:nvPr/>
        </p:nvSpPr>
        <p:spPr>
          <a:xfrm>
            <a:off x="8046720" y="1803400"/>
            <a:ext cx="3368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450">
                <a:solidFill>
                  <a:srgbClr val="A55A18"/>
                </a:solidFill>
                <a:latin typeface="Calibri"/>
                <a:ea typeface="Calibri"/>
                <a:cs typeface="Calibri"/>
                <a:sym typeface="Calibri"/>
              </a:rPr>
              <a:t>Regra Prática: Alpha = 2 × r</a:t>
            </a:r>
            <a:endParaRPr b="1" sz="1450">
              <a:solidFill>
                <a:srgbClr val="A55A18"/>
              </a:solidFill>
              <a:latin typeface="Calibri"/>
              <a:ea typeface="Calibri"/>
              <a:cs typeface="Calibri"/>
              <a:sym typeface="Calibri"/>
            </a:endParaRPr>
          </a:p>
        </p:txBody>
      </p:sp>
      <p:sp>
        <p:nvSpPr>
          <p:cNvPr id="620" name="Google Shape;620;p29"/>
          <p:cNvSpPr txBox="1"/>
          <p:nvPr/>
        </p:nvSpPr>
        <p:spPr>
          <a:xfrm>
            <a:off x="8046720" y="2133600"/>
            <a:ext cx="3368100" cy="114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4B5D73"/>
                </a:solidFill>
                <a:latin typeface="Calibri"/>
                <a:ea typeface="Calibri"/>
                <a:cs typeface="Calibri"/>
                <a:sym typeface="Calibri"/>
              </a:rPr>
              <a:t>Fixar α = 2r (escala α/r = 2) é a convenção recomendada na literatura (Hu et al., QLoRA). Ela equilibra a magnitude da atualização de baixo rank diante da taxa de aprendizado, garantindo descida suave e convergência estável (~0.60).</a:t>
            </a:r>
            <a:endParaRPr sz="1200">
              <a:solidFill>
                <a:srgbClr val="4B5D73"/>
              </a:solidFill>
              <a:latin typeface="Calibri"/>
              <a:ea typeface="Calibri"/>
              <a:cs typeface="Calibri"/>
              <a:sym typeface="Calibri"/>
            </a:endParaRPr>
          </a:p>
        </p:txBody>
      </p:sp>
      <p:sp>
        <p:nvSpPr>
          <p:cNvPr id="621" name="Google Shape;621;p29"/>
          <p:cNvSpPr txBox="1"/>
          <p:nvPr/>
        </p:nvSpPr>
        <p:spPr>
          <a:xfrm>
            <a:off x="8046720" y="3365500"/>
            <a:ext cx="3368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450">
                <a:solidFill>
                  <a:srgbClr val="4B5D73"/>
                </a:solidFill>
                <a:latin typeface="Calibri"/>
                <a:ea typeface="Calibri"/>
                <a:cs typeface="Calibri"/>
                <a:sym typeface="Calibri"/>
              </a:rPr>
              <a:t>Sub-escalonamento (Alpha = 0.5r)</a:t>
            </a:r>
            <a:endParaRPr b="1" sz="1450">
              <a:solidFill>
                <a:srgbClr val="4B5D73"/>
              </a:solidFill>
              <a:latin typeface="Calibri"/>
              <a:ea typeface="Calibri"/>
              <a:cs typeface="Calibri"/>
              <a:sym typeface="Calibri"/>
            </a:endParaRPr>
          </a:p>
        </p:txBody>
      </p:sp>
      <p:sp>
        <p:nvSpPr>
          <p:cNvPr id="622" name="Google Shape;622;p29"/>
          <p:cNvSpPr txBox="1"/>
          <p:nvPr/>
        </p:nvSpPr>
        <p:spPr>
          <a:xfrm>
            <a:off x="8046720" y="3695700"/>
            <a:ext cx="3368100" cy="101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4B5D73"/>
                </a:solidFill>
                <a:latin typeface="Calibri"/>
                <a:ea typeface="Calibri"/>
                <a:cs typeface="Calibri"/>
                <a:sym typeface="Calibri"/>
              </a:rPr>
              <a:t>Com escala baixa demais, o desvio A·B tem peso insuficiente frente aos pesos originais W. A perda diminui muito lentamente e estagna precocemente em um platô alto (~1.85), simulando subajuste.</a:t>
            </a:r>
            <a:endParaRPr sz="1200">
              <a:solidFill>
                <a:srgbClr val="4B5D73"/>
              </a:solidFill>
              <a:latin typeface="Calibri"/>
              <a:ea typeface="Calibri"/>
              <a:cs typeface="Calibri"/>
              <a:sym typeface="Calibri"/>
            </a:endParaRPr>
          </a:p>
        </p:txBody>
      </p:sp>
      <p:sp>
        <p:nvSpPr>
          <p:cNvPr id="623" name="Google Shape;623;p29"/>
          <p:cNvSpPr txBox="1"/>
          <p:nvPr/>
        </p:nvSpPr>
        <p:spPr>
          <a:xfrm>
            <a:off x="8046720" y="4826000"/>
            <a:ext cx="3368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450">
                <a:solidFill>
                  <a:srgbClr val="C0392B"/>
                </a:solidFill>
                <a:latin typeface="Calibri"/>
                <a:ea typeface="Calibri"/>
                <a:cs typeface="Calibri"/>
                <a:sym typeface="Calibri"/>
              </a:rPr>
              <a:t>Sobre-escalonamento (Alpha = 4.0r)</a:t>
            </a:r>
            <a:endParaRPr b="1" sz="1450">
              <a:solidFill>
                <a:srgbClr val="C0392B"/>
              </a:solidFill>
              <a:latin typeface="Calibri"/>
              <a:ea typeface="Calibri"/>
              <a:cs typeface="Calibri"/>
              <a:sym typeface="Calibri"/>
            </a:endParaRPr>
          </a:p>
        </p:txBody>
      </p:sp>
      <p:sp>
        <p:nvSpPr>
          <p:cNvPr id="624" name="Google Shape;624;p29"/>
          <p:cNvSpPr txBox="1"/>
          <p:nvPr/>
        </p:nvSpPr>
        <p:spPr>
          <a:xfrm>
            <a:off x="8046720" y="5156200"/>
            <a:ext cx="3368100" cy="101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4B5D73"/>
                </a:solidFill>
                <a:latin typeface="Calibri"/>
                <a:ea typeface="Calibri"/>
                <a:cs typeface="Calibri"/>
                <a:sym typeface="Calibri"/>
              </a:rPr>
              <a:t>Escalas excessivas superamplificam as atualizações dos gradientes, provocando forte volatilidade, ruído estocástico nos passos e risco iminente de explosão ou divergência do modelo.</a:t>
            </a:r>
            <a:endParaRPr sz="1200">
              <a:solidFill>
                <a:srgbClr val="4B5D73"/>
              </a:solidFill>
              <a:latin typeface="Calibri"/>
              <a:ea typeface="Calibri"/>
              <a:cs typeface="Calibri"/>
              <a:sym typeface="Calibri"/>
            </a:endParaRPr>
          </a:p>
        </p:txBody>
      </p:sp>
      <p:pic>
        <p:nvPicPr>
          <p:cNvPr id="625" name="Google Shape;625;p29"/>
          <p:cNvPicPr preferRelativeResize="0"/>
          <p:nvPr/>
        </p:nvPicPr>
        <p:blipFill>
          <a:blip r:embed="rId3">
            <a:alphaModFix/>
          </a:blip>
          <a:stretch>
            <a:fillRect/>
          </a:stretch>
        </p:blipFill>
        <p:spPr>
          <a:xfrm>
            <a:off x="778510" y="1783080"/>
            <a:ext cx="6946900" cy="3886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0"/>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Módulos-alvo e dropout</a:t>
            </a:r>
            <a:endParaRPr sz="3100"/>
          </a:p>
        </p:txBody>
      </p:sp>
      <p:sp>
        <p:nvSpPr>
          <p:cNvPr id="632" name="Google Shape;632;p30"/>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Onde colocar adapters importa. Cada configuração com a sua busca de taxa; entre parênteses, os parâmetros treináveis.</a:t>
            </a:r>
            <a:endParaRPr b="0" i="0" sz="1450" u="none" cap="none" strike="noStrike">
              <a:solidFill>
                <a:schemeClr val="dk1"/>
              </a:solidFill>
              <a:latin typeface="Calibri"/>
              <a:ea typeface="Calibri"/>
              <a:cs typeface="Calibri"/>
              <a:sym typeface="Calibri"/>
            </a:endParaRPr>
          </a:p>
        </p:txBody>
      </p:sp>
      <p:pic>
        <p:nvPicPr>
          <p:cNvPr id="633" name="Google Shape;633;p30"/>
          <p:cNvPicPr preferRelativeResize="0"/>
          <p:nvPr/>
        </p:nvPicPr>
        <p:blipFill rotWithShape="1">
          <a:blip r:embed="rId3">
            <a:alphaModFix/>
          </a:blip>
          <a:srcRect b="0" l="0" r="0" t="0"/>
          <a:stretch/>
        </p:blipFill>
        <p:spPr>
          <a:xfrm>
            <a:off x="777240" y="1783080"/>
            <a:ext cx="6400800" cy="3840480"/>
          </a:xfrm>
          <a:prstGeom prst="rect">
            <a:avLst/>
          </a:prstGeom>
          <a:noFill/>
          <a:ln>
            <a:noFill/>
          </a:ln>
        </p:spPr>
      </p:pic>
      <p:sp>
        <p:nvSpPr>
          <p:cNvPr id="634" name="Google Shape;634;p30"/>
          <p:cNvSpPr txBox="1"/>
          <p:nvPr/>
        </p:nvSpPr>
        <p:spPr>
          <a:xfrm>
            <a:off x="7498080" y="1810512"/>
            <a:ext cx="391637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450"/>
              <a:buFont typeface="Calibri"/>
              <a:buNone/>
            </a:pPr>
            <a:r>
              <a:rPr b="1" i="0" lang="en-US" sz="1450" u="none" cap="none" strike="noStrike">
                <a:solidFill>
                  <a:srgbClr val="A55A18"/>
                </a:solidFill>
                <a:latin typeface="Calibri"/>
                <a:ea typeface="Calibri"/>
                <a:cs typeface="Calibri"/>
                <a:sym typeface="Calibri"/>
              </a:rPr>
              <a:t>Comparar com parâmetros parecidos</a:t>
            </a:r>
            <a:endParaRPr b="0" i="0" sz="1450" u="none" cap="none" strike="noStrike">
              <a:solidFill>
                <a:schemeClr val="dk1"/>
              </a:solidFill>
              <a:latin typeface="Calibri"/>
              <a:ea typeface="Calibri"/>
              <a:cs typeface="Calibri"/>
              <a:sym typeface="Calibri"/>
            </a:endParaRPr>
          </a:p>
        </p:txBody>
      </p:sp>
      <p:sp>
        <p:nvSpPr>
          <p:cNvPr id="635" name="Google Shape;635;p30"/>
          <p:cNvSpPr txBox="1"/>
          <p:nvPr/>
        </p:nvSpPr>
        <p:spPr>
          <a:xfrm>
            <a:off x="7498080" y="2139696"/>
            <a:ext cx="3916375" cy="128016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Atenção com r = 13 tem quase os mesmos parâmetros que MLP com r = 8. Assim a diferença não vem só do tamanho do adapter.</a:t>
            </a:r>
            <a:endParaRPr b="0" i="0" sz="1300" u="none" cap="none" strike="noStrike">
              <a:solidFill>
                <a:schemeClr val="dk1"/>
              </a:solidFill>
              <a:latin typeface="Calibri"/>
              <a:ea typeface="Calibri"/>
              <a:cs typeface="Calibri"/>
              <a:sym typeface="Calibri"/>
            </a:endParaRPr>
          </a:p>
        </p:txBody>
      </p:sp>
      <p:sp>
        <p:nvSpPr>
          <p:cNvPr id="636" name="Google Shape;636;p30"/>
          <p:cNvSpPr txBox="1"/>
          <p:nvPr/>
        </p:nvSpPr>
        <p:spPr>
          <a:xfrm>
            <a:off x="7498080" y="3200400"/>
            <a:ext cx="391637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5F55"/>
              </a:buClr>
              <a:buSzPts val="1450"/>
              <a:buFont typeface="Calibri"/>
              <a:buNone/>
            </a:pPr>
            <a:r>
              <a:rPr b="1" i="0" lang="en-US" sz="1450" u="none" cap="none" strike="noStrike">
                <a:solidFill>
                  <a:srgbClr val="0E5F55"/>
                </a:solidFill>
                <a:latin typeface="Calibri"/>
                <a:ea typeface="Calibri"/>
                <a:cs typeface="Calibri"/>
                <a:sym typeface="Calibri"/>
              </a:rPr>
              <a:t>Na literatura, depende</a:t>
            </a:r>
            <a:endParaRPr b="0" i="0" sz="1450" u="none" cap="none" strike="noStrike">
              <a:solidFill>
                <a:schemeClr val="dk1"/>
              </a:solidFill>
              <a:latin typeface="Calibri"/>
              <a:ea typeface="Calibri"/>
              <a:cs typeface="Calibri"/>
              <a:sym typeface="Calibri"/>
            </a:endParaRPr>
          </a:p>
        </p:txBody>
      </p:sp>
      <p:sp>
        <p:nvSpPr>
          <p:cNvPr id="637" name="Google Shape;637;p30"/>
          <p:cNvSpPr txBox="1"/>
          <p:nvPr/>
        </p:nvSpPr>
        <p:spPr>
          <a:xfrm>
            <a:off x="7498080" y="3529584"/>
            <a:ext cx="3916375" cy="128016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O artigo da LoRA adaptou só a atenção. QLoRA e o estudo da Thinking Machines (2025) recomendam todas as lineares, sobretudo a MLP.</a:t>
            </a:r>
            <a:endParaRPr b="0" i="0" sz="1300" u="none" cap="none" strike="noStrike">
              <a:solidFill>
                <a:schemeClr val="dk1"/>
              </a:solidFill>
              <a:latin typeface="Calibri"/>
              <a:ea typeface="Calibri"/>
              <a:cs typeface="Calibri"/>
              <a:sym typeface="Calibri"/>
            </a:endParaRPr>
          </a:p>
        </p:txBody>
      </p:sp>
      <p:graphicFrame>
        <p:nvGraphicFramePr>
          <p:cNvPr id="638" name="Google Shape;638;p30"/>
          <p:cNvGraphicFramePr/>
          <p:nvPr/>
        </p:nvGraphicFramePr>
        <p:xfrm>
          <a:off x="7498080" y="4617720"/>
          <a:ext cx="3000000" cy="3000000"/>
        </p:xfrm>
        <a:graphic>
          <a:graphicData uri="http://schemas.openxmlformats.org/drawingml/2006/table">
            <a:tbl>
              <a:tblPr>
                <a:noFill/>
                <a:tableStyleId>{899A2ED6-0AEB-45F8-B290-8317CC3EE3F4}</a:tableStyleId>
              </a:tblPr>
              <a:tblGrid>
                <a:gridCol w="2179025"/>
                <a:gridCol w="1737350"/>
              </a:tblGrid>
              <a:tr h="27432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lora_dropout (r = 8)</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Acerto no teste</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r>
              <a:tr h="274325">
                <a:tc>
                  <a:txBody>
                    <a:bodyPr/>
                    <a:lstStyle/>
                    <a:p>
                      <a:pPr indent="0" lvl="0" marL="0" marR="0" rtl="0" algn="l">
                        <a:spcBef>
                          <a:spcPts val="0"/>
                        </a:spcBef>
                        <a:spcAft>
                          <a:spcPts val="0"/>
                        </a:spcAft>
                        <a:buClr>
                          <a:srgbClr val="0F1C2E"/>
                        </a:buClr>
                        <a:buSzPts val="1200"/>
                        <a:buFont typeface="Calibri"/>
                        <a:buNone/>
                      </a:pPr>
                      <a:r>
                        <a:rPr b="1" lang="en-US" sz="1200" u="none" cap="none" strike="noStrike">
                          <a:solidFill>
                            <a:srgbClr val="0F1C2E"/>
                          </a:solidFill>
                          <a:latin typeface="Calibri"/>
                          <a:ea typeface="Calibri"/>
                          <a:cs typeface="Calibri"/>
                          <a:sym typeface="Calibri"/>
                        </a:rPr>
                        <a:t>0,0</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00"/>
                        <a:buFont typeface="Calibri"/>
                        <a:buNone/>
                      </a:pPr>
                      <a:r>
                        <a:rPr lang="en-US" sz="1200" u="none" cap="none" strike="noStrike">
                          <a:solidFill>
                            <a:srgbClr val="4B5D73"/>
                          </a:solidFill>
                          <a:latin typeface="Calibri"/>
                          <a:ea typeface="Calibri"/>
                          <a:cs typeface="Calibri"/>
                          <a:sym typeface="Calibri"/>
                        </a:rPr>
                        <a:t>87%</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0F1C2E"/>
                        </a:buClr>
                        <a:buSzPts val="1200"/>
                        <a:buFont typeface="Calibri"/>
                        <a:buNone/>
                      </a:pPr>
                      <a:r>
                        <a:rPr b="1" lang="en-US" sz="1200" u="none" cap="none" strike="noStrike">
                          <a:solidFill>
                            <a:srgbClr val="0F1C2E"/>
                          </a:solidFill>
                          <a:latin typeface="Calibri"/>
                          <a:ea typeface="Calibri"/>
                          <a:cs typeface="Calibri"/>
                          <a:sym typeface="Calibri"/>
                        </a:rPr>
                        <a:t>0,1</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00"/>
                        <a:buFont typeface="Calibri"/>
                        <a:buNone/>
                      </a:pPr>
                      <a:r>
                        <a:rPr lang="en-US" sz="1200" u="none" cap="none" strike="noStrike">
                          <a:solidFill>
                            <a:srgbClr val="4B5D73"/>
                          </a:solidFill>
                          <a:latin typeface="Calibri"/>
                          <a:ea typeface="Calibri"/>
                          <a:cs typeface="Calibri"/>
                          <a:sym typeface="Calibri"/>
                        </a:rPr>
                        <a:t>85%</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r>
              <a:tr h="274325">
                <a:tc>
                  <a:txBody>
                    <a:bodyPr/>
                    <a:lstStyle/>
                    <a:p>
                      <a:pPr indent="0" lvl="0" marL="0" marR="0" rtl="0" algn="l">
                        <a:spcBef>
                          <a:spcPts val="0"/>
                        </a:spcBef>
                        <a:spcAft>
                          <a:spcPts val="0"/>
                        </a:spcAft>
                        <a:buClr>
                          <a:srgbClr val="0F1C2E"/>
                        </a:buClr>
                        <a:buSzPts val="1200"/>
                        <a:buFont typeface="Calibri"/>
                        <a:buNone/>
                      </a:pPr>
                      <a:r>
                        <a:rPr b="1" lang="en-US" sz="1200" u="none" cap="none" strike="noStrike">
                          <a:solidFill>
                            <a:srgbClr val="0F1C2E"/>
                          </a:solidFill>
                          <a:latin typeface="Calibri"/>
                          <a:ea typeface="Calibri"/>
                          <a:cs typeface="Calibri"/>
                          <a:sym typeface="Calibri"/>
                        </a:rPr>
                        <a:t>0,3</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00"/>
                        <a:buFont typeface="Calibri"/>
                        <a:buNone/>
                      </a:pPr>
                      <a:r>
                        <a:rPr lang="en-US" sz="1200" u="none" cap="none" strike="noStrike">
                          <a:solidFill>
                            <a:srgbClr val="4B5D73"/>
                          </a:solidFill>
                          <a:latin typeface="Calibri"/>
                          <a:ea typeface="Calibri"/>
                          <a:cs typeface="Calibri"/>
                          <a:sym typeface="Calibri"/>
                        </a:rPr>
                        <a:t>75%</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bl>
          </a:graphicData>
        </a:graphic>
      </p:graphicFrame>
      <p:sp>
        <p:nvSpPr>
          <p:cNvPr id="639" name="Google Shape;639;p30"/>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31"/>
          <p:cNvSpPr txBox="1"/>
          <p:nvPr>
            <p:ph type="title"/>
          </p:nvPr>
        </p:nvSpPr>
        <p:spPr>
          <a:xfrm>
            <a:off x="777240" y="676656"/>
            <a:ext cx="10637100" cy="567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lang="en-US"/>
              <a:t>Alocação de Memória VRAM no Fine-Tuning LoRA</a:t>
            </a:r>
            <a:endParaRPr sz="3100"/>
          </a:p>
        </p:txBody>
      </p:sp>
      <p:sp>
        <p:nvSpPr>
          <p:cNvPr id="646" name="Google Shape;646;p31"/>
          <p:cNvSpPr txBox="1"/>
          <p:nvPr/>
        </p:nvSpPr>
        <p:spPr>
          <a:xfrm>
            <a:off x="777240" y="1335024"/>
            <a:ext cx="10637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lang="en-US" sz="1450">
                <a:solidFill>
                  <a:schemeClr val="dk1"/>
                </a:solidFill>
                <a:latin typeface="Calibri"/>
                <a:ea typeface="Calibri"/>
                <a:cs typeface="Calibri"/>
                <a:sym typeface="Calibri"/>
              </a:rPr>
              <a:t>Distribuição percentual da VRAM e a principal fonte de economia em relação ao Full Fine-Tuning.</a:t>
            </a:r>
            <a:endParaRPr b="0" i="0" sz="1450" u="none" cap="none" strike="noStrike">
              <a:solidFill>
                <a:schemeClr val="dk1"/>
              </a:solidFill>
              <a:latin typeface="Calibri"/>
              <a:ea typeface="Calibri"/>
              <a:cs typeface="Calibri"/>
              <a:sym typeface="Calibri"/>
            </a:endParaRPr>
          </a:p>
        </p:txBody>
      </p:sp>
      <p:sp>
        <p:nvSpPr>
          <p:cNvPr id="647" name="Google Shape;647;p31"/>
          <p:cNvSpPr txBox="1"/>
          <p:nvPr>
            <p:ph idx="4294967295" type="sldNum"/>
          </p:nvPr>
        </p:nvSpPr>
        <p:spPr>
          <a:xfrm>
            <a:off x="10500055" y="6327648"/>
            <a:ext cx="914400" cy="237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
        <p:nvSpPr>
          <p:cNvPr id="648" name="Google Shape;648;p31"/>
          <p:cNvSpPr txBox="1"/>
          <p:nvPr/>
        </p:nvSpPr>
        <p:spPr>
          <a:xfrm>
            <a:off x="8046720" y="1803400"/>
            <a:ext cx="3368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450">
                <a:solidFill>
                  <a:srgbClr val="A55A18"/>
                </a:solidFill>
                <a:latin typeface="Calibri"/>
                <a:ea typeface="Calibri"/>
                <a:cs typeface="Calibri"/>
                <a:sym typeface="Calibri"/>
              </a:rPr>
              <a:t>Onde Ocorre a Grande Economia</a:t>
            </a:r>
            <a:endParaRPr b="1" sz="1450">
              <a:solidFill>
                <a:srgbClr val="A55A18"/>
              </a:solidFill>
              <a:latin typeface="Calibri"/>
              <a:ea typeface="Calibri"/>
              <a:cs typeface="Calibri"/>
              <a:sym typeface="Calibri"/>
            </a:endParaRPr>
          </a:p>
        </p:txBody>
      </p:sp>
      <p:sp>
        <p:nvSpPr>
          <p:cNvPr id="649" name="Google Shape;649;p31"/>
          <p:cNvSpPr txBox="1"/>
          <p:nvPr/>
        </p:nvSpPr>
        <p:spPr>
          <a:xfrm>
            <a:off x="8046720" y="2133600"/>
            <a:ext cx="3368100" cy="114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4B5D73"/>
                </a:solidFill>
                <a:latin typeface="Calibri"/>
                <a:ea typeface="Calibri"/>
                <a:cs typeface="Calibri"/>
                <a:sym typeface="Calibri"/>
              </a:rPr>
              <a:t>No ajuste completo com AdamW, os estados do otimizador exigem 12 bytes/parâmetro (&gt;60% da VRAM total). Na LoRA, esses estados existem apenas para as matrizes finas A e B, reduzindo essa fatia para cerca de 15%!</a:t>
            </a:r>
            <a:endParaRPr sz="1200">
              <a:solidFill>
                <a:srgbClr val="4B5D73"/>
              </a:solidFill>
              <a:latin typeface="Calibri"/>
              <a:ea typeface="Calibri"/>
              <a:cs typeface="Calibri"/>
              <a:sym typeface="Calibri"/>
            </a:endParaRPr>
          </a:p>
        </p:txBody>
      </p:sp>
      <p:sp>
        <p:nvSpPr>
          <p:cNvPr id="650" name="Google Shape;650;p31"/>
          <p:cNvSpPr txBox="1"/>
          <p:nvPr/>
        </p:nvSpPr>
        <p:spPr>
          <a:xfrm>
            <a:off x="8046720" y="3365500"/>
            <a:ext cx="3368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450">
                <a:solidFill>
                  <a:srgbClr val="1B365D"/>
                </a:solidFill>
                <a:latin typeface="Calibri"/>
                <a:ea typeface="Calibri"/>
                <a:cs typeface="Calibri"/>
                <a:sym typeface="Calibri"/>
              </a:rPr>
              <a:t>Pesos Congelados da Base (~75%)</a:t>
            </a:r>
            <a:endParaRPr b="1" sz="1450">
              <a:solidFill>
                <a:srgbClr val="1B365D"/>
              </a:solidFill>
              <a:latin typeface="Calibri"/>
              <a:ea typeface="Calibri"/>
              <a:cs typeface="Calibri"/>
              <a:sym typeface="Calibri"/>
            </a:endParaRPr>
          </a:p>
        </p:txBody>
      </p:sp>
      <p:sp>
        <p:nvSpPr>
          <p:cNvPr id="651" name="Google Shape;651;p31"/>
          <p:cNvSpPr txBox="1"/>
          <p:nvPr/>
        </p:nvSpPr>
        <p:spPr>
          <a:xfrm>
            <a:off x="8046720" y="3695700"/>
            <a:ext cx="3368100" cy="101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4B5D73"/>
                </a:solidFill>
                <a:latin typeface="Calibri"/>
                <a:ea typeface="Calibri"/>
                <a:cs typeface="Calibri"/>
                <a:sym typeface="Calibri"/>
              </a:rPr>
              <a:t>Os pesos originais em 16 bits (bf16/fp16) representam o consumo estático majoritário. Como não recebem gradientes nem cópias no otimizador, seu uso de memória é 100% constante durante o treino.</a:t>
            </a:r>
            <a:endParaRPr sz="1200">
              <a:solidFill>
                <a:srgbClr val="4B5D73"/>
              </a:solidFill>
              <a:latin typeface="Calibri"/>
              <a:ea typeface="Calibri"/>
              <a:cs typeface="Calibri"/>
              <a:sym typeface="Calibri"/>
            </a:endParaRPr>
          </a:p>
        </p:txBody>
      </p:sp>
      <p:sp>
        <p:nvSpPr>
          <p:cNvPr id="652" name="Google Shape;652;p31"/>
          <p:cNvSpPr txBox="1"/>
          <p:nvPr/>
        </p:nvSpPr>
        <p:spPr>
          <a:xfrm>
            <a:off x="8046720" y="4826000"/>
            <a:ext cx="33681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450">
                <a:solidFill>
                  <a:srgbClr val="0E5F55"/>
                </a:solidFill>
                <a:latin typeface="Calibri"/>
                <a:ea typeface="Calibri"/>
                <a:cs typeface="Calibri"/>
                <a:sym typeface="Calibri"/>
              </a:rPr>
              <a:t>Ativações e Gradientes (~10%)</a:t>
            </a:r>
            <a:endParaRPr b="1" sz="1450">
              <a:solidFill>
                <a:srgbClr val="0E5F55"/>
              </a:solidFill>
              <a:latin typeface="Calibri"/>
              <a:ea typeface="Calibri"/>
              <a:cs typeface="Calibri"/>
              <a:sym typeface="Calibri"/>
            </a:endParaRPr>
          </a:p>
        </p:txBody>
      </p:sp>
      <p:sp>
        <p:nvSpPr>
          <p:cNvPr id="653" name="Google Shape;653;p31"/>
          <p:cNvSpPr txBox="1"/>
          <p:nvPr/>
        </p:nvSpPr>
        <p:spPr>
          <a:xfrm>
            <a:off x="8046720" y="5156200"/>
            <a:ext cx="3368100" cy="101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200">
                <a:solidFill>
                  <a:srgbClr val="4B5D73"/>
                </a:solidFill>
                <a:latin typeface="Calibri"/>
                <a:ea typeface="Calibri"/>
                <a:cs typeface="Calibri"/>
                <a:sym typeface="Calibri"/>
              </a:rPr>
              <a:t>O cálculo de gradientes é restrito a A e B. As ativações dependem do tamanho do lote e contexto, podendo ser minimizadas ainda mais com gradient checkpointing para caber em qualquer GPU.</a:t>
            </a:r>
            <a:endParaRPr sz="1200">
              <a:solidFill>
                <a:srgbClr val="4B5D73"/>
              </a:solidFill>
              <a:latin typeface="Calibri"/>
              <a:ea typeface="Calibri"/>
              <a:cs typeface="Calibri"/>
              <a:sym typeface="Calibri"/>
            </a:endParaRPr>
          </a:p>
        </p:txBody>
      </p:sp>
      <p:pic>
        <p:nvPicPr>
          <p:cNvPr id="654" name="Google Shape;654;p31"/>
          <p:cNvPicPr preferRelativeResize="0"/>
          <p:nvPr/>
        </p:nvPicPr>
        <p:blipFill>
          <a:blip r:embed="rId3">
            <a:alphaModFix/>
          </a:blip>
          <a:stretch>
            <a:fillRect/>
          </a:stretch>
        </p:blipFill>
        <p:spPr>
          <a:xfrm>
            <a:off x="778510" y="1783080"/>
            <a:ext cx="6946900" cy="3886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32"/>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Parâmetros treináveis e memória</a:t>
            </a:r>
            <a:endParaRPr sz="3100"/>
          </a:p>
        </p:txBody>
      </p:sp>
      <p:sp>
        <p:nvSpPr>
          <p:cNvPr id="661" name="Google Shape;661;p32"/>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A LoRA corta gradientes e estado do otimizador. A QLoRA também comprime os pesos congelados.</a:t>
            </a:r>
            <a:endParaRPr b="0" i="0" sz="1450" u="none" cap="none" strike="noStrike">
              <a:solidFill>
                <a:schemeClr val="dk1"/>
              </a:solidFill>
              <a:latin typeface="Calibri"/>
              <a:ea typeface="Calibri"/>
              <a:cs typeface="Calibri"/>
              <a:sym typeface="Calibri"/>
            </a:endParaRPr>
          </a:p>
        </p:txBody>
      </p:sp>
      <p:pic>
        <p:nvPicPr>
          <p:cNvPr id="662" name="Google Shape;662;p32"/>
          <p:cNvPicPr preferRelativeResize="0"/>
          <p:nvPr/>
        </p:nvPicPr>
        <p:blipFill rotWithShape="1">
          <a:blip r:embed="rId3">
            <a:alphaModFix/>
          </a:blip>
          <a:srcRect b="0" l="0" r="0" t="0"/>
          <a:stretch/>
        </p:blipFill>
        <p:spPr>
          <a:xfrm>
            <a:off x="777240" y="1783080"/>
            <a:ext cx="5120640" cy="3657600"/>
          </a:xfrm>
          <a:prstGeom prst="rect">
            <a:avLst/>
          </a:prstGeom>
          <a:noFill/>
          <a:ln>
            <a:noFill/>
          </a:ln>
        </p:spPr>
      </p:pic>
      <p:sp>
        <p:nvSpPr>
          <p:cNvPr id="663" name="Google Shape;663;p32"/>
          <p:cNvSpPr txBox="1"/>
          <p:nvPr/>
        </p:nvSpPr>
        <p:spPr>
          <a:xfrm>
            <a:off x="777240" y="5486400"/>
            <a:ext cx="5120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1100"/>
              <a:buFont typeface="Calibri"/>
              <a:buNone/>
            </a:pPr>
            <a:r>
              <a:rPr b="0" i="1" lang="en-US" sz="1100" u="none" cap="none" strike="noStrike">
                <a:solidFill>
                  <a:srgbClr val="8494A6"/>
                </a:solidFill>
                <a:latin typeface="Calibri"/>
                <a:ea typeface="Calibri"/>
                <a:cs typeface="Calibri"/>
                <a:sym typeface="Calibri"/>
              </a:rPr>
              <a:t>nosso modelo, sem ativações: total 2068 KB, 773 KB e 439 KB</a:t>
            </a:r>
            <a:endParaRPr b="0" i="0" sz="1100" u="none" cap="none" strike="noStrike">
              <a:solidFill>
                <a:schemeClr val="dk1"/>
              </a:solidFill>
              <a:latin typeface="Calibri"/>
              <a:ea typeface="Calibri"/>
              <a:cs typeface="Calibri"/>
              <a:sym typeface="Calibri"/>
            </a:endParaRPr>
          </a:p>
        </p:txBody>
      </p:sp>
      <p:sp>
        <p:nvSpPr>
          <p:cNvPr id="664" name="Google Shape;664;p32"/>
          <p:cNvSpPr txBox="1"/>
          <p:nvPr/>
        </p:nvSpPr>
        <p:spPr>
          <a:xfrm>
            <a:off x="6217920" y="1783080"/>
            <a:ext cx="5196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350"/>
              <a:buFont typeface="Calibri"/>
              <a:buNone/>
            </a:pPr>
            <a:r>
              <a:rPr b="1" i="0" lang="en-US" sz="1350" u="none" cap="none" strike="noStrike">
                <a:solidFill>
                  <a:srgbClr val="0F1C2E"/>
                </a:solidFill>
                <a:latin typeface="Calibri"/>
                <a:ea typeface="Calibri"/>
                <a:cs typeface="Calibri"/>
                <a:sym typeface="Calibri"/>
              </a:rPr>
              <a:t>Estimativa para modelos reais (GB, sem ativações)</a:t>
            </a:r>
            <a:endParaRPr b="0" i="0" sz="1350" u="none" cap="none" strike="noStrike">
              <a:solidFill>
                <a:schemeClr val="dk1"/>
              </a:solidFill>
              <a:latin typeface="Calibri"/>
              <a:ea typeface="Calibri"/>
              <a:cs typeface="Calibri"/>
              <a:sym typeface="Calibri"/>
            </a:endParaRPr>
          </a:p>
        </p:txBody>
      </p:sp>
      <p:graphicFrame>
        <p:nvGraphicFramePr>
          <p:cNvPr id="665" name="Google Shape;665;p32"/>
          <p:cNvGraphicFramePr/>
          <p:nvPr/>
        </p:nvGraphicFramePr>
        <p:xfrm>
          <a:off x="6217920" y="2148840"/>
          <a:ext cx="3000000" cy="3000000"/>
        </p:xfrm>
        <a:graphic>
          <a:graphicData uri="http://schemas.openxmlformats.org/drawingml/2006/table">
            <a:tbl>
              <a:tblPr>
                <a:noFill/>
                <a:tableStyleId>{899A2ED6-0AEB-45F8-B290-8317CC3EE3F4}</a:tableStyleId>
              </a:tblPr>
              <a:tblGrid>
                <a:gridCol w="1920250"/>
                <a:gridCol w="1143000"/>
                <a:gridCol w="1051550"/>
                <a:gridCol w="1079000"/>
              </a:tblGrid>
              <a:tr h="566925">
                <a:tc>
                  <a:txBody>
                    <a:bodyPr/>
                    <a:lstStyle/>
                    <a:p>
                      <a:pPr indent="0" lvl="0" marL="0" marR="0" rtl="0" algn="l">
                        <a:spcBef>
                          <a:spcPts val="0"/>
                        </a:spcBef>
                        <a:spcAft>
                          <a:spcPts val="0"/>
                        </a:spcAft>
                        <a:buClr>
                          <a:schemeClr val="dk1"/>
                        </a:buClr>
                        <a:buSzPts val="1200"/>
                        <a:buFont typeface="Calibri"/>
                        <a:buNone/>
                      </a:pPr>
                      <a:r>
                        <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Completo</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LoRA</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r">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QLoRA</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r>
              <a:tr h="566925">
                <a:tc>
                  <a:txBody>
                    <a:bodyPr/>
                    <a:lstStyle/>
                    <a:p>
                      <a:pPr indent="0" lvl="0" marL="0" marR="0" rtl="0" algn="l">
                        <a:spcBef>
                          <a:spcPts val="0"/>
                        </a:spcBef>
                        <a:spcAft>
                          <a:spcPts val="0"/>
                        </a:spcAft>
                        <a:buClr>
                          <a:srgbClr val="0F1C2E"/>
                        </a:buClr>
                        <a:buSzPts val="1200"/>
                        <a:buFont typeface="Calibri"/>
                        <a:buNone/>
                      </a:pPr>
                      <a:r>
                        <a:rPr b="1" lang="en-US" sz="1200" u="none" cap="none" strike="noStrike">
                          <a:solidFill>
                            <a:srgbClr val="0F1C2E"/>
                          </a:solidFill>
                          <a:latin typeface="Calibri"/>
                          <a:ea typeface="Calibri"/>
                          <a:cs typeface="Calibri"/>
                          <a:sym typeface="Calibri"/>
                        </a:rPr>
                        <a:t>Qwen2.5-0.5B, LoRA r = 16 em q, k, v, o</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B5D73"/>
                        </a:buClr>
                        <a:buSzPts val="1200"/>
                        <a:buFont typeface="Calibri"/>
                        <a:buNone/>
                      </a:pPr>
                      <a:r>
                        <a:rPr lang="en-US" sz="1200" u="none" cap="none" strike="noStrike">
                          <a:solidFill>
                            <a:srgbClr val="4B5D73"/>
                          </a:solidFill>
                          <a:latin typeface="Calibri"/>
                          <a:ea typeface="Calibri"/>
                          <a:cs typeface="Calibri"/>
                          <a:sym typeface="Calibri"/>
                        </a:rPr>
                        <a:t>7,9</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B5D73"/>
                        </a:buClr>
                        <a:buSzPts val="1200"/>
                        <a:buFont typeface="Calibri"/>
                        <a:buNone/>
                      </a:pPr>
                      <a:r>
                        <a:rPr lang="en-US" sz="1200" u="none" cap="none" strike="noStrike">
                          <a:solidFill>
                            <a:srgbClr val="4B5D73"/>
                          </a:solidFill>
                          <a:latin typeface="Calibri"/>
                          <a:ea typeface="Calibri"/>
                          <a:cs typeface="Calibri"/>
                          <a:sym typeface="Calibri"/>
                        </a:rPr>
                        <a:t>1,02</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4B5D73"/>
                        </a:buClr>
                        <a:buSzPts val="1200"/>
                        <a:buFont typeface="Calibri"/>
                        <a:buNone/>
                      </a:pPr>
                      <a:r>
                        <a:rPr lang="en-US" sz="1200" u="none" cap="none" strike="noStrike">
                          <a:solidFill>
                            <a:srgbClr val="4B5D73"/>
                          </a:solidFill>
                          <a:latin typeface="Calibri"/>
                          <a:ea typeface="Calibri"/>
                          <a:cs typeface="Calibri"/>
                          <a:sym typeface="Calibri"/>
                        </a:rPr>
                        <a:t>0,49</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0F1C2E"/>
                        </a:buClr>
                        <a:buSzPts val="1200"/>
                        <a:buFont typeface="Calibri"/>
                        <a:buNone/>
                      </a:pPr>
                      <a:r>
                        <a:rPr b="1" lang="en-US" sz="1200" u="none" cap="none" strike="noStrike">
                          <a:solidFill>
                            <a:srgbClr val="0F1C2E"/>
                          </a:solidFill>
                          <a:latin typeface="Calibri"/>
                          <a:ea typeface="Calibri"/>
                          <a:cs typeface="Calibri"/>
                          <a:sym typeface="Calibri"/>
                        </a:rPr>
                        <a:t>Llama 2 7B, LoRA r = 16 em todas as lineares</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r">
                        <a:spcBef>
                          <a:spcPts val="0"/>
                        </a:spcBef>
                        <a:spcAft>
                          <a:spcPts val="0"/>
                        </a:spcAft>
                        <a:buClr>
                          <a:srgbClr val="4B5D73"/>
                        </a:buClr>
                        <a:buSzPts val="1200"/>
                        <a:buFont typeface="Calibri"/>
                        <a:buNone/>
                      </a:pPr>
                      <a:r>
                        <a:rPr lang="en-US" sz="1200" u="none" cap="none" strike="noStrike">
                          <a:solidFill>
                            <a:srgbClr val="4B5D73"/>
                          </a:solidFill>
                          <a:latin typeface="Calibri"/>
                          <a:ea typeface="Calibri"/>
                          <a:cs typeface="Calibri"/>
                          <a:sym typeface="Calibri"/>
                        </a:rPr>
                        <a:t>108</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r">
                        <a:spcBef>
                          <a:spcPts val="0"/>
                        </a:spcBef>
                        <a:spcAft>
                          <a:spcPts val="0"/>
                        </a:spcAft>
                        <a:buClr>
                          <a:srgbClr val="4B5D73"/>
                        </a:buClr>
                        <a:buSzPts val="1200"/>
                        <a:buFont typeface="Calibri"/>
                        <a:buNone/>
                      </a:pPr>
                      <a:r>
                        <a:rPr lang="en-US" sz="1200" u="none" cap="none" strike="noStrike">
                          <a:solidFill>
                            <a:srgbClr val="4B5D73"/>
                          </a:solidFill>
                          <a:latin typeface="Calibri"/>
                          <a:ea typeface="Calibri"/>
                          <a:cs typeface="Calibri"/>
                          <a:sym typeface="Calibri"/>
                        </a:rPr>
                        <a:t>14,1</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r">
                        <a:spcBef>
                          <a:spcPts val="0"/>
                        </a:spcBef>
                        <a:spcAft>
                          <a:spcPts val="0"/>
                        </a:spcAft>
                        <a:buClr>
                          <a:srgbClr val="4B5D73"/>
                        </a:buClr>
                        <a:buSzPts val="1200"/>
                        <a:buFont typeface="Calibri"/>
                        <a:buNone/>
                      </a:pPr>
                      <a:r>
                        <a:rPr lang="en-US" sz="1200" u="none" cap="none" strike="noStrike">
                          <a:solidFill>
                            <a:srgbClr val="4B5D73"/>
                          </a:solidFill>
                          <a:latin typeface="Calibri"/>
                          <a:ea typeface="Calibri"/>
                          <a:cs typeface="Calibri"/>
                          <a:sym typeface="Calibri"/>
                        </a:rPr>
                        <a:t>4,5</a:t>
                      </a:r>
                      <a:endParaRPr sz="12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r>
            </a:tbl>
          </a:graphicData>
        </a:graphic>
      </p:graphicFrame>
      <p:sp>
        <p:nvSpPr>
          <p:cNvPr id="666" name="Google Shape;666;p32"/>
          <p:cNvSpPr txBox="1"/>
          <p:nvPr/>
        </p:nvSpPr>
        <p:spPr>
          <a:xfrm>
            <a:off x="6217920" y="4114800"/>
            <a:ext cx="5196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450"/>
              <a:buFont typeface="Calibri"/>
              <a:buNone/>
            </a:pPr>
            <a:r>
              <a:rPr b="1" i="0" lang="en-US" sz="1450" u="none" cap="none" strike="noStrike">
                <a:solidFill>
                  <a:srgbClr val="0F1C2E"/>
                </a:solidFill>
                <a:latin typeface="Calibri"/>
                <a:ea typeface="Calibri"/>
                <a:cs typeface="Calibri"/>
                <a:sym typeface="Calibri"/>
              </a:rPr>
              <a:t>Como fizemos a conta</a:t>
            </a:r>
            <a:endParaRPr b="0" i="0" sz="1450" u="none" cap="none" strike="noStrike">
              <a:solidFill>
                <a:schemeClr val="dk1"/>
              </a:solidFill>
              <a:latin typeface="Calibri"/>
              <a:ea typeface="Calibri"/>
              <a:cs typeface="Calibri"/>
              <a:sym typeface="Calibri"/>
            </a:endParaRPr>
          </a:p>
        </p:txBody>
      </p:sp>
      <p:sp>
        <p:nvSpPr>
          <p:cNvPr id="667" name="Google Shape;667;p32"/>
          <p:cNvSpPr txBox="1"/>
          <p:nvPr/>
        </p:nvSpPr>
        <p:spPr>
          <a:xfrm>
            <a:off x="6217920" y="4443984"/>
            <a:ext cx="5196535" cy="109728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Completo: 16 B por parâmetro. LoRA: base em bf16 (2 B) + 16 B por parâmetro do adapter. QLoRA: camadas lineares em ~4,127 bits, resto em bf16.</a:t>
            </a:r>
            <a:endParaRPr b="0" i="0" sz="1250" u="none" cap="none" strike="noStrike">
              <a:solidFill>
                <a:schemeClr val="dk1"/>
              </a:solidFill>
              <a:latin typeface="Calibri"/>
              <a:ea typeface="Calibri"/>
              <a:cs typeface="Calibri"/>
              <a:sym typeface="Calibri"/>
            </a:endParaRPr>
          </a:p>
        </p:txBody>
      </p:sp>
      <p:sp>
        <p:nvSpPr>
          <p:cNvPr id="668" name="Google Shape;668;p32"/>
          <p:cNvSpPr txBox="1"/>
          <p:nvPr/>
        </p:nvSpPr>
        <p:spPr>
          <a:xfrm>
            <a:off x="6217920" y="5257800"/>
            <a:ext cx="519653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50"/>
              <a:buFont typeface="Calibri"/>
              <a:buNone/>
            </a:pPr>
            <a:r>
              <a:rPr b="1" i="0" lang="en-US" sz="1450" u="none" cap="none" strike="noStrike">
                <a:solidFill>
                  <a:srgbClr val="C0392B"/>
                </a:solidFill>
                <a:latin typeface="Calibri"/>
                <a:ea typeface="Calibri"/>
                <a:cs typeface="Calibri"/>
                <a:sym typeface="Calibri"/>
              </a:rPr>
              <a:t>O que fica de fora</a:t>
            </a:r>
            <a:endParaRPr b="0" i="0" sz="1450" u="none" cap="none" strike="noStrike">
              <a:solidFill>
                <a:schemeClr val="dk1"/>
              </a:solidFill>
              <a:latin typeface="Calibri"/>
              <a:ea typeface="Calibri"/>
              <a:cs typeface="Calibri"/>
              <a:sym typeface="Calibri"/>
            </a:endParaRPr>
          </a:p>
        </p:txBody>
      </p:sp>
      <p:sp>
        <p:nvSpPr>
          <p:cNvPr id="669" name="Google Shape;669;p32"/>
          <p:cNvSpPr txBox="1"/>
          <p:nvPr/>
        </p:nvSpPr>
        <p:spPr>
          <a:xfrm>
            <a:off x="6217920" y="5586984"/>
            <a:ext cx="5196535" cy="59436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As ativações, que crescem com lote e sequência e podem dominar em modelos pequenos.</a:t>
            </a:r>
            <a:endParaRPr b="0" i="0" sz="1250" u="none" cap="none" strike="noStrike">
              <a:solidFill>
                <a:schemeClr val="dk1"/>
              </a:solidFill>
              <a:latin typeface="Calibri"/>
              <a:ea typeface="Calibri"/>
              <a:cs typeface="Calibri"/>
              <a:sym typeface="Calibri"/>
            </a:endParaRPr>
          </a:p>
        </p:txBody>
      </p:sp>
      <p:sp>
        <p:nvSpPr>
          <p:cNvPr id="670" name="Google Shape;670;p32"/>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33"/>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LoRA × QLoRA</a:t>
            </a:r>
            <a:endParaRPr sz="3100"/>
          </a:p>
        </p:txBody>
      </p:sp>
      <p:sp>
        <p:nvSpPr>
          <p:cNvPr id="677" name="Google Shape;677;p33"/>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A QLoRA treina os mesmos adapters. Muda como a base congelada é guardada e como o treino cabe na GPU.</a:t>
            </a:r>
            <a:endParaRPr b="0" i="0" sz="1450" u="none" cap="none" strike="noStrike">
              <a:solidFill>
                <a:schemeClr val="dk1"/>
              </a:solidFill>
              <a:latin typeface="Calibri"/>
              <a:ea typeface="Calibri"/>
              <a:cs typeface="Calibri"/>
              <a:sym typeface="Calibri"/>
            </a:endParaRPr>
          </a:p>
        </p:txBody>
      </p:sp>
      <p:sp>
        <p:nvSpPr>
          <p:cNvPr id="678" name="Google Shape;678;p33"/>
          <p:cNvSpPr/>
          <p:nvPr/>
        </p:nvSpPr>
        <p:spPr>
          <a:xfrm>
            <a:off x="777240" y="1828800"/>
            <a:ext cx="384048" cy="384048"/>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3"/>
          <p:cNvSpPr txBox="1"/>
          <p:nvPr/>
        </p:nvSpPr>
        <p:spPr>
          <a:xfrm>
            <a:off x="777240" y="18288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680" name="Google Shape;680;p33"/>
          <p:cNvSpPr txBox="1"/>
          <p:nvPr/>
        </p:nvSpPr>
        <p:spPr>
          <a:xfrm>
            <a:off x="1344168" y="1764792"/>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450"/>
              <a:buFont typeface="Calibri"/>
              <a:buNone/>
            </a:pPr>
            <a:r>
              <a:rPr b="1" i="0" lang="en-US" sz="1450" u="none" cap="none" strike="noStrike">
                <a:solidFill>
                  <a:srgbClr val="0F1C2E"/>
                </a:solidFill>
                <a:latin typeface="Calibri"/>
                <a:ea typeface="Calibri"/>
                <a:cs typeface="Calibri"/>
                <a:sym typeface="Calibri"/>
              </a:rPr>
              <a:t>NF4</a:t>
            </a:r>
            <a:endParaRPr b="0" i="0" sz="1450" u="none" cap="none" strike="noStrike">
              <a:solidFill>
                <a:schemeClr val="dk1"/>
              </a:solidFill>
              <a:latin typeface="Calibri"/>
              <a:ea typeface="Calibri"/>
              <a:cs typeface="Calibri"/>
              <a:sym typeface="Calibri"/>
            </a:endParaRPr>
          </a:p>
        </p:txBody>
      </p:sp>
      <p:sp>
        <p:nvSpPr>
          <p:cNvPr id="681" name="Google Shape;681;p33"/>
          <p:cNvSpPr txBox="1"/>
          <p:nvPr/>
        </p:nvSpPr>
        <p:spPr>
          <a:xfrm>
            <a:off x="1344168" y="2093976"/>
            <a:ext cx="4754880" cy="64008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16 níveis nos quantis de uma normal, porque pesos têm esse formato. Cada bloco de 64 pesos guarda códigos de 4 bits e uma escala.</a:t>
            </a:r>
            <a:endParaRPr b="0" i="0" sz="1250" u="none" cap="none" strike="noStrike">
              <a:solidFill>
                <a:schemeClr val="dk1"/>
              </a:solidFill>
              <a:latin typeface="Calibri"/>
              <a:ea typeface="Calibri"/>
              <a:cs typeface="Calibri"/>
              <a:sym typeface="Calibri"/>
            </a:endParaRPr>
          </a:p>
        </p:txBody>
      </p:sp>
      <p:sp>
        <p:nvSpPr>
          <p:cNvPr id="682" name="Google Shape;682;p33"/>
          <p:cNvSpPr/>
          <p:nvPr/>
        </p:nvSpPr>
        <p:spPr>
          <a:xfrm>
            <a:off x="777240" y="2788920"/>
            <a:ext cx="384048" cy="384048"/>
          </a:xfrm>
          <a:prstGeom prst="ellipse">
            <a:avLst/>
          </a:prstGeom>
          <a:solidFill>
            <a:srgbClr val="17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3"/>
          <p:cNvSpPr txBox="1"/>
          <p:nvPr/>
        </p:nvSpPr>
        <p:spPr>
          <a:xfrm>
            <a:off x="777240" y="27889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684" name="Google Shape;684;p33"/>
          <p:cNvSpPr txBox="1"/>
          <p:nvPr/>
        </p:nvSpPr>
        <p:spPr>
          <a:xfrm>
            <a:off x="1344168" y="2724912"/>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450"/>
              <a:buFont typeface="Calibri"/>
              <a:buNone/>
            </a:pPr>
            <a:r>
              <a:rPr b="1" i="0" lang="en-US" sz="1450" u="none" cap="none" strike="noStrike">
                <a:solidFill>
                  <a:srgbClr val="0F1C2E"/>
                </a:solidFill>
                <a:latin typeface="Calibri"/>
                <a:ea typeface="Calibri"/>
                <a:cs typeface="Calibri"/>
                <a:sym typeface="Calibri"/>
              </a:rPr>
              <a:t>Dupla quantização</a:t>
            </a:r>
            <a:endParaRPr b="0" i="0" sz="1450" u="none" cap="none" strike="noStrike">
              <a:solidFill>
                <a:schemeClr val="dk1"/>
              </a:solidFill>
              <a:latin typeface="Calibri"/>
              <a:ea typeface="Calibri"/>
              <a:cs typeface="Calibri"/>
              <a:sym typeface="Calibri"/>
            </a:endParaRPr>
          </a:p>
        </p:txBody>
      </p:sp>
      <p:sp>
        <p:nvSpPr>
          <p:cNvPr id="685" name="Google Shape;685;p33"/>
          <p:cNvSpPr txBox="1"/>
          <p:nvPr/>
        </p:nvSpPr>
        <p:spPr>
          <a:xfrm>
            <a:off x="1344168" y="3054096"/>
            <a:ext cx="4754880" cy="64008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As escalas também viram 8 bits (blocos de 256): de 4,5 para 4,127 bits por peso.</a:t>
            </a:r>
            <a:endParaRPr b="0" i="0" sz="1250" u="none" cap="none" strike="noStrike">
              <a:solidFill>
                <a:schemeClr val="dk1"/>
              </a:solidFill>
              <a:latin typeface="Calibri"/>
              <a:ea typeface="Calibri"/>
              <a:cs typeface="Calibri"/>
              <a:sym typeface="Calibri"/>
            </a:endParaRPr>
          </a:p>
        </p:txBody>
      </p:sp>
      <p:sp>
        <p:nvSpPr>
          <p:cNvPr id="686" name="Google Shape;686;p33"/>
          <p:cNvSpPr/>
          <p:nvPr/>
        </p:nvSpPr>
        <p:spPr>
          <a:xfrm>
            <a:off x="777240" y="3749040"/>
            <a:ext cx="384048" cy="384048"/>
          </a:xfrm>
          <a:prstGeom prst="ellipse">
            <a:avLst/>
          </a:prstGeom>
          <a:solidFill>
            <a:srgbClr val="17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3"/>
          <p:cNvSpPr txBox="1"/>
          <p:nvPr/>
        </p:nvSpPr>
        <p:spPr>
          <a:xfrm>
            <a:off x="777240" y="37490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688" name="Google Shape;688;p33"/>
          <p:cNvSpPr txBox="1"/>
          <p:nvPr/>
        </p:nvSpPr>
        <p:spPr>
          <a:xfrm>
            <a:off x="1344168" y="3685032"/>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450"/>
              <a:buFont typeface="Calibri"/>
              <a:buNone/>
            </a:pPr>
            <a:r>
              <a:rPr b="1" i="0" lang="en-US" sz="1450" u="none" cap="none" strike="noStrike">
                <a:solidFill>
                  <a:srgbClr val="0F1C2E"/>
                </a:solidFill>
                <a:latin typeface="Calibri"/>
                <a:ea typeface="Calibri"/>
                <a:cs typeface="Calibri"/>
                <a:sym typeface="Calibri"/>
              </a:rPr>
              <a:t>Paged optimizers</a:t>
            </a:r>
            <a:endParaRPr b="0" i="0" sz="1450" u="none" cap="none" strike="noStrike">
              <a:solidFill>
                <a:schemeClr val="dk1"/>
              </a:solidFill>
              <a:latin typeface="Calibri"/>
              <a:ea typeface="Calibri"/>
              <a:cs typeface="Calibri"/>
              <a:sym typeface="Calibri"/>
            </a:endParaRPr>
          </a:p>
        </p:txBody>
      </p:sp>
      <p:sp>
        <p:nvSpPr>
          <p:cNvPr id="689" name="Google Shape;689;p33"/>
          <p:cNvSpPr txBox="1"/>
          <p:nvPr/>
        </p:nvSpPr>
        <p:spPr>
          <a:xfrm>
            <a:off x="1344168" y="4014216"/>
            <a:ext cx="4754880" cy="64008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Estados do otimizador migram para a RAM da CPU nos picos de memória.</a:t>
            </a:r>
            <a:endParaRPr b="0" i="0" sz="1250" u="none" cap="none" strike="noStrike">
              <a:solidFill>
                <a:schemeClr val="dk1"/>
              </a:solidFill>
              <a:latin typeface="Calibri"/>
              <a:ea typeface="Calibri"/>
              <a:cs typeface="Calibri"/>
              <a:sym typeface="Calibri"/>
            </a:endParaRPr>
          </a:p>
        </p:txBody>
      </p:sp>
      <p:sp>
        <p:nvSpPr>
          <p:cNvPr id="690" name="Google Shape;690;p33"/>
          <p:cNvSpPr/>
          <p:nvPr/>
        </p:nvSpPr>
        <p:spPr>
          <a:xfrm>
            <a:off x="777240" y="4709160"/>
            <a:ext cx="384048" cy="384048"/>
          </a:xfrm>
          <a:prstGeom prst="ellipse">
            <a:avLst/>
          </a:prstGeom>
          <a:solidFill>
            <a:srgbClr val="17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3"/>
          <p:cNvSpPr txBox="1"/>
          <p:nvPr/>
        </p:nvSpPr>
        <p:spPr>
          <a:xfrm>
            <a:off x="777240" y="47091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a:t>
            </a:r>
            <a:endParaRPr b="0" i="0" sz="1500" u="none" cap="none" strike="noStrike">
              <a:solidFill>
                <a:schemeClr val="dk1"/>
              </a:solidFill>
              <a:latin typeface="Calibri"/>
              <a:ea typeface="Calibri"/>
              <a:cs typeface="Calibri"/>
              <a:sym typeface="Calibri"/>
            </a:endParaRPr>
          </a:p>
        </p:txBody>
      </p:sp>
      <p:sp>
        <p:nvSpPr>
          <p:cNvPr id="692" name="Google Shape;692;p33"/>
          <p:cNvSpPr txBox="1"/>
          <p:nvPr/>
        </p:nvSpPr>
        <p:spPr>
          <a:xfrm>
            <a:off x="1344168" y="4645152"/>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450"/>
              <a:buFont typeface="Calibri"/>
              <a:buNone/>
            </a:pPr>
            <a:r>
              <a:rPr b="1" i="0" lang="en-US" sz="1450" u="none" cap="none" strike="noStrike">
                <a:solidFill>
                  <a:srgbClr val="0F1C2E"/>
                </a:solidFill>
                <a:latin typeface="Calibri"/>
                <a:ea typeface="Calibri"/>
                <a:cs typeface="Calibri"/>
                <a:sym typeface="Calibri"/>
              </a:rPr>
              <a:t>Cálculo em bf16</a:t>
            </a:r>
            <a:endParaRPr b="0" i="0" sz="1450" u="none" cap="none" strike="noStrike">
              <a:solidFill>
                <a:schemeClr val="dk1"/>
              </a:solidFill>
              <a:latin typeface="Calibri"/>
              <a:ea typeface="Calibri"/>
              <a:cs typeface="Calibri"/>
              <a:sym typeface="Calibri"/>
            </a:endParaRPr>
          </a:p>
        </p:txBody>
      </p:sp>
      <p:sp>
        <p:nvSpPr>
          <p:cNvPr id="693" name="Google Shape;693;p33"/>
          <p:cNvSpPr txBox="1"/>
          <p:nvPr/>
        </p:nvSpPr>
        <p:spPr>
          <a:xfrm>
            <a:off x="1344168" y="4974336"/>
            <a:ext cx="4754880" cy="64008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Cada bloco é desquantizado na hora do produto; o gradiente atravessa a base até o adapter.</a:t>
            </a:r>
            <a:endParaRPr b="0" i="0" sz="1250" u="none" cap="none" strike="noStrike">
              <a:solidFill>
                <a:schemeClr val="dk1"/>
              </a:solidFill>
              <a:latin typeface="Calibri"/>
              <a:ea typeface="Calibri"/>
              <a:cs typeface="Calibri"/>
              <a:sym typeface="Calibri"/>
            </a:endParaRPr>
          </a:p>
        </p:txBody>
      </p:sp>
      <p:pic>
        <p:nvPicPr>
          <p:cNvPr id="694" name="Google Shape;694;p33"/>
          <p:cNvPicPr preferRelativeResize="0"/>
          <p:nvPr/>
        </p:nvPicPr>
        <p:blipFill rotWithShape="1">
          <a:blip r:embed="rId3">
            <a:alphaModFix/>
          </a:blip>
          <a:srcRect b="0" l="0" r="0" t="0"/>
          <a:stretch/>
        </p:blipFill>
        <p:spPr>
          <a:xfrm>
            <a:off x="6446520" y="1783080"/>
            <a:ext cx="4967935" cy="2377440"/>
          </a:xfrm>
          <a:prstGeom prst="rect">
            <a:avLst/>
          </a:prstGeom>
          <a:noFill/>
          <a:ln>
            <a:noFill/>
          </a:ln>
        </p:spPr>
      </p:pic>
      <p:cxnSp>
        <p:nvCxnSpPr>
          <p:cNvPr id="695" name="Google Shape;695;p33"/>
          <p:cNvCxnSpPr/>
          <p:nvPr/>
        </p:nvCxnSpPr>
        <p:spPr>
          <a:xfrm>
            <a:off x="6645237" y="4343400"/>
            <a:ext cx="4570500" cy="0"/>
          </a:xfrm>
          <a:prstGeom prst="straightConnector1">
            <a:avLst/>
          </a:prstGeom>
          <a:noFill/>
          <a:ln cap="flat" cmpd="sng" w="12700">
            <a:solidFill>
              <a:srgbClr val="8494A6"/>
            </a:solidFill>
            <a:prstDash val="solid"/>
            <a:round/>
            <a:headEnd len="sm" w="sm" type="none"/>
            <a:tailEnd len="sm" w="sm" type="none"/>
          </a:ln>
        </p:spPr>
      </p:cxnSp>
      <p:cxnSp>
        <p:nvCxnSpPr>
          <p:cNvPr id="696" name="Google Shape;696;p33"/>
          <p:cNvCxnSpPr/>
          <p:nvPr/>
        </p:nvCxnSpPr>
        <p:spPr>
          <a:xfrm>
            <a:off x="6645237"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697" name="Google Shape;697;p33"/>
          <p:cNvCxnSpPr/>
          <p:nvPr/>
        </p:nvCxnSpPr>
        <p:spPr>
          <a:xfrm>
            <a:off x="7339513"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698" name="Google Shape;698;p33"/>
          <p:cNvCxnSpPr/>
          <p:nvPr/>
        </p:nvCxnSpPr>
        <p:spPr>
          <a:xfrm>
            <a:off x="7730564"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699" name="Google Shape;699;p33"/>
          <p:cNvCxnSpPr/>
          <p:nvPr/>
        </p:nvCxnSpPr>
        <p:spPr>
          <a:xfrm>
            <a:off x="8028002"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0" name="Google Shape;700;p33"/>
          <p:cNvCxnSpPr/>
          <p:nvPr/>
        </p:nvCxnSpPr>
        <p:spPr>
          <a:xfrm>
            <a:off x="8280468"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1" name="Google Shape;701;p33"/>
          <p:cNvCxnSpPr/>
          <p:nvPr/>
        </p:nvCxnSpPr>
        <p:spPr>
          <a:xfrm>
            <a:off x="8508234"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2" name="Google Shape;702;p33"/>
          <p:cNvCxnSpPr/>
          <p:nvPr/>
        </p:nvCxnSpPr>
        <p:spPr>
          <a:xfrm>
            <a:off x="8722416"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3" name="Google Shape;703;p33"/>
          <p:cNvCxnSpPr/>
          <p:nvPr/>
        </p:nvCxnSpPr>
        <p:spPr>
          <a:xfrm>
            <a:off x="8930488"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4" name="Google Shape;704;p33"/>
          <p:cNvCxnSpPr/>
          <p:nvPr/>
        </p:nvCxnSpPr>
        <p:spPr>
          <a:xfrm>
            <a:off x="9112349"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5" name="Google Shape;705;p33"/>
          <p:cNvCxnSpPr/>
          <p:nvPr/>
        </p:nvCxnSpPr>
        <p:spPr>
          <a:xfrm>
            <a:off x="9298253"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6" name="Google Shape;706;p33"/>
          <p:cNvCxnSpPr/>
          <p:nvPr/>
        </p:nvCxnSpPr>
        <p:spPr>
          <a:xfrm>
            <a:off x="9492916"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7" name="Google Shape;707;p33"/>
          <p:cNvCxnSpPr/>
          <p:nvPr/>
        </p:nvCxnSpPr>
        <p:spPr>
          <a:xfrm>
            <a:off x="9702708"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8" name="Google Shape;708;p33"/>
          <p:cNvCxnSpPr/>
          <p:nvPr/>
        </p:nvCxnSpPr>
        <p:spPr>
          <a:xfrm>
            <a:off x="9937620"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09" name="Google Shape;709;p33"/>
          <p:cNvCxnSpPr/>
          <p:nvPr/>
        </p:nvCxnSpPr>
        <p:spPr>
          <a:xfrm>
            <a:off x="10216208"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10" name="Google Shape;710;p33"/>
          <p:cNvCxnSpPr/>
          <p:nvPr/>
        </p:nvCxnSpPr>
        <p:spPr>
          <a:xfrm>
            <a:off x="10582625" y="4206240"/>
            <a:ext cx="0" cy="274320"/>
          </a:xfrm>
          <a:prstGeom prst="straightConnector1">
            <a:avLst/>
          </a:prstGeom>
          <a:noFill/>
          <a:ln cap="flat" cmpd="sng" w="25400">
            <a:solidFill>
              <a:srgbClr val="E08A3C"/>
            </a:solidFill>
            <a:prstDash val="solid"/>
            <a:round/>
            <a:headEnd len="sm" w="sm" type="none"/>
            <a:tailEnd len="sm" w="sm" type="none"/>
          </a:ln>
        </p:spPr>
      </p:cxnSp>
      <p:cxnSp>
        <p:nvCxnSpPr>
          <p:cNvPr id="711" name="Google Shape;711;p33"/>
          <p:cNvCxnSpPr/>
          <p:nvPr/>
        </p:nvCxnSpPr>
        <p:spPr>
          <a:xfrm>
            <a:off x="11215738" y="4206240"/>
            <a:ext cx="0" cy="274320"/>
          </a:xfrm>
          <a:prstGeom prst="straightConnector1">
            <a:avLst/>
          </a:prstGeom>
          <a:noFill/>
          <a:ln cap="flat" cmpd="sng" w="25400">
            <a:solidFill>
              <a:srgbClr val="E08A3C"/>
            </a:solidFill>
            <a:prstDash val="solid"/>
            <a:round/>
            <a:headEnd len="sm" w="sm" type="none"/>
            <a:tailEnd len="sm" w="sm" type="none"/>
          </a:ln>
        </p:spPr>
      </p:cxnSp>
      <p:sp>
        <p:nvSpPr>
          <p:cNvPr id="712" name="Google Shape;712;p33"/>
          <p:cNvSpPr txBox="1"/>
          <p:nvPr/>
        </p:nvSpPr>
        <p:spPr>
          <a:xfrm>
            <a:off x="6370917" y="3959352"/>
            <a:ext cx="5486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000"/>
              <a:buFont typeface="Calibri"/>
              <a:buNone/>
            </a:pPr>
            <a:r>
              <a:rPr b="0" i="0" lang="en-US" sz="1000" u="none" cap="none" strike="noStrike">
                <a:solidFill>
                  <a:srgbClr val="4B5D73"/>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713" name="Google Shape;713;p33"/>
          <p:cNvSpPr txBox="1"/>
          <p:nvPr/>
        </p:nvSpPr>
        <p:spPr>
          <a:xfrm>
            <a:off x="8656168" y="3959352"/>
            <a:ext cx="5486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000"/>
              <a:buFont typeface="Calibri"/>
              <a:buNone/>
            </a:pPr>
            <a:r>
              <a:rPr b="0" i="0" lang="en-US" sz="1000" u="none" cap="none" strike="noStrike">
                <a:solidFill>
                  <a:srgbClr val="4B5D73"/>
                </a:solidFill>
                <a:latin typeface="Calibri"/>
                <a:ea typeface="Calibri"/>
                <a:cs typeface="Calibri"/>
                <a:sym typeface="Calibri"/>
              </a:rPr>
              <a:t>0</a:t>
            </a:r>
            <a:endParaRPr b="0" i="0" sz="1000" u="none" cap="none" strike="noStrike">
              <a:solidFill>
                <a:schemeClr val="dk1"/>
              </a:solidFill>
              <a:latin typeface="Calibri"/>
              <a:ea typeface="Calibri"/>
              <a:cs typeface="Calibri"/>
              <a:sym typeface="Calibri"/>
            </a:endParaRPr>
          </a:p>
        </p:txBody>
      </p:sp>
      <p:sp>
        <p:nvSpPr>
          <p:cNvPr id="714" name="Google Shape;714;p33"/>
          <p:cNvSpPr txBox="1"/>
          <p:nvPr/>
        </p:nvSpPr>
        <p:spPr>
          <a:xfrm>
            <a:off x="10941418" y="3959352"/>
            <a:ext cx="5486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B5D73"/>
              </a:buClr>
              <a:buSzPts val="1000"/>
              <a:buFont typeface="Calibri"/>
              <a:buNone/>
            </a:pPr>
            <a:r>
              <a:rPr b="0" i="0" lang="en-US" sz="1000" u="none" cap="none" strike="noStrike">
                <a:solidFill>
                  <a:srgbClr val="4B5D73"/>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715" name="Google Shape;715;p33"/>
          <p:cNvSpPr txBox="1"/>
          <p:nvPr/>
        </p:nvSpPr>
        <p:spPr>
          <a:xfrm>
            <a:off x="6446520" y="4526280"/>
            <a:ext cx="4967935"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494A6"/>
              </a:buClr>
              <a:buSzPts val="1100"/>
              <a:buFont typeface="Calibri"/>
              <a:buNone/>
            </a:pPr>
            <a:r>
              <a:rPr b="0" i="1" lang="en-US" sz="1100" u="none" cap="none" strike="noStrike">
                <a:solidFill>
                  <a:srgbClr val="8494A6"/>
                </a:solidFill>
                <a:latin typeface="Calibri"/>
                <a:ea typeface="Calibri"/>
                <a:cs typeface="Calibri"/>
                <a:sym typeface="Calibri"/>
              </a:rPr>
              <a:t>os 16 níveis do NF4 (âmbar), na mesma escala dos pesos normalizados acima</a:t>
            </a:r>
            <a:endParaRPr b="0" i="0" sz="1100" u="none" cap="none" strike="noStrike">
              <a:solidFill>
                <a:schemeClr val="dk1"/>
              </a:solidFill>
              <a:latin typeface="Calibri"/>
              <a:ea typeface="Calibri"/>
              <a:cs typeface="Calibri"/>
              <a:sym typeface="Calibri"/>
            </a:endParaRPr>
          </a:p>
        </p:txBody>
      </p:sp>
      <p:sp>
        <p:nvSpPr>
          <p:cNvPr id="716" name="Google Shape;716;p33"/>
          <p:cNvSpPr/>
          <p:nvPr/>
        </p:nvSpPr>
        <p:spPr>
          <a:xfrm>
            <a:off x="6446520" y="4919472"/>
            <a:ext cx="4967935" cy="868680"/>
          </a:xfrm>
          <a:prstGeom prst="roundRect">
            <a:avLst>
              <a:gd fmla="val 8421" name="adj"/>
            </a:avLst>
          </a:prstGeom>
          <a:solidFill>
            <a:srgbClr val="E1F0ED"/>
          </a:solidFill>
          <a:ln cap="flat" cmpd="sng" w="15225">
            <a:solidFill>
              <a:srgbClr val="17897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3"/>
          <p:cNvSpPr txBox="1"/>
          <p:nvPr/>
        </p:nvSpPr>
        <p:spPr>
          <a:xfrm>
            <a:off x="6675120" y="4919472"/>
            <a:ext cx="4510735" cy="86868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Nos pesos do nosso modelo, o erro relativo médio foi de 9,2% com NF4, contra 10,8% com 4 bits de níveis uniformes.</a:t>
            </a:r>
            <a:endParaRPr b="0" i="0" sz="1300" u="none" cap="none" strike="noStrike">
              <a:solidFill>
                <a:schemeClr val="dk1"/>
              </a:solidFill>
              <a:latin typeface="Calibri"/>
              <a:ea typeface="Calibri"/>
              <a:cs typeface="Calibri"/>
              <a:sym typeface="Calibri"/>
            </a:endParaRPr>
          </a:p>
        </p:txBody>
      </p:sp>
      <p:sp>
        <p:nvSpPr>
          <p:cNvPr id="718" name="Google Shape;718;p33"/>
          <p:cNvSpPr txBox="1"/>
          <p:nvPr/>
        </p:nvSpPr>
        <p:spPr>
          <a:xfrm>
            <a:off x="777240" y="5943600"/>
            <a:ext cx="10637215"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1050"/>
              <a:buFont typeface="Calibri"/>
              <a:buNone/>
            </a:pPr>
            <a:r>
              <a:rPr b="0" i="1" lang="en-US" sz="1050" u="none" cap="none" strike="noStrike">
                <a:solidFill>
                  <a:srgbClr val="8494A6"/>
                </a:solidFill>
                <a:latin typeface="Calibri"/>
                <a:ea typeface="Calibri"/>
                <a:cs typeface="Calibri"/>
                <a:sym typeface="Calibri"/>
              </a:rPr>
              <a:t>Dettmers et al. (2023), QLoRA; níveis do NF4 conferidos com o código do bitsandbytes.</a:t>
            </a:r>
            <a:endParaRPr b="0" i="0" sz="1050" u="none" cap="none" strike="noStrike">
              <a:solidFill>
                <a:schemeClr val="dk1"/>
              </a:solidFill>
              <a:latin typeface="Calibri"/>
              <a:ea typeface="Calibri"/>
              <a:cs typeface="Calibri"/>
              <a:sym typeface="Calibri"/>
            </a:endParaRPr>
          </a:p>
        </p:txBody>
      </p:sp>
      <p:sp>
        <p:nvSpPr>
          <p:cNvPr id="719" name="Google Shape;719;p33"/>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34"/>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QLoRA no nosso modelo</a:t>
            </a:r>
            <a:endParaRPr sz="3100"/>
          </a:p>
        </p:txBody>
      </p:sp>
      <p:sp>
        <p:nvSpPr>
          <p:cNvPr id="726" name="Google Shape;726;p34"/>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Antes de comparar, uma pergunta de régua: qual é o 'antes' da QLoRA?</a:t>
            </a:r>
            <a:endParaRPr b="0" i="0" sz="1450" u="none" cap="none" strike="noStrike">
              <a:solidFill>
                <a:schemeClr val="dk1"/>
              </a:solidFill>
              <a:latin typeface="Calibri"/>
              <a:ea typeface="Calibri"/>
              <a:cs typeface="Calibri"/>
              <a:sym typeface="Calibri"/>
            </a:endParaRPr>
          </a:p>
        </p:txBody>
      </p:sp>
      <p:graphicFrame>
        <p:nvGraphicFramePr>
          <p:cNvPr id="727" name="Google Shape;727;p34"/>
          <p:cNvGraphicFramePr/>
          <p:nvPr/>
        </p:nvGraphicFramePr>
        <p:xfrm>
          <a:off x="777240" y="1783080"/>
          <a:ext cx="3000000" cy="3000000"/>
        </p:xfrm>
        <a:graphic>
          <a:graphicData uri="http://schemas.openxmlformats.org/drawingml/2006/table">
            <a:tbl>
              <a:tblPr>
                <a:noFill/>
                <a:tableStyleId>{899A2ED6-0AEB-45F8-B290-8317CC3EE3F4}</a:tableStyleId>
              </a:tblPr>
              <a:tblGrid>
                <a:gridCol w="3017525"/>
                <a:gridCol w="1737350"/>
                <a:gridCol w="1737350"/>
                <a:gridCol w="1828800"/>
              </a:tblGrid>
              <a:tr h="42062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Modelo base</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Completa fatos</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Perda no texto</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Bits por peso linear</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r>
              <a:tr h="420625">
                <a:tc>
                  <a:txBody>
                    <a:bodyPr/>
                    <a:lstStyle/>
                    <a:p>
                      <a:pPr indent="0" lvl="0" marL="0" marR="0" rtl="0" algn="l">
                        <a:spcBef>
                          <a:spcPts val="0"/>
                        </a:spcBef>
                        <a:spcAft>
                          <a:spcPts val="0"/>
                        </a:spcAft>
                        <a:buClr>
                          <a:srgbClr val="0F1C2E"/>
                        </a:buClr>
                        <a:buSzPts val="1300"/>
                        <a:buFont typeface="Calibri"/>
                        <a:buNone/>
                      </a:pPr>
                      <a:r>
                        <a:rPr b="1" lang="en-US" sz="1300" u="none" cap="none" strike="noStrike">
                          <a:solidFill>
                            <a:srgbClr val="0F1C2E"/>
                          </a:solidFill>
                          <a:latin typeface="Calibri"/>
                          <a:ea typeface="Calibri"/>
                          <a:cs typeface="Calibri"/>
                          <a:sym typeface="Calibri"/>
                        </a:rPr>
                        <a:t>Original (float32)</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100%</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0,61</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32</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r h="420625">
                <a:tc>
                  <a:txBody>
                    <a:bodyPr/>
                    <a:lstStyle/>
                    <a:p>
                      <a:pPr indent="0" lvl="0" marL="0" marR="0" rtl="0" algn="l">
                        <a:spcBef>
                          <a:spcPts val="0"/>
                        </a:spcBef>
                        <a:spcAft>
                          <a:spcPts val="0"/>
                        </a:spcAft>
                        <a:buClr>
                          <a:srgbClr val="0F1C2E"/>
                        </a:buClr>
                        <a:buSzPts val="1300"/>
                        <a:buFont typeface="Calibri"/>
                        <a:buNone/>
                      </a:pPr>
                      <a:r>
                        <a:rPr b="1" lang="en-US" sz="1300" u="none" cap="none" strike="noStrike">
                          <a:solidFill>
                            <a:srgbClr val="0F1C2E"/>
                          </a:solidFill>
                          <a:latin typeface="Calibri"/>
                          <a:ea typeface="Calibri"/>
                          <a:cs typeface="Calibri"/>
                          <a:sym typeface="Calibri"/>
                        </a:rPr>
                        <a:t>Quantizado em NF4</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100%</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0,61</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4,129</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r>
            </a:tbl>
          </a:graphicData>
        </a:graphic>
      </p:graphicFrame>
      <p:sp>
        <p:nvSpPr>
          <p:cNvPr id="728" name="Google Shape;728;p34"/>
          <p:cNvSpPr txBox="1"/>
          <p:nvPr/>
        </p:nvSpPr>
        <p:spPr>
          <a:xfrm>
            <a:off x="777240" y="3154680"/>
            <a:ext cx="8321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250"/>
              <a:buFont typeface="Calibri"/>
              <a:buNone/>
            </a:pPr>
            <a:r>
              <a:rPr b="1" i="1" lang="en-US" sz="1250" u="none" cap="none" strike="noStrike">
                <a:solidFill>
                  <a:srgbClr val="A55A18"/>
                </a:solidFill>
                <a:latin typeface="Calibri"/>
                <a:ea typeface="Calibri"/>
                <a:cs typeface="Calibri"/>
                <a:sym typeface="Calibri"/>
              </a:rPr>
              <a:t>Aqui a quantização quase não mudou a base, mas a régua vale: o 'antes' da QLoRA é a base quantizada.</a:t>
            </a:r>
            <a:endParaRPr b="0" i="0" sz="1250" u="none" cap="none" strike="noStrike">
              <a:solidFill>
                <a:schemeClr val="dk1"/>
              </a:solidFill>
              <a:latin typeface="Calibri"/>
              <a:ea typeface="Calibri"/>
              <a:cs typeface="Calibri"/>
              <a:sym typeface="Calibri"/>
            </a:endParaRPr>
          </a:p>
        </p:txBody>
      </p:sp>
      <p:graphicFrame>
        <p:nvGraphicFramePr>
          <p:cNvPr id="729" name="Google Shape;729;p34"/>
          <p:cNvGraphicFramePr/>
          <p:nvPr/>
        </p:nvGraphicFramePr>
        <p:xfrm>
          <a:off x="777240" y="3657600"/>
          <a:ext cx="3000000" cy="3000000"/>
        </p:xfrm>
        <a:graphic>
          <a:graphicData uri="http://schemas.openxmlformats.org/drawingml/2006/table">
            <a:tbl>
              <a:tblPr>
                <a:noFill/>
                <a:tableStyleId>{899A2ED6-0AEB-45F8-B290-8317CC3EE3F4}</a:tableStyleId>
              </a:tblPr>
              <a:tblGrid>
                <a:gridCol w="3017525"/>
                <a:gridCol w="1737350"/>
                <a:gridCol w="1737350"/>
                <a:gridCol w="1828800"/>
              </a:tblGrid>
              <a:tr h="3840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3 sementes, taxa da validação</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Acerto médio</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Faixa</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Pesos lineares</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r>
              <a:tr h="384050">
                <a:tc>
                  <a:txBody>
                    <a:bodyPr/>
                    <a:lstStyle/>
                    <a:p>
                      <a:pPr indent="0" lvl="0" marL="0" marR="0" rtl="0" algn="l">
                        <a:spcBef>
                          <a:spcPts val="0"/>
                        </a:spcBef>
                        <a:spcAft>
                          <a:spcPts val="0"/>
                        </a:spcAft>
                        <a:buClr>
                          <a:srgbClr val="0F1C2E"/>
                        </a:buClr>
                        <a:buSzPts val="1300"/>
                        <a:buFont typeface="Calibri"/>
                        <a:buNone/>
                      </a:pPr>
                      <a:r>
                        <a:rPr b="1" lang="en-US" sz="1300" u="none" cap="none" strike="noStrike">
                          <a:solidFill>
                            <a:srgbClr val="0F1C2E"/>
                          </a:solidFill>
                          <a:latin typeface="Calibri"/>
                          <a:ea typeface="Calibri"/>
                          <a:cs typeface="Calibri"/>
                          <a:sym typeface="Calibri"/>
                        </a:rPr>
                        <a:t>Ajuste completo</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86%</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84% a 87%</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32 bits</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r h="384050">
                <a:tc>
                  <a:txBody>
                    <a:bodyPr/>
                    <a:lstStyle/>
                    <a:p>
                      <a:pPr indent="0" lvl="0" marL="0" marR="0" rtl="0" algn="l">
                        <a:spcBef>
                          <a:spcPts val="0"/>
                        </a:spcBef>
                        <a:spcAft>
                          <a:spcPts val="0"/>
                        </a:spcAft>
                        <a:buClr>
                          <a:srgbClr val="0F1C2E"/>
                        </a:buClr>
                        <a:buSzPts val="1300"/>
                        <a:buFont typeface="Calibri"/>
                        <a:buNone/>
                      </a:pPr>
                      <a:r>
                        <a:rPr b="1" lang="en-US" sz="1300" u="none" cap="none" strike="noStrike">
                          <a:solidFill>
                            <a:srgbClr val="0F1C2E"/>
                          </a:solidFill>
                          <a:latin typeface="Calibri"/>
                          <a:ea typeface="Calibri"/>
                          <a:cs typeface="Calibri"/>
                          <a:sym typeface="Calibri"/>
                        </a:rPr>
                        <a:t>LoRA r = 8</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86%</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81% a 91%</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32 bits</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r>
              <a:tr h="384050">
                <a:tc>
                  <a:txBody>
                    <a:bodyPr/>
                    <a:lstStyle/>
                    <a:p>
                      <a:pPr indent="0" lvl="0" marL="0" marR="0" rtl="0" algn="l">
                        <a:spcBef>
                          <a:spcPts val="0"/>
                        </a:spcBef>
                        <a:spcAft>
                          <a:spcPts val="0"/>
                        </a:spcAft>
                        <a:buClr>
                          <a:srgbClr val="0F1C2E"/>
                        </a:buClr>
                        <a:buSzPts val="1300"/>
                        <a:buFont typeface="Calibri"/>
                        <a:buNone/>
                      </a:pPr>
                      <a:r>
                        <a:rPr b="1" lang="en-US" sz="1300" u="none" cap="none" strike="noStrike">
                          <a:solidFill>
                            <a:srgbClr val="0F1C2E"/>
                          </a:solidFill>
                          <a:latin typeface="Calibri"/>
                          <a:ea typeface="Calibri"/>
                          <a:cs typeface="Calibri"/>
                          <a:sym typeface="Calibri"/>
                        </a:rPr>
                        <a:t>QLoRA r = 8</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86%</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79% a 90%</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300"/>
                        <a:buFont typeface="Calibri"/>
                        <a:buNone/>
                      </a:pPr>
                      <a:r>
                        <a:rPr lang="en-US" sz="1300" u="none" cap="none" strike="noStrike">
                          <a:solidFill>
                            <a:srgbClr val="4B5D73"/>
                          </a:solidFill>
                          <a:latin typeface="Calibri"/>
                          <a:ea typeface="Calibri"/>
                          <a:cs typeface="Calibri"/>
                          <a:sym typeface="Calibri"/>
                        </a:rPr>
                        <a:t>4,13 bits</a:t>
                      </a:r>
                      <a:endParaRPr sz="130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r>
            </a:tbl>
          </a:graphicData>
        </a:graphic>
      </p:graphicFrame>
      <p:sp>
        <p:nvSpPr>
          <p:cNvPr id="730" name="Google Shape;730;p34"/>
          <p:cNvSpPr txBox="1"/>
          <p:nvPr/>
        </p:nvSpPr>
        <p:spPr>
          <a:xfrm>
            <a:off x="9372600" y="1810512"/>
            <a:ext cx="204185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5F55"/>
              </a:buClr>
              <a:buSzPts val="1450"/>
              <a:buFont typeface="Calibri"/>
              <a:buNone/>
            </a:pPr>
            <a:r>
              <a:rPr b="1" i="0" lang="en-US" sz="1450" u="none" cap="none" strike="noStrike">
                <a:solidFill>
                  <a:srgbClr val="0E5F55"/>
                </a:solidFill>
                <a:latin typeface="Calibri"/>
                <a:ea typeface="Calibri"/>
                <a:cs typeface="Calibri"/>
                <a:sym typeface="Calibri"/>
              </a:rPr>
              <a:t>Leitura</a:t>
            </a:r>
            <a:endParaRPr b="0" i="0" sz="1450" u="none" cap="none" strike="noStrike">
              <a:solidFill>
                <a:schemeClr val="dk1"/>
              </a:solidFill>
              <a:latin typeface="Calibri"/>
              <a:ea typeface="Calibri"/>
              <a:cs typeface="Calibri"/>
              <a:sym typeface="Calibri"/>
            </a:endParaRPr>
          </a:p>
        </p:txBody>
      </p:sp>
      <p:sp>
        <p:nvSpPr>
          <p:cNvPr id="731" name="Google Shape;731;p34"/>
          <p:cNvSpPr txBox="1"/>
          <p:nvPr/>
        </p:nvSpPr>
        <p:spPr>
          <a:xfrm>
            <a:off x="9372600" y="2139696"/>
            <a:ext cx="2041855" cy="146304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Médias praticamente iguais e faixas que se sobrepõem: nenhum método venceu nesta tarefa.</a:t>
            </a:r>
            <a:endParaRPr b="0" i="0" sz="1300" u="none" cap="none" strike="noStrike">
              <a:solidFill>
                <a:schemeClr val="dk1"/>
              </a:solidFill>
              <a:latin typeface="Calibri"/>
              <a:ea typeface="Calibri"/>
              <a:cs typeface="Calibri"/>
              <a:sym typeface="Calibri"/>
            </a:endParaRPr>
          </a:p>
        </p:txBody>
      </p:sp>
      <p:sp>
        <p:nvSpPr>
          <p:cNvPr id="732" name="Google Shape;732;p34"/>
          <p:cNvSpPr txBox="1"/>
          <p:nvPr/>
        </p:nvSpPr>
        <p:spPr>
          <a:xfrm>
            <a:off x="9372600" y="3520440"/>
            <a:ext cx="204185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450"/>
              <a:buFont typeface="Calibri"/>
              <a:buNone/>
            </a:pPr>
            <a:r>
              <a:rPr b="1" i="0" lang="en-US" sz="1450" u="none" cap="none" strike="noStrike">
                <a:solidFill>
                  <a:srgbClr val="0F1C2E"/>
                </a:solidFill>
                <a:latin typeface="Calibri"/>
                <a:ea typeface="Calibri"/>
                <a:cs typeface="Calibri"/>
                <a:sym typeface="Calibri"/>
              </a:rPr>
              <a:t>Na literatura</a:t>
            </a:r>
            <a:endParaRPr b="0" i="0" sz="1450" u="none" cap="none" strike="noStrike">
              <a:solidFill>
                <a:schemeClr val="dk1"/>
              </a:solidFill>
              <a:latin typeface="Calibri"/>
              <a:ea typeface="Calibri"/>
              <a:cs typeface="Calibri"/>
              <a:sym typeface="Calibri"/>
            </a:endParaRPr>
          </a:p>
        </p:txBody>
      </p:sp>
      <p:sp>
        <p:nvSpPr>
          <p:cNvPr id="733" name="Google Shape;733;p34"/>
          <p:cNvSpPr txBox="1"/>
          <p:nvPr/>
        </p:nvSpPr>
        <p:spPr>
          <a:xfrm>
            <a:off x="9372600" y="3849624"/>
            <a:ext cx="2041855" cy="128016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Com adapters em todas as lineares, a QLoRA igualou o ajuste em 16 bits (Dettmers et al., 2023).</a:t>
            </a:r>
            <a:endParaRPr b="0" i="0" sz="1300" u="none" cap="none" strike="noStrike">
              <a:solidFill>
                <a:schemeClr val="dk1"/>
              </a:solidFill>
              <a:latin typeface="Calibri"/>
              <a:ea typeface="Calibri"/>
              <a:cs typeface="Calibri"/>
              <a:sym typeface="Calibri"/>
            </a:endParaRPr>
          </a:p>
        </p:txBody>
      </p:sp>
      <p:sp>
        <p:nvSpPr>
          <p:cNvPr id="734" name="Google Shape;734;p34"/>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35"/>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Adapter separado e merge</a:t>
            </a:r>
            <a:endParaRPr sz="3100"/>
          </a:p>
        </p:txBody>
      </p:sp>
      <p:sp>
        <p:nvSpPr>
          <p:cNvPr id="741" name="Google Shape;741;p35"/>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Depois do treino, o adapter pode ficar separado da base ou ser somado a ela. As duas formas precisam dar as mesmas respostas.</a:t>
            </a:r>
            <a:endParaRPr b="0" i="0" sz="1450" u="none" cap="none" strike="noStrike">
              <a:solidFill>
                <a:schemeClr val="dk1"/>
              </a:solidFill>
              <a:latin typeface="Calibri"/>
              <a:ea typeface="Calibri"/>
              <a:cs typeface="Calibri"/>
              <a:sym typeface="Calibri"/>
            </a:endParaRPr>
          </a:p>
        </p:txBody>
      </p:sp>
      <p:sp>
        <p:nvSpPr>
          <p:cNvPr id="742" name="Google Shape;742;p35"/>
          <p:cNvSpPr/>
          <p:nvPr/>
        </p:nvSpPr>
        <p:spPr>
          <a:xfrm>
            <a:off x="777240" y="1810512"/>
            <a:ext cx="4937760" cy="1783080"/>
          </a:xfrm>
          <a:prstGeom prst="roundRect">
            <a:avLst>
              <a:gd fmla="val 410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5"/>
          <p:cNvSpPr txBox="1"/>
          <p:nvPr/>
        </p:nvSpPr>
        <p:spPr>
          <a:xfrm>
            <a:off x="1051560" y="1901952"/>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700"/>
              <a:buFont typeface="Cambria"/>
              <a:buNone/>
            </a:pPr>
            <a:r>
              <a:rPr b="1" i="0" lang="en-US" sz="1700" u="none" cap="none" strike="noStrike">
                <a:solidFill>
                  <a:srgbClr val="0F1C2E"/>
                </a:solidFill>
                <a:latin typeface="Cambria"/>
                <a:ea typeface="Cambria"/>
                <a:cs typeface="Cambria"/>
                <a:sym typeface="Cambria"/>
              </a:rPr>
              <a:t>Separado</a:t>
            </a:r>
            <a:endParaRPr b="0" i="0" sz="1700" u="none" cap="none" strike="noStrike">
              <a:solidFill>
                <a:schemeClr val="dk1"/>
              </a:solidFill>
              <a:latin typeface="Calibri"/>
              <a:ea typeface="Calibri"/>
              <a:cs typeface="Calibri"/>
              <a:sym typeface="Calibri"/>
            </a:endParaRPr>
          </a:p>
        </p:txBody>
      </p:sp>
      <p:sp>
        <p:nvSpPr>
          <p:cNvPr id="744" name="Google Shape;744;p35"/>
          <p:cNvSpPr txBox="1"/>
          <p:nvPr/>
        </p:nvSpPr>
        <p:spPr>
          <a:xfrm>
            <a:off x="1051560" y="2240280"/>
            <a:ext cx="4389120" cy="128016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Guarda-se só A e B: 16.384 parâmetros (64 KB em float32), contra 132.352 do modelo. Uma base, vários adapters trocáveis. No PEFT: save_pretrained.</a:t>
            </a:r>
            <a:endParaRPr b="0" i="0" sz="1300" u="none" cap="none" strike="noStrike">
              <a:solidFill>
                <a:schemeClr val="dk1"/>
              </a:solidFill>
              <a:latin typeface="Calibri"/>
              <a:ea typeface="Calibri"/>
              <a:cs typeface="Calibri"/>
              <a:sym typeface="Calibri"/>
            </a:endParaRPr>
          </a:p>
        </p:txBody>
      </p:sp>
      <p:sp>
        <p:nvSpPr>
          <p:cNvPr id="745" name="Google Shape;745;p35"/>
          <p:cNvSpPr/>
          <p:nvPr/>
        </p:nvSpPr>
        <p:spPr>
          <a:xfrm>
            <a:off x="6080760" y="1810512"/>
            <a:ext cx="5333695" cy="1783080"/>
          </a:xfrm>
          <a:prstGeom prst="roundRect">
            <a:avLst>
              <a:gd fmla="val 410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5"/>
          <p:cNvSpPr txBox="1"/>
          <p:nvPr/>
        </p:nvSpPr>
        <p:spPr>
          <a:xfrm>
            <a:off x="6355080" y="1901952"/>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700"/>
              <a:buFont typeface="Cambria"/>
              <a:buNone/>
            </a:pPr>
            <a:r>
              <a:rPr b="1" i="0" lang="en-US" sz="1700" u="none" cap="none" strike="noStrike">
                <a:solidFill>
                  <a:srgbClr val="0F1C2E"/>
                </a:solidFill>
                <a:latin typeface="Cambria"/>
                <a:ea typeface="Cambria"/>
                <a:cs typeface="Cambria"/>
                <a:sym typeface="Cambria"/>
              </a:rPr>
              <a:t>Fundido (merge)</a:t>
            </a:r>
            <a:endParaRPr b="0" i="0" sz="1700" u="none" cap="none" strike="noStrike">
              <a:solidFill>
                <a:schemeClr val="dk1"/>
              </a:solidFill>
              <a:latin typeface="Calibri"/>
              <a:ea typeface="Calibri"/>
              <a:cs typeface="Calibri"/>
              <a:sym typeface="Calibri"/>
            </a:endParaRPr>
          </a:p>
        </p:txBody>
      </p:sp>
      <p:sp>
        <p:nvSpPr>
          <p:cNvPr id="747" name="Google Shape;747;p35"/>
          <p:cNvSpPr txBox="1"/>
          <p:nvPr/>
        </p:nvSpPr>
        <p:spPr>
          <a:xfrm>
            <a:off x="6355080" y="2240280"/>
            <a:ext cx="4785055" cy="1280160"/>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W' = W + (α/r)·A·B vira uma matriz comum: nenhum custo extra na inferência. No PEFT: merge_and_unload. Conferido no nosso modelo: maior diferença de logits 1,4e-5, acerto idêntico.</a:t>
            </a:r>
            <a:endParaRPr b="0" i="0" sz="1300" u="none" cap="none" strike="noStrike">
              <a:solidFill>
                <a:schemeClr val="dk1"/>
              </a:solidFill>
              <a:latin typeface="Calibri"/>
              <a:ea typeface="Calibri"/>
              <a:cs typeface="Calibri"/>
              <a:sym typeface="Calibri"/>
            </a:endParaRPr>
          </a:p>
        </p:txBody>
      </p:sp>
      <p:sp>
        <p:nvSpPr>
          <p:cNvPr id="748" name="Google Shape;748;p35"/>
          <p:cNvSpPr txBox="1"/>
          <p:nvPr/>
        </p:nvSpPr>
        <p:spPr>
          <a:xfrm>
            <a:off x="777240" y="3794760"/>
            <a:ext cx="7315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600"/>
              <a:buFont typeface="Cambria"/>
              <a:buNone/>
            </a:pPr>
            <a:r>
              <a:rPr b="1" i="0" lang="en-US" sz="1600" u="none" cap="none" strike="noStrike">
                <a:solidFill>
                  <a:srgbClr val="C0392B"/>
                </a:solidFill>
                <a:latin typeface="Cambria"/>
                <a:ea typeface="Cambria"/>
                <a:cs typeface="Cambria"/>
                <a:sym typeface="Cambria"/>
              </a:rPr>
              <a:t>Na QLoRA, o merge tem armadilhas</a:t>
            </a:r>
            <a:endParaRPr b="0" i="0" sz="1600" u="none" cap="none" strike="noStrike">
              <a:solidFill>
                <a:schemeClr val="dk1"/>
              </a:solidFill>
              <a:latin typeface="Calibri"/>
              <a:ea typeface="Calibri"/>
              <a:cs typeface="Calibri"/>
              <a:sym typeface="Calibri"/>
            </a:endParaRPr>
          </a:p>
        </p:txBody>
      </p:sp>
      <p:graphicFrame>
        <p:nvGraphicFramePr>
          <p:cNvPr id="749" name="Google Shape;749;p35"/>
          <p:cNvGraphicFramePr/>
          <p:nvPr/>
        </p:nvGraphicFramePr>
        <p:xfrm>
          <a:off x="777240" y="4160520"/>
          <a:ext cx="3000000" cy="3000000"/>
        </p:xfrm>
        <a:graphic>
          <a:graphicData uri="http://schemas.openxmlformats.org/drawingml/2006/table">
            <a:tbl>
              <a:tblPr>
                <a:noFill/>
                <a:tableStyleId>{899A2ED6-0AEB-45F8-B290-8317CC3EE3F4}</a:tableStyleId>
              </a:tblPr>
              <a:tblGrid>
                <a:gridCol w="5760725"/>
                <a:gridCol w="2377450"/>
                <a:gridCol w="2496300"/>
              </a:tblGrid>
              <a:tr h="329175">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QLoRA (r = 8, semente 3)</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Acerto no teste</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Completa fatos</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r>
              <a:tr h="329175">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Adapter sobre a base em NF4 (como foi treinado)</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Fundido sobre a base desquantizada</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r>
              <a:tr h="329175">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Fundido e quantizado de novo em NF4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82%</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93%</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r h="329175">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Adapter aplicado à base original (float32)</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87%</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r>
            </a:tbl>
          </a:graphicData>
        </a:graphic>
      </p:graphicFrame>
      <p:sp>
        <p:nvSpPr>
          <p:cNvPr id="750" name="Google Shape;750;p35"/>
          <p:cNvSpPr txBox="1"/>
          <p:nvPr/>
        </p:nvSpPr>
        <p:spPr>
          <a:xfrm>
            <a:off x="777240" y="5943600"/>
            <a:ext cx="10637215"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494A6"/>
              </a:buClr>
              <a:buSzPts val="1050"/>
              <a:buFont typeface="Calibri"/>
              <a:buNone/>
            </a:pPr>
            <a:r>
              <a:rPr b="0" i="1" lang="en-US" sz="1050" u="none" cap="none" strike="noStrike">
                <a:solidFill>
                  <a:srgbClr val="8494A6"/>
                </a:solidFill>
                <a:latin typeface="Calibri"/>
                <a:ea typeface="Calibri"/>
                <a:cs typeface="Calibri"/>
                <a:sym typeface="Calibri"/>
              </a:rPr>
              <a:t>PEFT: merge em pesos quantizados exige desquantizar, somar e re-quantizar; o código avisa sobre diferenças de arredondamento.</a:t>
            </a:r>
            <a:endParaRPr b="0" i="0" sz="1050" u="none" cap="none" strike="noStrike">
              <a:solidFill>
                <a:schemeClr val="dk1"/>
              </a:solidFill>
              <a:latin typeface="Calibri"/>
              <a:ea typeface="Calibri"/>
              <a:cs typeface="Calibri"/>
              <a:sym typeface="Calibri"/>
            </a:endParaRPr>
          </a:p>
        </p:txBody>
      </p:sp>
      <p:sp>
        <p:nvSpPr>
          <p:cNvPr id="751" name="Google Shape;751;p35"/>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36"/>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Avaliação antes e depois</a:t>
            </a:r>
            <a:endParaRPr sz="3100"/>
          </a:p>
        </p:txBody>
      </p:sp>
      <p:sp>
        <p:nvSpPr>
          <p:cNvPr id="758" name="Google Shape;758;p36"/>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Semente 3 de cada método. O que ganhou na tarefa e o que se perdeu do pré-treino, lado a lado.</a:t>
            </a:r>
            <a:endParaRPr b="0" i="0" sz="1450" u="none" cap="none" strike="noStrike">
              <a:solidFill>
                <a:schemeClr val="dk1"/>
              </a:solidFill>
              <a:latin typeface="Calibri"/>
              <a:ea typeface="Calibri"/>
              <a:cs typeface="Calibri"/>
              <a:sym typeface="Calibri"/>
            </a:endParaRPr>
          </a:p>
        </p:txBody>
      </p:sp>
      <p:graphicFrame>
        <p:nvGraphicFramePr>
          <p:cNvPr id="759" name="Google Shape;759;p36"/>
          <p:cNvGraphicFramePr/>
          <p:nvPr/>
        </p:nvGraphicFramePr>
        <p:xfrm>
          <a:off x="777240" y="1783080"/>
          <a:ext cx="3000000" cy="3000000"/>
        </p:xfrm>
        <a:graphic>
          <a:graphicData uri="http://schemas.openxmlformats.org/drawingml/2006/table">
            <a:tbl>
              <a:tblPr>
                <a:noFill/>
                <a:tableStyleId>{899A2ED6-0AEB-45F8-B290-8317CC3EE3F4}</a:tableStyleId>
              </a:tblPr>
              <a:tblGrid>
                <a:gridCol w="2743200"/>
                <a:gridCol w="1325875"/>
                <a:gridCol w="1234450"/>
                <a:gridCol w="1325875"/>
                <a:gridCol w="1234450"/>
                <a:gridCol w="1371600"/>
                <a:gridCol w="1399025"/>
              </a:tblGrid>
              <a:tr h="393200">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Modelo</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Treináveis</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Teste</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Formas novas</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2º turno</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Completa fatos</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Perda no texto</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r>
              <a:tr h="39320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Base</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100%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0,61</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r h="39320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Base em NF4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100%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0,61</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r>
              <a:tr h="39320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Ajuste completo</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132.352</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71%</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67%</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99%</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1,63</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r h="39320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LoRA (adapter)</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16.384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87%</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83%</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74%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2,52</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r>
              <a:tr h="39320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LoRA fundida</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16.384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87%</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83%</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74%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2,52</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r>
              <a:tr h="39320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QLoRA (adapter)</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16.384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80%</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74%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2,58</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r>
              <a:tr h="39320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QLoRA fundida e re-quantizada</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16.384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82%</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77%</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74%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93%</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2,57</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bl>
          </a:graphicData>
        </a:graphic>
      </p:graphicFrame>
      <p:sp>
        <p:nvSpPr>
          <p:cNvPr id="760" name="Google Shape;760;p36"/>
          <p:cNvSpPr/>
          <p:nvPr/>
        </p:nvSpPr>
        <p:spPr>
          <a:xfrm>
            <a:off x="777240" y="5074920"/>
            <a:ext cx="10637215" cy="777240"/>
          </a:xfrm>
          <a:prstGeom prst="roundRect">
            <a:avLst>
              <a:gd fmla="val 9412"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6"/>
          <p:cNvSpPr txBox="1"/>
          <p:nvPr/>
        </p:nvSpPr>
        <p:spPr>
          <a:xfrm>
            <a:off x="1051560" y="5074920"/>
            <a:ext cx="10088575" cy="7772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0F1C2E"/>
              </a:buClr>
              <a:buSzPts val="1300"/>
              <a:buFont typeface="Calibri"/>
              <a:buNone/>
            </a:pPr>
            <a:r>
              <a:rPr b="1" i="0" lang="en-US" sz="1300" u="none" cap="none" strike="noStrike">
                <a:solidFill>
                  <a:srgbClr val="0F1C2E"/>
                </a:solidFill>
                <a:latin typeface="Calibri"/>
                <a:ea typeface="Calibri"/>
                <a:cs typeface="Calibri"/>
                <a:sym typeface="Calibri"/>
              </a:rPr>
              <a:t>Como ler: </a:t>
            </a:r>
            <a:r>
              <a:rPr b="0" i="0" lang="en-US" sz="1300" u="none" cap="none" strike="noStrike">
                <a:solidFill>
                  <a:srgbClr val="4B5D73"/>
                </a:solidFill>
                <a:latin typeface="Calibri"/>
                <a:ea typeface="Calibri"/>
                <a:cs typeface="Calibri"/>
                <a:sym typeface="Calibri"/>
              </a:rPr>
              <a:t>sem replay, todos esquecem parte do texto de pré-treino, e aqui a LoRA esqueceu mais que o ajuste completo. A LoRA fundida repete a LoRA com adapter: é a conferência do merge.</a:t>
            </a:r>
            <a:endParaRPr b="0" i="0" sz="1300" u="none" cap="none" strike="noStrike">
              <a:solidFill>
                <a:schemeClr val="dk1"/>
              </a:solidFill>
              <a:latin typeface="Calibri"/>
              <a:ea typeface="Calibri"/>
              <a:cs typeface="Calibri"/>
              <a:sym typeface="Calibri"/>
            </a:endParaRPr>
          </a:p>
        </p:txBody>
      </p:sp>
      <p:sp>
        <p:nvSpPr>
          <p:cNvPr id="762" name="Google Shape;762;p36"/>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37"/>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Comparação válida: a taxa de aprendizado</a:t>
            </a:r>
            <a:endParaRPr sz="3100"/>
          </a:p>
        </p:txBody>
      </p:sp>
      <p:sp>
        <p:nvSpPr>
          <p:cNvPr id="769" name="Google Shape;769;p37"/>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Acerto no teste com cada taxa testada. A barra destacada é a taxa que a validação escolheu.</a:t>
            </a:r>
            <a:endParaRPr b="0" i="0" sz="1450" u="none" cap="none" strike="noStrike">
              <a:solidFill>
                <a:schemeClr val="dk1"/>
              </a:solidFill>
              <a:latin typeface="Calibri"/>
              <a:ea typeface="Calibri"/>
              <a:cs typeface="Calibri"/>
              <a:sym typeface="Calibri"/>
            </a:endParaRPr>
          </a:p>
        </p:txBody>
      </p:sp>
      <p:sp>
        <p:nvSpPr>
          <p:cNvPr id="770" name="Google Shape;770;p37"/>
          <p:cNvSpPr txBox="1"/>
          <p:nvPr/>
        </p:nvSpPr>
        <p:spPr>
          <a:xfrm>
            <a:off x="777240" y="1783080"/>
            <a:ext cx="509000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Ajuste completo</a:t>
            </a:r>
            <a:endParaRPr b="0" i="0" sz="1600" u="none" cap="none" strike="noStrike">
              <a:solidFill>
                <a:schemeClr val="dk1"/>
              </a:solidFill>
              <a:latin typeface="Calibri"/>
              <a:ea typeface="Calibri"/>
              <a:cs typeface="Calibri"/>
              <a:sym typeface="Calibri"/>
            </a:endParaRPr>
          </a:p>
        </p:txBody>
      </p:sp>
      <p:pic>
        <p:nvPicPr>
          <p:cNvPr id="771" name="Google Shape;771;p37"/>
          <p:cNvPicPr preferRelativeResize="0"/>
          <p:nvPr/>
        </p:nvPicPr>
        <p:blipFill rotWithShape="1">
          <a:blip r:embed="rId3">
            <a:alphaModFix/>
          </a:blip>
          <a:srcRect b="0" l="0" r="0" t="0"/>
          <a:stretch/>
        </p:blipFill>
        <p:spPr>
          <a:xfrm>
            <a:off x="777240" y="2103120"/>
            <a:ext cx="5090008" cy="2331720"/>
          </a:xfrm>
          <a:prstGeom prst="rect">
            <a:avLst/>
          </a:prstGeom>
          <a:noFill/>
          <a:ln>
            <a:noFill/>
          </a:ln>
        </p:spPr>
      </p:pic>
      <p:sp>
        <p:nvSpPr>
          <p:cNvPr id="772" name="Google Shape;772;p37"/>
          <p:cNvSpPr txBox="1"/>
          <p:nvPr/>
        </p:nvSpPr>
        <p:spPr>
          <a:xfrm>
            <a:off x="6324448" y="1783080"/>
            <a:ext cx="509000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LoRA r = 8</a:t>
            </a:r>
            <a:endParaRPr b="0" i="0" sz="1600" u="none" cap="none" strike="noStrike">
              <a:solidFill>
                <a:schemeClr val="dk1"/>
              </a:solidFill>
              <a:latin typeface="Calibri"/>
              <a:ea typeface="Calibri"/>
              <a:cs typeface="Calibri"/>
              <a:sym typeface="Calibri"/>
            </a:endParaRPr>
          </a:p>
        </p:txBody>
      </p:sp>
      <p:pic>
        <p:nvPicPr>
          <p:cNvPr id="773" name="Google Shape;773;p37"/>
          <p:cNvPicPr preferRelativeResize="0"/>
          <p:nvPr/>
        </p:nvPicPr>
        <p:blipFill rotWithShape="1">
          <a:blip r:embed="rId4">
            <a:alphaModFix/>
          </a:blip>
          <a:srcRect b="0" l="0" r="0" t="0"/>
          <a:stretch/>
        </p:blipFill>
        <p:spPr>
          <a:xfrm>
            <a:off x="6324448" y="2103120"/>
            <a:ext cx="5090008" cy="2331720"/>
          </a:xfrm>
          <a:prstGeom prst="rect">
            <a:avLst/>
          </a:prstGeom>
          <a:noFill/>
          <a:ln>
            <a:noFill/>
          </a:ln>
        </p:spPr>
      </p:pic>
      <p:graphicFrame>
        <p:nvGraphicFramePr>
          <p:cNvPr id="774" name="Google Shape;774;p37"/>
          <p:cNvGraphicFramePr/>
          <p:nvPr/>
        </p:nvGraphicFramePr>
        <p:xfrm>
          <a:off x="777240" y="4572000"/>
          <a:ext cx="3000000" cy="3000000"/>
        </p:xfrm>
        <a:graphic>
          <a:graphicData uri="http://schemas.openxmlformats.org/drawingml/2006/table">
            <a:tbl>
              <a:tblPr>
                <a:noFill/>
                <a:tableStyleId>{899A2ED6-0AEB-45F8-B290-8317CC3EE3F4}</a:tableStyleId>
              </a:tblPr>
              <a:tblGrid>
                <a:gridCol w="4206250"/>
                <a:gridCol w="2103125"/>
                <a:gridCol w="2103125"/>
                <a:gridCol w="2222000"/>
              </a:tblGrid>
              <a:tr h="301750">
                <a:tc>
                  <a:txBody>
                    <a:bodyPr/>
                    <a:lstStyle/>
                    <a:p>
                      <a:pPr indent="0" lvl="0" marL="0" marR="0" rtl="0" algn="l">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Mesma taxa para os dois?</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Completo</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LoRA</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c>
                  <a:txBody>
                    <a:bodyPr/>
                    <a:lstStyle/>
                    <a:p>
                      <a:pPr indent="0" lvl="0" marL="0" marR="0" rtl="0" algn="ctr">
                        <a:spcBef>
                          <a:spcPts val="0"/>
                        </a:spcBef>
                        <a:spcAft>
                          <a:spcPts val="0"/>
                        </a:spcAft>
                        <a:buClr>
                          <a:srgbClr val="FFFFFF"/>
                        </a:buClr>
                        <a:buSzPts val="1250"/>
                        <a:buFont typeface="Calibri"/>
                        <a:buNone/>
                      </a:pPr>
                      <a:r>
                        <a:rPr b="1" lang="en-US" sz="1250" u="none" cap="none" strike="noStrike">
                          <a:solidFill>
                            <a:srgbClr val="FFFFFF"/>
                          </a:solidFill>
                          <a:latin typeface="Calibri"/>
                          <a:ea typeface="Calibri"/>
                          <a:cs typeface="Calibri"/>
                          <a:sym typeface="Calibri"/>
                        </a:rPr>
                        <a:t>Parece que...</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0F1C2E"/>
                    </a:solidFill>
                  </a:tcPr>
                </a:tc>
              </a:tr>
              <a:tr h="30175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Taxa 3e-4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87%</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34%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o completo vence</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FFFFF"/>
                    </a:solidFill>
                  </a:tcPr>
                </a:tc>
              </a:tr>
              <a:tr h="30175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Taxa 2e-3</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13%</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96%</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a LoRA vence</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EFF3F7"/>
                    </a:solidFill>
                  </a:tcPr>
                </a:tc>
              </a:tr>
              <a:tr h="301750">
                <a:tc>
                  <a:txBody>
                    <a:bodyPr/>
                    <a:lstStyle/>
                    <a:p>
                      <a:pPr indent="0" lvl="0" marL="0" marR="0" rtl="0" algn="l">
                        <a:spcBef>
                          <a:spcPts val="0"/>
                        </a:spcBef>
                        <a:spcAft>
                          <a:spcPts val="0"/>
                        </a:spcAft>
                        <a:buClr>
                          <a:srgbClr val="0F1C2E"/>
                        </a:buClr>
                        <a:buSzPts val="1250"/>
                        <a:buFont typeface="Calibri"/>
                        <a:buNone/>
                      </a:pPr>
                      <a:r>
                        <a:rPr b="1" lang="en-US" sz="1250" u="none" cap="none" strike="noStrike">
                          <a:solidFill>
                            <a:srgbClr val="0F1C2E"/>
                          </a:solidFill>
                          <a:latin typeface="Calibri"/>
                          <a:ea typeface="Calibri"/>
                          <a:cs typeface="Calibri"/>
                          <a:sym typeface="Calibri"/>
                        </a:rPr>
                        <a:t>Cada um com a sua (2e-4 e 1e-3)</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84%</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87%</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c>
                  <a:txBody>
                    <a:bodyPr/>
                    <a:lstStyle/>
                    <a:p>
                      <a:pPr indent="0" lvl="0" marL="0" marR="0" rtl="0" algn="ctr">
                        <a:spcBef>
                          <a:spcPts val="0"/>
                        </a:spcBef>
                        <a:spcAft>
                          <a:spcPts val="0"/>
                        </a:spcAft>
                        <a:buClr>
                          <a:srgbClr val="4B5D73"/>
                        </a:buClr>
                        <a:buSzPts val="1250"/>
                        <a:buFont typeface="Calibri"/>
                        <a:buNone/>
                      </a:pPr>
                      <a:r>
                        <a:rPr lang="en-US" sz="1250" u="none" cap="none" strike="noStrike">
                          <a:solidFill>
                            <a:srgbClr val="4B5D73"/>
                          </a:solidFill>
                          <a:latin typeface="Calibri"/>
                          <a:ea typeface="Calibri"/>
                          <a:cs typeface="Calibri"/>
                          <a:sym typeface="Calibri"/>
                        </a:rPr>
                        <a:t>comparação válida</a:t>
                      </a:r>
                      <a:endParaRPr sz="1250" u="none" cap="none" strike="noStrike">
                        <a:latin typeface="Calibri"/>
                        <a:ea typeface="Calibri"/>
                        <a:cs typeface="Calibri"/>
                        <a:sym typeface="Calibri"/>
                      </a:endParaRPr>
                    </a:p>
                  </a:txBody>
                  <a:tcPr marT="36575" marB="36575" marR="91450" marL="91450" anchor="ctr">
                    <a:lnL cap="flat" cmpd="sng" w="9525">
                      <a:solidFill>
                        <a:srgbClr val="D8E0E9"/>
                      </a:solidFill>
                      <a:prstDash val="solid"/>
                      <a:round/>
                      <a:headEnd len="sm" w="sm" type="none"/>
                      <a:tailEnd len="sm" w="sm" type="none"/>
                    </a:lnL>
                    <a:lnR cap="flat" cmpd="sng" w="9525">
                      <a:solidFill>
                        <a:srgbClr val="D8E0E9"/>
                      </a:solidFill>
                      <a:prstDash val="solid"/>
                      <a:round/>
                      <a:headEnd len="sm" w="sm" type="none"/>
                      <a:tailEnd len="sm" w="sm" type="none"/>
                    </a:lnR>
                    <a:lnT cap="flat" cmpd="sng" w="9525">
                      <a:solidFill>
                        <a:srgbClr val="D8E0E9"/>
                      </a:solidFill>
                      <a:prstDash val="solid"/>
                      <a:round/>
                      <a:headEnd len="sm" w="sm" type="none"/>
                      <a:tailEnd len="sm" w="sm" type="none"/>
                    </a:lnT>
                    <a:lnB cap="flat" cmpd="sng" w="9525">
                      <a:solidFill>
                        <a:srgbClr val="D8E0E9"/>
                      </a:solidFill>
                      <a:prstDash val="solid"/>
                      <a:round/>
                      <a:headEnd len="sm" w="sm" type="none"/>
                      <a:tailEnd len="sm" w="sm" type="none"/>
                    </a:lnB>
                    <a:solidFill>
                      <a:srgbClr val="FBEFE1"/>
                    </a:solidFill>
                  </a:tcPr>
                </a:tc>
              </a:tr>
            </a:tbl>
          </a:graphicData>
        </a:graphic>
      </p:graphicFrame>
      <p:sp>
        <p:nvSpPr>
          <p:cNvPr id="775" name="Google Shape;775;p37"/>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38"/>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Quando a economia preserva a comparação</a:t>
            </a:r>
            <a:endParaRPr sz="3100"/>
          </a:p>
        </p:txBody>
      </p:sp>
      <p:sp>
        <p:nvSpPr>
          <p:cNvPr id="782" name="Google Shape;782;p38"/>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Seis condições que usamos, e que valem para o projeto. Elas aplicam a semana 6 a métodos de ajuste.</a:t>
            </a:r>
            <a:endParaRPr b="0" i="0" sz="1450" u="none" cap="none" strike="noStrike">
              <a:solidFill>
                <a:schemeClr val="dk1"/>
              </a:solidFill>
              <a:latin typeface="Calibri"/>
              <a:ea typeface="Calibri"/>
              <a:cs typeface="Calibri"/>
              <a:sym typeface="Calibri"/>
            </a:endParaRPr>
          </a:p>
        </p:txBody>
      </p:sp>
      <p:sp>
        <p:nvSpPr>
          <p:cNvPr id="783" name="Google Shape;783;p38"/>
          <p:cNvSpPr/>
          <p:nvPr/>
        </p:nvSpPr>
        <p:spPr>
          <a:xfrm>
            <a:off x="777240" y="1810512"/>
            <a:ext cx="5181448" cy="1188720"/>
          </a:xfrm>
          <a:prstGeom prst="roundRect">
            <a:avLst>
              <a:gd fmla="val 6154"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8"/>
          <p:cNvSpPr/>
          <p:nvPr/>
        </p:nvSpPr>
        <p:spPr>
          <a:xfrm>
            <a:off x="1005840" y="2011680"/>
            <a:ext cx="384048" cy="384048"/>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8"/>
          <p:cNvSpPr txBox="1"/>
          <p:nvPr/>
        </p:nvSpPr>
        <p:spPr>
          <a:xfrm>
            <a:off x="1005840" y="20116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786" name="Google Shape;786;p38"/>
          <p:cNvSpPr txBox="1"/>
          <p:nvPr/>
        </p:nvSpPr>
        <p:spPr>
          <a:xfrm>
            <a:off x="1554480" y="1956816"/>
            <a:ext cx="417560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Mesma base e mesmos dados</a:t>
            </a:r>
            <a:endParaRPr b="0" i="0" sz="1600" u="none" cap="none" strike="noStrike">
              <a:solidFill>
                <a:schemeClr val="dk1"/>
              </a:solidFill>
              <a:latin typeface="Calibri"/>
              <a:ea typeface="Calibri"/>
              <a:cs typeface="Calibri"/>
              <a:sym typeface="Calibri"/>
            </a:endParaRPr>
          </a:p>
        </p:txBody>
      </p:sp>
      <p:sp>
        <p:nvSpPr>
          <p:cNvPr id="787" name="Google Shape;787;p38"/>
          <p:cNvSpPr txBox="1"/>
          <p:nvPr/>
        </p:nvSpPr>
        <p:spPr>
          <a:xfrm>
            <a:off x="1554480" y="2322576"/>
            <a:ext cx="4175608" cy="64008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Mesmo modelo de partida, mesmas conversas, mesmo template e mesma máscara.</a:t>
            </a:r>
            <a:endParaRPr b="0" i="0" sz="1300" u="none" cap="none" strike="noStrike">
              <a:solidFill>
                <a:schemeClr val="dk1"/>
              </a:solidFill>
              <a:latin typeface="Calibri"/>
              <a:ea typeface="Calibri"/>
              <a:cs typeface="Calibri"/>
              <a:sym typeface="Calibri"/>
            </a:endParaRPr>
          </a:p>
        </p:txBody>
      </p:sp>
      <p:sp>
        <p:nvSpPr>
          <p:cNvPr id="788" name="Google Shape;788;p38"/>
          <p:cNvSpPr/>
          <p:nvPr/>
        </p:nvSpPr>
        <p:spPr>
          <a:xfrm>
            <a:off x="6233008" y="1810512"/>
            <a:ext cx="5181448" cy="1188720"/>
          </a:xfrm>
          <a:prstGeom prst="roundRect">
            <a:avLst>
              <a:gd fmla="val 6154"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8"/>
          <p:cNvSpPr/>
          <p:nvPr/>
        </p:nvSpPr>
        <p:spPr>
          <a:xfrm>
            <a:off x="6461608" y="2011680"/>
            <a:ext cx="384048" cy="384048"/>
          </a:xfrm>
          <a:prstGeom prst="ellipse">
            <a:avLst/>
          </a:prstGeom>
          <a:solidFill>
            <a:srgbClr val="17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8"/>
          <p:cNvSpPr txBox="1"/>
          <p:nvPr/>
        </p:nvSpPr>
        <p:spPr>
          <a:xfrm>
            <a:off x="6461608" y="201168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791" name="Google Shape;791;p38"/>
          <p:cNvSpPr txBox="1"/>
          <p:nvPr/>
        </p:nvSpPr>
        <p:spPr>
          <a:xfrm>
            <a:off x="7010248" y="1956816"/>
            <a:ext cx="417560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Mesmo orçamento, declarado</a:t>
            </a:r>
            <a:endParaRPr b="0" i="0" sz="1600" u="none" cap="none" strike="noStrike">
              <a:solidFill>
                <a:schemeClr val="dk1"/>
              </a:solidFill>
              <a:latin typeface="Calibri"/>
              <a:ea typeface="Calibri"/>
              <a:cs typeface="Calibri"/>
              <a:sym typeface="Calibri"/>
            </a:endParaRPr>
          </a:p>
        </p:txBody>
      </p:sp>
      <p:sp>
        <p:nvSpPr>
          <p:cNvPr id="792" name="Google Shape;792;p38"/>
          <p:cNvSpPr txBox="1"/>
          <p:nvPr/>
        </p:nvSpPr>
        <p:spPr>
          <a:xfrm>
            <a:off x="7010248" y="2322576"/>
            <a:ext cx="4175608" cy="64008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Mesmos passos e exemplos. Reporte também parâmetros treináveis, memória e tempo.</a:t>
            </a:r>
            <a:endParaRPr b="0" i="0" sz="1300" u="none" cap="none" strike="noStrike">
              <a:solidFill>
                <a:schemeClr val="dk1"/>
              </a:solidFill>
              <a:latin typeface="Calibri"/>
              <a:ea typeface="Calibri"/>
              <a:cs typeface="Calibri"/>
              <a:sym typeface="Calibri"/>
            </a:endParaRPr>
          </a:p>
        </p:txBody>
      </p:sp>
      <p:sp>
        <p:nvSpPr>
          <p:cNvPr id="793" name="Google Shape;793;p38"/>
          <p:cNvSpPr/>
          <p:nvPr/>
        </p:nvSpPr>
        <p:spPr>
          <a:xfrm>
            <a:off x="777240" y="3136392"/>
            <a:ext cx="5181448" cy="1188720"/>
          </a:xfrm>
          <a:prstGeom prst="roundRect">
            <a:avLst>
              <a:gd fmla="val 6154" name="adj"/>
            </a:avLst>
          </a:prstGeom>
          <a:solidFill>
            <a:srgbClr val="FBEFE1"/>
          </a:solidFill>
          <a:ln cap="flat" cmpd="sng" w="152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8"/>
          <p:cNvSpPr/>
          <p:nvPr/>
        </p:nvSpPr>
        <p:spPr>
          <a:xfrm>
            <a:off x="1005840" y="3337560"/>
            <a:ext cx="384048" cy="384048"/>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8"/>
          <p:cNvSpPr txBox="1"/>
          <p:nvPr/>
        </p:nvSpPr>
        <p:spPr>
          <a:xfrm>
            <a:off x="1005840" y="33375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796" name="Google Shape;796;p38"/>
          <p:cNvSpPr txBox="1"/>
          <p:nvPr/>
        </p:nvSpPr>
        <p:spPr>
          <a:xfrm>
            <a:off x="1554480" y="3282696"/>
            <a:ext cx="417560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Busca de taxa para cada método</a:t>
            </a:r>
            <a:endParaRPr b="0" i="0" sz="1600" u="none" cap="none" strike="noStrike">
              <a:solidFill>
                <a:schemeClr val="dk1"/>
              </a:solidFill>
              <a:latin typeface="Calibri"/>
              <a:ea typeface="Calibri"/>
              <a:cs typeface="Calibri"/>
              <a:sym typeface="Calibri"/>
            </a:endParaRPr>
          </a:p>
        </p:txBody>
      </p:sp>
      <p:sp>
        <p:nvSpPr>
          <p:cNvPr id="797" name="Google Shape;797;p38"/>
          <p:cNvSpPr txBox="1"/>
          <p:nvPr/>
        </p:nvSpPr>
        <p:spPr>
          <a:xfrm>
            <a:off x="1554480" y="3648456"/>
            <a:ext cx="4175608" cy="64008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Mesmo número de tentativas para todos, escolha na validação, resultado no teste.</a:t>
            </a:r>
            <a:endParaRPr b="0" i="0" sz="1300" u="none" cap="none" strike="noStrike">
              <a:solidFill>
                <a:schemeClr val="dk1"/>
              </a:solidFill>
              <a:latin typeface="Calibri"/>
              <a:ea typeface="Calibri"/>
              <a:cs typeface="Calibri"/>
              <a:sym typeface="Calibri"/>
            </a:endParaRPr>
          </a:p>
        </p:txBody>
      </p:sp>
      <p:sp>
        <p:nvSpPr>
          <p:cNvPr id="798" name="Google Shape;798;p38"/>
          <p:cNvSpPr/>
          <p:nvPr/>
        </p:nvSpPr>
        <p:spPr>
          <a:xfrm>
            <a:off x="6233008" y="3136392"/>
            <a:ext cx="5181448" cy="1188720"/>
          </a:xfrm>
          <a:prstGeom prst="roundRect">
            <a:avLst>
              <a:gd fmla="val 6154"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8"/>
          <p:cNvSpPr/>
          <p:nvPr/>
        </p:nvSpPr>
        <p:spPr>
          <a:xfrm>
            <a:off x="6461608" y="3337560"/>
            <a:ext cx="384048" cy="384048"/>
          </a:xfrm>
          <a:prstGeom prst="ellipse">
            <a:avLst/>
          </a:prstGeom>
          <a:solidFill>
            <a:srgbClr val="17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8"/>
          <p:cNvSpPr txBox="1"/>
          <p:nvPr/>
        </p:nvSpPr>
        <p:spPr>
          <a:xfrm>
            <a:off x="6461608" y="33375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a:t>
            </a:r>
            <a:endParaRPr b="0" i="0" sz="1500" u="none" cap="none" strike="noStrike">
              <a:solidFill>
                <a:schemeClr val="dk1"/>
              </a:solidFill>
              <a:latin typeface="Calibri"/>
              <a:ea typeface="Calibri"/>
              <a:cs typeface="Calibri"/>
              <a:sym typeface="Calibri"/>
            </a:endParaRPr>
          </a:p>
        </p:txBody>
      </p:sp>
      <p:sp>
        <p:nvSpPr>
          <p:cNvPr id="801" name="Google Shape;801;p38"/>
          <p:cNvSpPr txBox="1"/>
          <p:nvPr/>
        </p:nvSpPr>
        <p:spPr>
          <a:xfrm>
            <a:off x="7010248" y="3282696"/>
            <a:ext cx="417560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O 'antes' certo</a:t>
            </a:r>
            <a:endParaRPr b="0" i="0" sz="1600" u="none" cap="none" strike="noStrike">
              <a:solidFill>
                <a:schemeClr val="dk1"/>
              </a:solidFill>
              <a:latin typeface="Calibri"/>
              <a:ea typeface="Calibri"/>
              <a:cs typeface="Calibri"/>
              <a:sym typeface="Calibri"/>
            </a:endParaRPr>
          </a:p>
        </p:txBody>
      </p:sp>
      <p:sp>
        <p:nvSpPr>
          <p:cNvPr id="802" name="Google Shape;802;p38"/>
          <p:cNvSpPr txBox="1"/>
          <p:nvPr/>
        </p:nvSpPr>
        <p:spPr>
          <a:xfrm>
            <a:off x="7010248" y="3648456"/>
            <a:ext cx="4175608" cy="64008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Para a QLoRA, a base quantizada. Ao mudar α ou r, uma nova busca.</a:t>
            </a:r>
            <a:endParaRPr b="0" i="0" sz="1300" u="none" cap="none" strike="noStrike">
              <a:solidFill>
                <a:schemeClr val="dk1"/>
              </a:solidFill>
              <a:latin typeface="Calibri"/>
              <a:ea typeface="Calibri"/>
              <a:cs typeface="Calibri"/>
              <a:sym typeface="Calibri"/>
            </a:endParaRPr>
          </a:p>
        </p:txBody>
      </p:sp>
      <p:sp>
        <p:nvSpPr>
          <p:cNvPr id="803" name="Google Shape;803;p38"/>
          <p:cNvSpPr/>
          <p:nvPr/>
        </p:nvSpPr>
        <p:spPr>
          <a:xfrm>
            <a:off x="777240" y="4462272"/>
            <a:ext cx="5181448" cy="1188720"/>
          </a:xfrm>
          <a:prstGeom prst="roundRect">
            <a:avLst>
              <a:gd fmla="val 6154"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8"/>
          <p:cNvSpPr/>
          <p:nvPr/>
        </p:nvSpPr>
        <p:spPr>
          <a:xfrm>
            <a:off x="1005840" y="4663440"/>
            <a:ext cx="384048" cy="384048"/>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8"/>
          <p:cNvSpPr txBox="1"/>
          <p:nvPr/>
        </p:nvSpPr>
        <p:spPr>
          <a:xfrm>
            <a:off x="1005840" y="46634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5</a:t>
            </a:r>
            <a:endParaRPr b="0" i="0" sz="1500" u="none" cap="none" strike="noStrike">
              <a:solidFill>
                <a:schemeClr val="dk1"/>
              </a:solidFill>
              <a:latin typeface="Calibri"/>
              <a:ea typeface="Calibri"/>
              <a:cs typeface="Calibri"/>
              <a:sym typeface="Calibri"/>
            </a:endParaRPr>
          </a:p>
        </p:txBody>
      </p:sp>
      <p:sp>
        <p:nvSpPr>
          <p:cNvPr id="806" name="Google Shape;806;p38"/>
          <p:cNvSpPr txBox="1"/>
          <p:nvPr/>
        </p:nvSpPr>
        <p:spPr>
          <a:xfrm>
            <a:off x="1554480" y="4608576"/>
            <a:ext cx="417560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O 'depois' como será usado</a:t>
            </a:r>
            <a:endParaRPr b="0" i="0" sz="1600" u="none" cap="none" strike="noStrike">
              <a:solidFill>
                <a:schemeClr val="dk1"/>
              </a:solidFill>
              <a:latin typeface="Calibri"/>
              <a:ea typeface="Calibri"/>
              <a:cs typeface="Calibri"/>
              <a:sym typeface="Calibri"/>
            </a:endParaRPr>
          </a:p>
        </p:txBody>
      </p:sp>
      <p:sp>
        <p:nvSpPr>
          <p:cNvPr id="807" name="Google Shape;807;p38"/>
          <p:cNvSpPr txBox="1"/>
          <p:nvPr/>
        </p:nvSpPr>
        <p:spPr>
          <a:xfrm>
            <a:off x="1554480" y="4974336"/>
            <a:ext cx="4175608" cy="64008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Avalie o modelo fundido ou re-quantizado, se é assim que ele vai ser servido.</a:t>
            </a:r>
            <a:endParaRPr b="0" i="0" sz="1300" u="none" cap="none" strike="noStrike">
              <a:solidFill>
                <a:schemeClr val="dk1"/>
              </a:solidFill>
              <a:latin typeface="Calibri"/>
              <a:ea typeface="Calibri"/>
              <a:cs typeface="Calibri"/>
              <a:sym typeface="Calibri"/>
            </a:endParaRPr>
          </a:p>
        </p:txBody>
      </p:sp>
      <p:sp>
        <p:nvSpPr>
          <p:cNvPr id="808" name="Google Shape;808;p38"/>
          <p:cNvSpPr/>
          <p:nvPr/>
        </p:nvSpPr>
        <p:spPr>
          <a:xfrm>
            <a:off x="6233008" y="4462272"/>
            <a:ext cx="5181448" cy="1188720"/>
          </a:xfrm>
          <a:prstGeom prst="roundRect">
            <a:avLst>
              <a:gd fmla="val 6154"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8"/>
          <p:cNvSpPr/>
          <p:nvPr/>
        </p:nvSpPr>
        <p:spPr>
          <a:xfrm>
            <a:off x="6461608" y="4663440"/>
            <a:ext cx="384048" cy="384048"/>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8"/>
          <p:cNvSpPr txBox="1"/>
          <p:nvPr/>
        </p:nvSpPr>
        <p:spPr>
          <a:xfrm>
            <a:off x="6461608" y="46634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6</a:t>
            </a:r>
            <a:endParaRPr b="0" i="0" sz="1500" u="none" cap="none" strike="noStrike">
              <a:solidFill>
                <a:schemeClr val="dk1"/>
              </a:solidFill>
              <a:latin typeface="Calibri"/>
              <a:ea typeface="Calibri"/>
              <a:cs typeface="Calibri"/>
              <a:sym typeface="Calibri"/>
            </a:endParaRPr>
          </a:p>
        </p:txBody>
      </p:sp>
      <p:sp>
        <p:nvSpPr>
          <p:cNvPr id="811" name="Google Shape;811;p38"/>
          <p:cNvSpPr txBox="1"/>
          <p:nvPr/>
        </p:nvSpPr>
        <p:spPr>
          <a:xfrm>
            <a:off x="7010248" y="4608576"/>
            <a:ext cx="417560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Sementes e o que pode piorar</a:t>
            </a:r>
            <a:endParaRPr b="0" i="0" sz="1600" u="none" cap="none" strike="noStrike">
              <a:solidFill>
                <a:schemeClr val="dk1"/>
              </a:solidFill>
              <a:latin typeface="Calibri"/>
              <a:ea typeface="Calibri"/>
              <a:cs typeface="Calibri"/>
              <a:sym typeface="Calibri"/>
            </a:endParaRPr>
          </a:p>
        </p:txBody>
      </p:sp>
      <p:sp>
        <p:nvSpPr>
          <p:cNvPr id="812" name="Google Shape;812;p38"/>
          <p:cNvSpPr txBox="1"/>
          <p:nvPr/>
        </p:nvSpPr>
        <p:spPr>
          <a:xfrm>
            <a:off x="7010248" y="4974336"/>
            <a:ext cx="4175608" cy="640080"/>
          </a:xfrm>
          <a:prstGeom prst="rect">
            <a:avLst/>
          </a:prstGeom>
          <a:noFill/>
          <a:ln>
            <a:noFill/>
          </a:ln>
        </p:spPr>
        <p:txBody>
          <a:bodyPr anchorCtr="0" anchor="t" bIns="0" lIns="0" spcFirstLastPara="1" rIns="0" wrap="square" tIns="0">
            <a:noAutofit/>
          </a:bodyPr>
          <a:lstStyle/>
          <a:p>
            <a:pPr indent="0" lvl="0" marL="0" marR="0" rtl="0" algn="l">
              <a:lnSpc>
                <a:spcPct val="130769"/>
              </a:lnSpc>
              <a:spcBef>
                <a:spcPts val="0"/>
              </a:spcBef>
              <a:spcAft>
                <a:spcPts val="0"/>
              </a:spcAft>
              <a:buClr>
                <a:srgbClr val="4B5D73"/>
              </a:buClr>
              <a:buSzPts val="1300"/>
              <a:buFont typeface="Calibri"/>
              <a:buNone/>
            </a:pPr>
            <a:r>
              <a:rPr b="0" i="0" lang="en-US" sz="1300" u="none" cap="none" strike="noStrike">
                <a:solidFill>
                  <a:srgbClr val="4B5D73"/>
                </a:solidFill>
                <a:latin typeface="Calibri"/>
                <a:ea typeface="Calibri"/>
                <a:cs typeface="Calibri"/>
                <a:sym typeface="Calibri"/>
              </a:rPr>
              <a:t>Várias sementes, com média e faixa. Meça também o que o pré-treino sabia.</a:t>
            </a:r>
            <a:endParaRPr b="0" i="0" sz="1300" u="none" cap="none" strike="noStrike">
              <a:solidFill>
                <a:schemeClr val="dk1"/>
              </a:solidFill>
              <a:latin typeface="Calibri"/>
              <a:ea typeface="Calibri"/>
              <a:cs typeface="Calibri"/>
              <a:sym typeface="Calibri"/>
            </a:endParaRPr>
          </a:p>
        </p:txBody>
      </p:sp>
      <p:sp>
        <p:nvSpPr>
          <p:cNvPr id="813" name="Google Shape;813;p38"/>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39"/>
          <p:cNvSpPr txBox="1"/>
          <p:nvPr/>
        </p:nvSpPr>
        <p:spPr>
          <a:xfrm>
            <a:off x="777240" y="1783080"/>
            <a:ext cx="146304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9600"/>
              <a:buFont typeface="Cambria"/>
              <a:buNone/>
            </a:pPr>
            <a:r>
              <a:rPr b="1" i="0" lang="en-US" sz="9600" u="none" cap="none" strike="noStrike">
                <a:solidFill>
                  <a:srgbClr val="E08A3C"/>
                </a:solidFill>
                <a:latin typeface="Cambria"/>
                <a:ea typeface="Cambria"/>
                <a:cs typeface="Cambria"/>
                <a:sym typeface="Cambria"/>
              </a:rPr>
              <a:t>5</a:t>
            </a:r>
            <a:endParaRPr b="0" i="0" sz="9600" u="none" cap="none" strike="noStrike">
              <a:solidFill>
                <a:schemeClr val="dk1"/>
              </a:solidFill>
              <a:latin typeface="Calibri"/>
              <a:ea typeface="Calibri"/>
              <a:cs typeface="Calibri"/>
              <a:sym typeface="Calibri"/>
            </a:endParaRPr>
          </a:p>
        </p:txBody>
      </p:sp>
      <p:sp>
        <p:nvSpPr>
          <p:cNvPr id="820" name="Google Shape;820;p39"/>
          <p:cNvSpPr txBox="1"/>
          <p:nvPr>
            <p:ph type="title"/>
          </p:nvPr>
        </p:nvSpPr>
        <p:spPr>
          <a:xfrm>
            <a:off x="2377440" y="2011680"/>
            <a:ext cx="6583680" cy="73152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FFFFFF"/>
              </a:buClr>
              <a:buSzPts val="3600"/>
              <a:buFont typeface="Cambria"/>
              <a:buNone/>
            </a:pPr>
            <a:r>
              <a:rPr b="1" lang="en-US" sz="3600">
                <a:solidFill>
                  <a:srgbClr val="FFFFFF"/>
                </a:solidFill>
                <a:latin typeface="Cambria"/>
                <a:ea typeface="Cambria"/>
                <a:cs typeface="Cambria"/>
                <a:sym typeface="Cambria"/>
              </a:rPr>
              <a:t>Literatura e projeto</a:t>
            </a:r>
            <a:endParaRPr sz="3600"/>
          </a:p>
        </p:txBody>
      </p:sp>
      <p:sp>
        <p:nvSpPr>
          <p:cNvPr id="821" name="Google Shape;821;p39"/>
          <p:cNvSpPr txBox="1"/>
          <p:nvPr/>
        </p:nvSpPr>
        <p:spPr>
          <a:xfrm>
            <a:off x="2404872" y="2761488"/>
            <a:ext cx="65836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BACB"/>
              </a:buClr>
              <a:buSzPts val="1500"/>
              <a:buFont typeface="Calibri"/>
              <a:buNone/>
            </a:pPr>
            <a:r>
              <a:rPr b="0" i="0" lang="en-US" sz="1500" u="none" cap="none" strike="noStrike">
                <a:solidFill>
                  <a:srgbClr val="A9BACB"/>
                </a:solidFill>
                <a:latin typeface="Calibri"/>
                <a:ea typeface="Calibri"/>
                <a:cs typeface="Calibri"/>
                <a:sym typeface="Calibri"/>
              </a:rPr>
              <a:t>Os artigos da área e o adaptador que o projeto precisa entregar.</a:t>
            </a:r>
            <a:endParaRPr b="0" i="0" sz="1500" u="none" cap="none" strike="noStrike">
              <a:solidFill>
                <a:schemeClr val="dk1"/>
              </a:solidFill>
              <a:latin typeface="Calibri"/>
              <a:ea typeface="Calibri"/>
              <a:cs typeface="Calibri"/>
              <a:sym typeface="Calibri"/>
            </a:endParaRPr>
          </a:p>
        </p:txBody>
      </p:sp>
      <p:cxnSp>
        <p:nvCxnSpPr>
          <p:cNvPr id="822" name="Google Shape;822;p39"/>
          <p:cNvCxnSpPr/>
          <p:nvPr/>
        </p:nvCxnSpPr>
        <p:spPr>
          <a:xfrm>
            <a:off x="8732520" y="1691640"/>
            <a:ext cx="0" cy="3566160"/>
          </a:xfrm>
          <a:prstGeom prst="straightConnector1">
            <a:avLst/>
          </a:prstGeom>
          <a:noFill/>
          <a:ln cap="flat" cmpd="sng" w="12700">
            <a:solidFill>
              <a:srgbClr val="35506B"/>
            </a:solidFill>
            <a:prstDash val="solid"/>
            <a:round/>
            <a:headEnd len="sm" w="sm" type="none"/>
            <a:tailEnd len="sm" w="sm" type="none"/>
          </a:ln>
        </p:spPr>
      </p:cxnSp>
      <p:sp>
        <p:nvSpPr>
          <p:cNvPr id="823" name="Google Shape;823;p39"/>
          <p:cNvSpPr txBox="1"/>
          <p:nvPr/>
        </p:nvSpPr>
        <p:spPr>
          <a:xfrm>
            <a:off x="9098280" y="1691640"/>
            <a:ext cx="2377440" cy="3566160"/>
          </a:xfrm>
          <a:prstGeom prst="rect">
            <a:avLst/>
          </a:prstGeom>
          <a:noFill/>
          <a:ln>
            <a:noFill/>
          </a:ln>
        </p:spPr>
        <p:txBody>
          <a:bodyPr anchorCtr="0" anchor="t" bIns="0" lIns="0" spcFirstLastPara="1" rIns="0" wrap="square" tIns="0">
            <a:noAutofit/>
          </a:bodyPr>
          <a:lstStyle/>
          <a:p>
            <a:pPr indent="-342900" lvl="0" marL="342900" marR="0" rtl="0" algn="l">
              <a:lnSpc>
                <a:spcPct val="144000"/>
              </a:lnSpc>
              <a:spcBef>
                <a:spcPts val="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Artigos fundadores</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Conexão com o projeto</a:t>
            </a:r>
            <a:endParaRPr b="0" i="0" sz="1250" u="none" cap="none" strike="noStrike">
              <a:solidFill>
                <a:schemeClr val="dk1"/>
              </a:solidFill>
              <a:latin typeface="Calibri"/>
              <a:ea typeface="Calibri"/>
              <a:cs typeface="Calibri"/>
              <a:sym typeface="Calibri"/>
            </a:endParaRPr>
          </a:p>
        </p:txBody>
      </p:sp>
      <p:sp>
        <p:nvSpPr>
          <p:cNvPr id="824" name="Google Shape;824;p39"/>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5C7086"/>
                </a:solidFill>
                <a:latin typeface="Calibri"/>
                <a:ea typeface="Calibri"/>
                <a:cs typeface="Calibri"/>
                <a:sym typeface="Calibri"/>
              </a:rPr>
              <a:t>‹#›</a:t>
            </a:fld>
            <a:endParaRPr b="0" i="0" sz="950" u="none" cap="none" strike="noStrike">
              <a:solidFill>
                <a:srgbClr val="5C7086"/>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40"/>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Artigos fundadores</a:t>
            </a:r>
            <a:endParaRPr sz="3100"/>
          </a:p>
        </p:txBody>
      </p:sp>
      <p:sp>
        <p:nvSpPr>
          <p:cNvPr id="831" name="Google Shape;831;p40"/>
          <p:cNvSpPr/>
          <p:nvPr/>
        </p:nvSpPr>
        <p:spPr>
          <a:xfrm>
            <a:off x="777240" y="1481328"/>
            <a:ext cx="3362858" cy="1371600"/>
          </a:xfrm>
          <a:prstGeom prst="roundRect">
            <a:avLst>
              <a:gd fmla="val 533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0"/>
          <p:cNvSpPr txBox="1"/>
          <p:nvPr/>
        </p:nvSpPr>
        <p:spPr>
          <a:xfrm>
            <a:off x="978408" y="1572768"/>
            <a:ext cx="22875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Houlsby et al. (2019)</a:t>
            </a:r>
            <a:endParaRPr b="0" i="0" sz="1200" u="none" cap="none" strike="noStrike">
              <a:solidFill>
                <a:schemeClr val="dk1"/>
              </a:solidFill>
              <a:latin typeface="Calibri"/>
              <a:ea typeface="Calibri"/>
              <a:cs typeface="Calibri"/>
              <a:sym typeface="Calibri"/>
            </a:endParaRPr>
          </a:p>
        </p:txBody>
      </p:sp>
      <p:sp>
        <p:nvSpPr>
          <p:cNvPr id="833" name="Google Shape;833;p40"/>
          <p:cNvSpPr txBox="1"/>
          <p:nvPr/>
        </p:nvSpPr>
        <p:spPr>
          <a:xfrm>
            <a:off x="3339084" y="1572768"/>
            <a:ext cx="618134"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5A18"/>
              </a:buClr>
              <a:buSzPts val="1050"/>
              <a:buFont typeface="Calibri"/>
              <a:buNone/>
            </a:pPr>
            <a:r>
              <a:rPr b="0" i="1" lang="en-US" sz="1050" u="none" cap="none" strike="noStrike">
                <a:solidFill>
                  <a:srgbClr val="A55A18"/>
                </a:solidFill>
                <a:latin typeface="Calibri"/>
                <a:ea typeface="Calibri"/>
                <a:cs typeface="Calibri"/>
                <a:sym typeface="Calibri"/>
              </a:rPr>
              <a:t>adapters</a:t>
            </a:r>
            <a:endParaRPr b="0" i="0" sz="1050" u="none" cap="none" strike="noStrike">
              <a:solidFill>
                <a:schemeClr val="dk1"/>
              </a:solidFill>
              <a:latin typeface="Calibri"/>
              <a:ea typeface="Calibri"/>
              <a:cs typeface="Calibri"/>
              <a:sym typeface="Calibri"/>
            </a:endParaRPr>
          </a:p>
        </p:txBody>
      </p:sp>
      <p:sp>
        <p:nvSpPr>
          <p:cNvPr id="834" name="Google Shape;834;p40"/>
          <p:cNvSpPr txBox="1"/>
          <p:nvPr/>
        </p:nvSpPr>
        <p:spPr>
          <a:xfrm>
            <a:off x="978408" y="1865376"/>
            <a:ext cx="2960522"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E5F55"/>
              </a:buClr>
              <a:buSzPts val="1200"/>
              <a:buFont typeface="Cambria"/>
              <a:buNone/>
            </a:pPr>
            <a:r>
              <a:rPr b="0" i="1" lang="en-US" sz="1200" u="none" cap="none" strike="noStrike">
                <a:solidFill>
                  <a:srgbClr val="0E5F55"/>
                </a:solidFill>
                <a:latin typeface="Cambria"/>
                <a:ea typeface="Cambria"/>
                <a:cs typeface="Cambria"/>
                <a:sym typeface="Cambria"/>
              </a:rPr>
              <a:t>Parameter-Efficient Transfer Learning for NLP</a:t>
            </a:r>
            <a:endParaRPr b="0" i="0" sz="1200" u="none" cap="none" strike="noStrike">
              <a:solidFill>
                <a:schemeClr val="dk1"/>
              </a:solidFill>
              <a:latin typeface="Calibri"/>
              <a:ea typeface="Calibri"/>
              <a:cs typeface="Calibri"/>
              <a:sym typeface="Calibri"/>
            </a:endParaRPr>
          </a:p>
        </p:txBody>
      </p:sp>
      <p:sp>
        <p:nvSpPr>
          <p:cNvPr id="835" name="Google Shape;835;p40"/>
          <p:cNvSpPr txBox="1"/>
          <p:nvPr/>
        </p:nvSpPr>
        <p:spPr>
          <a:xfrm>
            <a:off x="978408" y="2304288"/>
            <a:ext cx="2960522"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Adapters-gargalo: 3,6% dos parâmetros, até 0,4% do ajuste completo.</a:t>
            </a:r>
            <a:endParaRPr b="0" i="0" sz="1200" u="none" cap="none" strike="noStrike">
              <a:solidFill>
                <a:schemeClr val="dk1"/>
              </a:solidFill>
              <a:latin typeface="Calibri"/>
              <a:ea typeface="Calibri"/>
              <a:cs typeface="Calibri"/>
              <a:sym typeface="Calibri"/>
            </a:endParaRPr>
          </a:p>
        </p:txBody>
      </p:sp>
      <p:sp>
        <p:nvSpPr>
          <p:cNvPr id="836" name="Google Shape;836;p40"/>
          <p:cNvSpPr/>
          <p:nvPr/>
        </p:nvSpPr>
        <p:spPr>
          <a:xfrm>
            <a:off x="4414418" y="1481328"/>
            <a:ext cx="3362858" cy="1371600"/>
          </a:xfrm>
          <a:prstGeom prst="roundRect">
            <a:avLst>
              <a:gd fmla="val 533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0"/>
          <p:cNvSpPr txBox="1"/>
          <p:nvPr/>
        </p:nvSpPr>
        <p:spPr>
          <a:xfrm>
            <a:off x="4615586" y="1572768"/>
            <a:ext cx="2155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Aghajanyan et al. (2020)</a:t>
            </a:r>
            <a:endParaRPr b="0" i="0" sz="1200" u="none" cap="none" strike="noStrike">
              <a:solidFill>
                <a:schemeClr val="dk1"/>
              </a:solidFill>
              <a:latin typeface="Calibri"/>
              <a:ea typeface="Calibri"/>
              <a:cs typeface="Calibri"/>
              <a:sym typeface="Calibri"/>
            </a:endParaRPr>
          </a:p>
        </p:txBody>
      </p:sp>
      <p:sp>
        <p:nvSpPr>
          <p:cNvPr id="838" name="Google Shape;838;p40"/>
          <p:cNvSpPr txBox="1"/>
          <p:nvPr/>
        </p:nvSpPr>
        <p:spPr>
          <a:xfrm>
            <a:off x="6844589" y="1572768"/>
            <a:ext cx="74980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5A18"/>
              </a:buClr>
              <a:buSzPts val="1050"/>
              <a:buFont typeface="Calibri"/>
              <a:buNone/>
            </a:pPr>
            <a:r>
              <a:rPr b="0" i="1" lang="en-US" sz="1050" u="none" cap="none" strike="noStrike">
                <a:solidFill>
                  <a:srgbClr val="A55A18"/>
                </a:solidFill>
                <a:latin typeface="Calibri"/>
                <a:ea typeface="Calibri"/>
                <a:cs typeface="Calibri"/>
                <a:sym typeface="Calibri"/>
              </a:rPr>
              <a:t>baixo rank</a:t>
            </a:r>
            <a:endParaRPr b="0" i="0" sz="1050" u="none" cap="none" strike="noStrike">
              <a:solidFill>
                <a:schemeClr val="dk1"/>
              </a:solidFill>
              <a:latin typeface="Calibri"/>
              <a:ea typeface="Calibri"/>
              <a:cs typeface="Calibri"/>
              <a:sym typeface="Calibri"/>
            </a:endParaRPr>
          </a:p>
        </p:txBody>
      </p:sp>
      <p:sp>
        <p:nvSpPr>
          <p:cNvPr id="839" name="Google Shape;839;p40"/>
          <p:cNvSpPr txBox="1"/>
          <p:nvPr/>
        </p:nvSpPr>
        <p:spPr>
          <a:xfrm>
            <a:off x="4615586" y="1865376"/>
            <a:ext cx="2960522"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E5F55"/>
              </a:buClr>
              <a:buSzPts val="1200"/>
              <a:buFont typeface="Cambria"/>
              <a:buNone/>
            </a:pPr>
            <a:r>
              <a:rPr b="0" i="1" lang="en-US" sz="1200" u="none" cap="none" strike="noStrike">
                <a:solidFill>
                  <a:srgbClr val="0E5F55"/>
                </a:solidFill>
                <a:latin typeface="Cambria"/>
                <a:ea typeface="Cambria"/>
                <a:cs typeface="Cambria"/>
                <a:sym typeface="Cambria"/>
              </a:rPr>
              <a:t>Intrinsic Dimensionality Explains...</a:t>
            </a:r>
            <a:endParaRPr b="0" i="0" sz="1200" u="none" cap="none" strike="noStrike">
              <a:solidFill>
                <a:schemeClr val="dk1"/>
              </a:solidFill>
              <a:latin typeface="Calibri"/>
              <a:ea typeface="Calibri"/>
              <a:cs typeface="Calibri"/>
              <a:sym typeface="Calibri"/>
            </a:endParaRPr>
          </a:p>
        </p:txBody>
      </p:sp>
      <p:sp>
        <p:nvSpPr>
          <p:cNvPr id="840" name="Google Shape;840;p40"/>
          <p:cNvSpPr txBox="1"/>
          <p:nvPr/>
        </p:nvSpPr>
        <p:spPr>
          <a:xfrm>
            <a:off x="4615586" y="2304288"/>
            <a:ext cx="2960522"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Cerca de 200 parâmetros chegam a 90% no MRPC.</a:t>
            </a:r>
            <a:endParaRPr b="0" i="0" sz="1200" u="none" cap="none" strike="noStrike">
              <a:solidFill>
                <a:schemeClr val="dk1"/>
              </a:solidFill>
              <a:latin typeface="Calibri"/>
              <a:ea typeface="Calibri"/>
              <a:cs typeface="Calibri"/>
              <a:sym typeface="Calibri"/>
            </a:endParaRPr>
          </a:p>
        </p:txBody>
      </p:sp>
      <p:sp>
        <p:nvSpPr>
          <p:cNvPr id="841" name="Google Shape;841;p40"/>
          <p:cNvSpPr/>
          <p:nvPr/>
        </p:nvSpPr>
        <p:spPr>
          <a:xfrm>
            <a:off x="8051597" y="1481328"/>
            <a:ext cx="3362858" cy="1371600"/>
          </a:xfrm>
          <a:prstGeom prst="roundRect">
            <a:avLst>
              <a:gd fmla="val 533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0"/>
          <p:cNvSpPr txBox="1"/>
          <p:nvPr/>
        </p:nvSpPr>
        <p:spPr>
          <a:xfrm>
            <a:off x="8252765" y="1572768"/>
            <a:ext cx="2550871"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Hu et al. (2021)</a:t>
            </a:r>
            <a:endParaRPr b="0" i="0" sz="1200" u="none" cap="none" strike="noStrike">
              <a:solidFill>
                <a:schemeClr val="dk1"/>
              </a:solidFill>
              <a:latin typeface="Calibri"/>
              <a:ea typeface="Calibri"/>
              <a:cs typeface="Calibri"/>
              <a:sym typeface="Calibri"/>
            </a:endParaRPr>
          </a:p>
        </p:txBody>
      </p:sp>
      <p:sp>
        <p:nvSpPr>
          <p:cNvPr id="843" name="Google Shape;843;p40"/>
          <p:cNvSpPr txBox="1"/>
          <p:nvPr/>
        </p:nvSpPr>
        <p:spPr>
          <a:xfrm>
            <a:off x="10876788" y="1572768"/>
            <a:ext cx="354787"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5A18"/>
              </a:buClr>
              <a:buSzPts val="1050"/>
              <a:buFont typeface="Calibri"/>
              <a:buNone/>
            </a:pPr>
            <a:r>
              <a:rPr b="0" i="1" lang="en-US" sz="1050" u="none" cap="none" strike="noStrike">
                <a:solidFill>
                  <a:srgbClr val="A55A18"/>
                </a:solidFill>
                <a:latin typeface="Calibri"/>
                <a:ea typeface="Calibri"/>
                <a:cs typeface="Calibri"/>
                <a:sym typeface="Calibri"/>
              </a:rPr>
              <a:t>LoRA</a:t>
            </a:r>
            <a:endParaRPr b="0" i="0" sz="1050" u="none" cap="none" strike="noStrike">
              <a:solidFill>
                <a:schemeClr val="dk1"/>
              </a:solidFill>
              <a:latin typeface="Calibri"/>
              <a:ea typeface="Calibri"/>
              <a:cs typeface="Calibri"/>
              <a:sym typeface="Calibri"/>
            </a:endParaRPr>
          </a:p>
        </p:txBody>
      </p:sp>
      <p:sp>
        <p:nvSpPr>
          <p:cNvPr id="844" name="Google Shape;844;p40"/>
          <p:cNvSpPr txBox="1"/>
          <p:nvPr/>
        </p:nvSpPr>
        <p:spPr>
          <a:xfrm>
            <a:off x="8252765" y="1865376"/>
            <a:ext cx="2960522"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E5F55"/>
              </a:buClr>
              <a:buSzPts val="1200"/>
              <a:buFont typeface="Cambria"/>
              <a:buNone/>
            </a:pPr>
            <a:r>
              <a:rPr b="0" i="1" lang="en-US" sz="1200" u="none" cap="none" strike="noStrike">
                <a:solidFill>
                  <a:srgbClr val="0E5F55"/>
                </a:solidFill>
                <a:latin typeface="Cambria"/>
                <a:ea typeface="Cambria"/>
                <a:cs typeface="Cambria"/>
                <a:sym typeface="Cambria"/>
              </a:rPr>
              <a:t>LoRA: Low-Rank Adaptation of LLMs</a:t>
            </a:r>
            <a:endParaRPr b="0" i="0" sz="1200" u="none" cap="none" strike="noStrike">
              <a:solidFill>
                <a:schemeClr val="dk1"/>
              </a:solidFill>
              <a:latin typeface="Calibri"/>
              <a:ea typeface="Calibri"/>
              <a:cs typeface="Calibri"/>
              <a:sym typeface="Calibri"/>
            </a:endParaRPr>
          </a:p>
        </p:txBody>
      </p:sp>
      <p:sp>
        <p:nvSpPr>
          <p:cNvPr id="845" name="Google Shape;845;p40"/>
          <p:cNvSpPr txBox="1"/>
          <p:nvPr/>
        </p:nvSpPr>
        <p:spPr>
          <a:xfrm>
            <a:off x="8252765" y="2304288"/>
            <a:ext cx="2960522"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Desvio A·B; 10.000× menos treináveis no GPT-3; sem latência.</a:t>
            </a:r>
            <a:endParaRPr b="0" i="0" sz="1200" u="none" cap="none" strike="noStrike">
              <a:solidFill>
                <a:schemeClr val="dk1"/>
              </a:solidFill>
              <a:latin typeface="Calibri"/>
              <a:ea typeface="Calibri"/>
              <a:cs typeface="Calibri"/>
              <a:sym typeface="Calibri"/>
            </a:endParaRPr>
          </a:p>
        </p:txBody>
      </p:sp>
      <p:sp>
        <p:nvSpPr>
          <p:cNvPr id="846" name="Google Shape;846;p40"/>
          <p:cNvSpPr/>
          <p:nvPr/>
        </p:nvSpPr>
        <p:spPr>
          <a:xfrm>
            <a:off x="777240" y="3035808"/>
            <a:ext cx="3362858" cy="1371600"/>
          </a:xfrm>
          <a:prstGeom prst="roundRect">
            <a:avLst>
              <a:gd fmla="val 533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0"/>
          <p:cNvSpPr txBox="1"/>
          <p:nvPr/>
        </p:nvSpPr>
        <p:spPr>
          <a:xfrm>
            <a:off x="978408" y="3127248"/>
            <a:ext cx="248503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Dettmers et al. (2023)</a:t>
            </a:r>
            <a:endParaRPr b="0" i="0" sz="1200" u="none" cap="none" strike="noStrike">
              <a:solidFill>
                <a:schemeClr val="dk1"/>
              </a:solidFill>
              <a:latin typeface="Calibri"/>
              <a:ea typeface="Calibri"/>
              <a:cs typeface="Calibri"/>
              <a:sym typeface="Calibri"/>
            </a:endParaRPr>
          </a:p>
        </p:txBody>
      </p:sp>
      <p:sp>
        <p:nvSpPr>
          <p:cNvPr id="848" name="Google Shape;848;p40"/>
          <p:cNvSpPr txBox="1"/>
          <p:nvPr/>
        </p:nvSpPr>
        <p:spPr>
          <a:xfrm>
            <a:off x="3536594" y="3127248"/>
            <a:ext cx="420624"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5A18"/>
              </a:buClr>
              <a:buSzPts val="1050"/>
              <a:buFont typeface="Calibri"/>
              <a:buNone/>
            </a:pPr>
            <a:r>
              <a:rPr b="0" i="1" lang="en-US" sz="1050" u="none" cap="none" strike="noStrike">
                <a:solidFill>
                  <a:srgbClr val="A55A18"/>
                </a:solidFill>
                <a:latin typeface="Calibri"/>
                <a:ea typeface="Calibri"/>
                <a:cs typeface="Calibri"/>
                <a:sym typeface="Calibri"/>
              </a:rPr>
              <a:t>QLoRA</a:t>
            </a:r>
            <a:endParaRPr b="0" i="0" sz="1050" u="none" cap="none" strike="noStrike">
              <a:solidFill>
                <a:schemeClr val="dk1"/>
              </a:solidFill>
              <a:latin typeface="Calibri"/>
              <a:ea typeface="Calibri"/>
              <a:cs typeface="Calibri"/>
              <a:sym typeface="Calibri"/>
            </a:endParaRPr>
          </a:p>
        </p:txBody>
      </p:sp>
      <p:sp>
        <p:nvSpPr>
          <p:cNvPr id="849" name="Google Shape;849;p40"/>
          <p:cNvSpPr txBox="1"/>
          <p:nvPr/>
        </p:nvSpPr>
        <p:spPr>
          <a:xfrm>
            <a:off x="978408" y="3419856"/>
            <a:ext cx="2960522"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E5F55"/>
              </a:buClr>
              <a:buSzPts val="1200"/>
              <a:buFont typeface="Cambria"/>
              <a:buNone/>
            </a:pPr>
            <a:r>
              <a:rPr b="0" i="1" lang="en-US" sz="1200" u="none" cap="none" strike="noStrike">
                <a:solidFill>
                  <a:srgbClr val="0E5F55"/>
                </a:solidFill>
                <a:latin typeface="Cambria"/>
                <a:ea typeface="Cambria"/>
                <a:cs typeface="Cambria"/>
                <a:sym typeface="Cambria"/>
              </a:rPr>
              <a:t>QLoRA: Efficient Finetuning of Quantized LLMs</a:t>
            </a:r>
            <a:endParaRPr b="0" i="0" sz="1200" u="none" cap="none" strike="noStrike">
              <a:solidFill>
                <a:schemeClr val="dk1"/>
              </a:solidFill>
              <a:latin typeface="Calibri"/>
              <a:ea typeface="Calibri"/>
              <a:cs typeface="Calibri"/>
              <a:sym typeface="Calibri"/>
            </a:endParaRPr>
          </a:p>
        </p:txBody>
      </p:sp>
      <p:sp>
        <p:nvSpPr>
          <p:cNvPr id="850" name="Google Shape;850;p40"/>
          <p:cNvSpPr txBox="1"/>
          <p:nvPr/>
        </p:nvSpPr>
        <p:spPr>
          <a:xfrm>
            <a:off x="978408" y="3858768"/>
            <a:ext cx="2960522"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NF4, dupla quantização, paged optimizers; 65B numa GPU de 48 GB.</a:t>
            </a:r>
            <a:endParaRPr b="0" i="0" sz="1200" u="none" cap="none" strike="noStrike">
              <a:solidFill>
                <a:schemeClr val="dk1"/>
              </a:solidFill>
              <a:latin typeface="Calibri"/>
              <a:ea typeface="Calibri"/>
              <a:cs typeface="Calibri"/>
              <a:sym typeface="Calibri"/>
            </a:endParaRPr>
          </a:p>
        </p:txBody>
      </p:sp>
      <p:sp>
        <p:nvSpPr>
          <p:cNvPr id="851" name="Google Shape;851;p40"/>
          <p:cNvSpPr/>
          <p:nvPr/>
        </p:nvSpPr>
        <p:spPr>
          <a:xfrm>
            <a:off x="4414418" y="3035808"/>
            <a:ext cx="3362858" cy="1371600"/>
          </a:xfrm>
          <a:prstGeom prst="roundRect">
            <a:avLst>
              <a:gd fmla="val 533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0"/>
          <p:cNvSpPr txBox="1"/>
          <p:nvPr/>
        </p:nvSpPr>
        <p:spPr>
          <a:xfrm>
            <a:off x="4615586" y="3127248"/>
            <a:ext cx="2353361"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Biderman et al. (2024)</a:t>
            </a:r>
            <a:endParaRPr b="0" i="0" sz="1200" u="none" cap="none" strike="noStrike">
              <a:solidFill>
                <a:schemeClr val="dk1"/>
              </a:solidFill>
              <a:latin typeface="Calibri"/>
              <a:ea typeface="Calibri"/>
              <a:cs typeface="Calibri"/>
              <a:sym typeface="Calibri"/>
            </a:endParaRPr>
          </a:p>
        </p:txBody>
      </p:sp>
      <p:sp>
        <p:nvSpPr>
          <p:cNvPr id="853" name="Google Shape;853;p40"/>
          <p:cNvSpPr txBox="1"/>
          <p:nvPr/>
        </p:nvSpPr>
        <p:spPr>
          <a:xfrm>
            <a:off x="7042099" y="3127248"/>
            <a:ext cx="55229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5A18"/>
              </a:buClr>
              <a:buSzPts val="1050"/>
              <a:buFont typeface="Calibri"/>
              <a:buNone/>
            </a:pPr>
            <a:r>
              <a:rPr b="0" i="1" lang="en-US" sz="1050" u="none" cap="none" strike="noStrike">
                <a:solidFill>
                  <a:srgbClr val="A55A18"/>
                </a:solidFill>
                <a:latin typeface="Calibri"/>
                <a:ea typeface="Calibri"/>
                <a:cs typeface="Calibri"/>
                <a:sym typeface="Calibri"/>
              </a:rPr>
              <a:t>limites</a:t>
            </a:r>
            <a:endParaRPr b="0" i="0" sz="1050" u="none" cap="none" strike="noStrike">
              <a:solidFill>
                <a:schemeClr val="dk1"/>
              </a:solidFill>
              <a:latin typeface="Calibri"/>
              <a:ea typeface="Calibri"/>
              <a:cs typeface="Calibri"/>
              <a:sym typeface="Calibri"/>
            </a:endParaRPr>
          </a:p>
        </p:txBody>
      </p:sp>
      <p:sp>
        <p:nvSpPr>
          <p:cNvPr id="854" name="Google Shape;854;p40"/>
          <p:cNvSpPr txBox="1"/>
          <p:nvPr/>
        </p:nvSpPr>
        <p:spPr>
          <a:xfrm>
            <a:off x="4615586" y="3419856"/>
            <a:ext cx="2960522"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E5F55"/>
              </a:buClr>
              <a:buSzPts val="1200"/>
              <a:buFont typeface="Cambria"/>
              <a:buNone/>
            </a:pPr>
            <a:r>
              <a:rPr b="0" i="1" lang="en-US" sz="1200" u="none" cap="none" strike="noStrike">
                <a:solidFill>
                  <a:srgbClr val="0E5F55"/>
                </a:solidFill>
                <a:latin typeface="Cambria"/>
                <a:ea typeface="Cambria"/>
                <a:cs typeface="Cambria"/>
                <a:sym typeface="Cambria"/>
              </a:rPr>
              <a:t>LoRA Learns Less and Forgets Less</a:t>
            </a:r>
            <a:endParaRPr b="0" i="0" sz="1200" u="none" cap="none" strike="noStrike">
              <a:solidFill>
                <a:schemeClr val="dk1"/>
              </a:solidFill>
              <a:latin typeface="Calibri"/>
              <a:ea typeface="Calibri"/>
              <a:cs typeface="Calibri"/>
              <a:sym typeface="Calibri"/>
            </a:endParaRPr>
          </a:p>
        </p:txBody>
      </p:sp>
      <p:sp>
        <p:nvSpPr>
          <p:cNvPr id="855" name="Google Shape;855;p40"/>
          <p:cNvSpPr txBox="1"/>
          <p:nvPr/>
        </p:nvSpPr>
        <p:spPr>
          <a:xfrm>
            <a:off x="4615586" y="3858768"/>
            <a:ext cx="2960522"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Em código e matemática, a LoRA aprende menos e esquece menos.</a:t>
            </a:r>
            <a:endParaRPr b="0" i="0" sz="1200" u="none" cap="none" strike="noStrike">
              <a:solidFill>
                <a:schemeClr val="dk1"/>
              </a:solidFill>
              <a:latin typeface="Calibri"/>
              <a:ea typeface="Calibri"/>
              <a:cs typeface="Calibri"/>
              <a:sym typeface="Calibri"/>
            </a:endParaRPr>
          </a:p>
        </p:txBody>
      </p:sp>
      <p:sp>
        <p:nvSpPr>
          <p:cNvPr id="856" name="Google Shape;856;p40"/>
          <p:cNvSpPr/>
          <p:nvPr/>
        </p:nvSpPr>
        <p:spPr>
          <a:xfrm>
            <a:off x="8051597" y="3035808"/>
            <a:ext cx="3362858" cy="1371600"/>
          </a:xfrm>
          <a:prstGeom prst="roundRect">
            <a:avLst>
              <a:gd fmla="val 533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40"/>
          <p:cNvSpPr txBox="1"/>
          <p:nvPr/>
        </p:nvSpPr>
        <p:spPr>
          <a:xfrm>
            <a:off x="8252765" y="3127248"/>
            <a:ext cx="248503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Kalajdzievski (2023)</a:t>
            </a:r>
            <a:endParaRPr b="0" i="0" sz="1200" u="none" cap="none" strike="noStrike">
              <a:solidFill>
                <a:schemeClr val="dk1"/>
              </a:solidFill>
              <a:latin typeface="Calibri"/>
              <a:ea typeface="Calibri"/>
              <a:cs typeface="Calibri"/>
              <a:sym typeface="Calibri"/>
            </a:endParaRPr>
          </a:p>
        </p:txBody>
      </p:sp>
      <p:sp>
        <p:nvSpPr>
          <p:cNvPr id="858" name="Google Shape;858;p40"/>
          <p:cNvSpPr txBox="1"/>
          <p:nvPr/>
        </p:nvSpPr>
        <p:spPr>
          <a:xfrm>
            <a:off x="10810951" y="3127248"/>
            <a:ext cx="420624"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5A18"/>
              </a:buClr>
              <a:buSzPts val="1050"/>
              <a:buFont typeface="Calibri"/>
              <a:buNone/>
            </a:pPr>
            <a:r>
              <a:rPr b="0" i="1" lang="en-US" sz="1050" u="none" cap="none" strike="noStrike">
                <a:solidFill>
                  <a:srgbClr val="A55A18"/>
                </a:solidFill>
                <a:latin typeface="Calibri"/>
                <a:ea typeface="Calibri"/>
                <a:cs typeface="Calibri"/>
                <a:sym typeface="Calibri"/>
              </a:rPr>
              <a:t>alpha</a:t>
            </a:r>
            <a:endParaRPr b="0" i="0" sz="1050" u="none" cap="none" strike="noStrike">
              <a:solidFill>
                <a:schemeClr val="dk1"/>
              </a:solidFill>
              <a:latin typeface="Calibri"/>
              <a:ea typeface="Calibri"/>
              <a:cs typeface="Calibri"/>
              <a:sym typeface="Calibri"/>
            </a:endParaRPr>
          </a:p>
        </p:txBody>
      </p:sp>
      <p:sp>
        <p:nvSpPr>
          <p:cNvPr id="859" name="Google Shape;859;p40"/>
          <p:cNvSpPr txBox="1"/>
          <p:nvPr/>
        </p:nvSpPr>
        <p:spPr>
          <a:xfrm>
            <a:off x="8252765" y="3419856"/>
            <a:ext cx="2960522"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E5F55"/>
              </a:buClr>
              <a:buSzPts val="1200"/>
              <a:buFont typeface="Cambria"/>
              <a:buNone/>
            </a:pPr>
            <a:r>
              <a:rPr b="0" i="1" lang="en-US" sz="1200" u="none" cap="none" strike="noStrike">
                <a:solidFill>
                  <a:srgbClr val="0E5F55"/>
                </a:solidFill>
                <a:latin typeface="Cambria"/>
                <a:ea typeface="Cambria"/>
                <a:cs typeface="Cambria"/>
                <a:sym typeface="Cambria"/>
              </a:rPr>
              <a:t>rsLoRA: A Rank Stabilization Scaling Factor</a:t>
            </a:r>
            <a:endParaRPr b="0" i="0" sz="1200" u="none" cap="none" strike="noStrike">
              <a:solidFill>
                <a:schemeClr val="dk1"/>
              </a:solidFill>
              <a:latin typeface="Calibri"/>
              <a:ea typeface="Calibri"/>
              <a:cs typeface="Calibri"/>
              <a:sym typeface="Calibri"/>
            </a:endParaRPr>
          </a:p>
        </p:txBody>
      </p:sp>
      <p:sp>
        <p:nvSpPr>
          <p:cNvPr id="860" name="Google Shape;860;p40"/>
          <p:cNvSpPr txBox="1"/>
          <p:nvPr/>
        </p:nvSpPr>
        <p:spPr>
          <a:xfrm>
            <a:off x="8252765" y="3858768"/>
            <a:ext cx="2960522"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Escala α/√r para ranks altos aprenderem.</a:t>
            </a:r>
            <a:endParaRPr b="0" i="0" sz="1200" u="none" cap="none" strike="noStrike">
              <a:solidFill>
                <a:schemeClr val="dk1"/>
              </a:solidFill>
              <a:latin typeface="Calibri"/>
              <a:ea typeface="Calibri"/>
              <a:cs typeface="Calibri"/>
              <a:sym typeface="Calibri"/>
            </a:endParaRPr>
          </a:p>
        </p:txBody>
      </p:sp>
      <p:sp>
        <p:nvSpPr>
          <p:cNvPr id="861" name="Google Shape;861;p40"/>
          <p:cNvSpPr/>
          <p:nvPr/>
        </p:nvSpPr>
        <p:spPr>
          <a:xfrm>
            <a:off x="777240" y="4590288"/>
            <a:ext cx="3362858" cy="1371600"/>
          </a:xfrm>
          <a:prstGeom prst="roundRect">
            <a:avLst>
              <a:gd fmla="val 533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0"/>
          <p:cNvSpPr txBox="1"/>
          <p:nvPr/>
        </p:nvSpPr>
        <p:spPr>
          <a:xfrm>
            <a:off x="978408" y="4681728"/>
            <a:ext cx="22875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Liu et al. (2024)</a:t>
            </a:r>
            <a:endParaRPr b="0" i="0" sz="1200" u="none" cap="none" strike="noStrike">
              <a:solidFill>
                <a:schemeClr val="dk1"/>
              </a:solidFill>
              <a:latin typeface="Calibri"/>
              <a:ea typeface="Calibri"/>
              <a:cs typeface="Calibri"/>
              <a:sym typeface="Calibri"/>
            </a:endParaRPr>
          </a:p>
        </p:txBody>
      </p:sp>
      <p:sp>
        <p:nvSpPr>
          <p:cNvPr id="863" name="Google Shape;863;p40"/>
          <p:cNvSpPr txBox="1"/>
          <p:nvPr/>
        </p:nvSpPr>
        <p:spPr>
          <a:xfrm>
            <a:off x="3339084" y="4681728"/>
            <a:ext cx="618134"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5A18"/>
              </a:buClr>
              <a:buSzPts val="1050"/>
              <a:buFont typeface="Calibri"/>
              <a:buNone/>
            </a:pPr>
            <a:r>
              <a:rPr b="0" i="1" lang="en-US" sz="1050" u="none" cap="none" strike="noStrike">
                <a:solidFill>
                  <a:srgbClr val="A55A18"/>
                </a:solidFill>
                <a:latin typeface="Calibri"/>
                <a:ea typeface="Calibri"/>
                <a:cs typeface="Calibri"/>
                <a:sym typeface="Calibri"/>
              </a:rPr>
              <a:t>variante</a:t>
            </a:r>
            <a:endParaRPr b="0" i="0" sz="1050" u="none" cap="none" strike="noStrike">
              <a:solidFill>
                <a:schemeClr val="dk1"/>
              </a:solidFill>
              <a:latin typeface="Calibri"/>
              <a:ea typeface="Calibri"/>
              <a:cs typeface="Calibri"/>
              <a:sym typeface="Calibri"/>
            </a:endParaRPr>
          </a:p>
        </p:txBody>
      </p:sp>
      <p:sp>
        <p:nvSpPr>
          <p:cNvPr id="864" name="Google Shape;864;p40"/>
          <p:cNvSpPr txBox="1"/>
          <p:nvPr/>
        </p:nvSpPr>
        <p:spPr>
          <a:xfrm>
            <a:off x="978408" y="4974336"/>
            <a:ext cx="2960522"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E5F55"/>
              </a:buClr>
              <a:buSzPts val="1200"/>
              <a:buFont typeface="Cambria"/>
              <a:buNone/>
            </a:pPr>
            <a:r>
              <a:rPr b="0" i="1" lang="en-US" sz="1200" u="none" cap="none" strike="noStrike">
                <a:solidFill>
                  <a:srgbClr val="0E5F55"/>
                </a:solidFill>
                <a:latin typeface="Cambria"/>
                <a:ea typeface="Cambria"/>
                <a:cs typeface="Cambria"/>
                <a:sym typeface="Cambria"/>
              </a:rPr>
              <a:t>DoRA: Weight-Decomposed Low-Rank Adaptation</a:t>
            </a:r>
            <a:endParaRPr b="0" i="0" sz="1200" u="none" cap="none" strike="noStrike">
              <a:solidFill>
                <a:schemeClr val="dk1"/>
              </a:solidFill>
              <a:latin typeface="Calibri"/>
              <a:ea typeface="Calibri"/>
              <a:cs typeface="Calibri"/>
              <a:sym typeface="Calibri"/>
            </a:endParaRPr>
          </a:p>
        </p:txBody>
      </p:sp>
      <p:sp>
        <p:nvSpPr>
          <p:cNvPr id="865" name="Google Shape;865;p40"/>
          <p:cNvSpPr txBox="1"/>
          <p:nvPr/>
        </p:nvSpPr>
        <p:spPr>
          <a:xfrm>
            <a:off x="978408" y="5413248"/>
            <a:ext cx="2960522"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Separa magnitude e direção; LoRA só na direção.</a:t>
            </a:r>
            <a:endParaRPr b="0" i="0" sz="1200" u="none" cap="none" strike="noStrike">
              <a:solidFill>
                <a:schemeClr val="dk1"/>
              </a:solidFill>
              <a:latin typeface="Calibri"/>
              <a:ea typeface="Calibri"/>
              <a:cs typeface="Calibri"/>
              <a:sym typeface="Calibri"/>
            </a:endParaRPr>
          </a:p>
        </p:txBody>
      </p:sp>
      <p:sp>
        <p:nvSpPr>
          <p:cNvPr id="866" name="Google Shape;866;p40"/>
          <p:cNvSpPr/>
          <p:nvPr/>
        </p:nvSpPr>
        <p:spPr>
          <a:xfrm>
            <a:off x="4414418" y="4590288"/>
            <a:ext cx="3362858" cy="1371600"/>
          </a:xfrm>
          <a:prstGeom prst="roundRect">
            <a:avLst>
              <a:gd fmla="val 533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0"/>
          <p:cNvSpPr txBox="1"/>
          <p:nvPr/>
        </p:nvSpPr>
        <p:spPr>
          <a:xfrm>
            <a:off x="4615586" y="4681728"/>
            <a:ext cx="2353361"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Rajbhandari et al. (2020)</a:t>
            </a:r>
            <a:endParaRPr b="0" i="0" sz="1200" u="none" cap="none" strike="noStrike">
              <a:solidFill>
                <a:schemeClr val="dk1"/>
              </a:solidFill>
              <a:latin typeface="Calibri"/>
              <a:ea typeface="Calibri"/>
              <a:cs typeface="Calibri"/>
              <a:sym typeface="Calibri"/>
            </a:endParaRPr>
          </a:p>
        </p:txBody>
      </p:sp>
      <p:sp>
        <p:nvSpPr>
          <p:cNvPr id="868" name="Google Shape;868;p40"/>
          <p:cNvSpPr txBox="1"/>
          <p:nvPr/>
        </p:nvSpPr>
        <p:spPr>
          <a:xfrm>
            <a:off x="7042099" y="4681728"/>
            <a:ext cx="55229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5A18"/>
              </a:buClr>
              <a:buSzPts val="1050"/>
              <a:buFont typeface="Calibri"/>
              <a:buNone/>
            </a:pPr>
            <a:r>
              <a:rPr b="0" i="1" lang="en-US" sz="1050" u="none" cap="none" strike="noStrike">
                <a:solidFill>
                  <a:srgbClr val="A55A18"/>
                </a:solidFill>
                <a:latin typeface="Calibri"/>
                <a:ea typeface="Calibri"/>
                <a:cs typeface="Calibri"/>
                <a:sym typeface="Calibri"/>
              </a:rPr>
              <a:t>memória</a:t>
            </a:r>
            <a:endParaRPr b="0" i="0" sz="1050" u="none" cap="none" strike="noStrike">
              <a:solidFill>
                <a:schemeClr val="dk1"/>
              </a:solidFill>
              <a:latin typeface="Calibri"/>
              <a:ea typeface="Calibri"/>
              <a:cs typeface="Calibri"/>
              <a:sym typeface="Calibri"/>
            </a:endParaRPr>
          </a:p>
        </p:txBody>
      </p:sp>
      <p:sp>
        <p:nvSpPr>
          <p:cNvPr id="869" name="Google Shape;869;p40"/>
          <p:cNvSpPr txBox="1"/>
          <p:nvPr/>
        </p:nvSpPr>
        <p:spPr>
          <a:xfrm>
            <a:off x="4615586" y="4974336"/>
            <a:ext cx="2960522"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E5F55"/>
              </a:buClr>
              <a:buSzPts val="1200"/>
              <a:buFont typeface="Cambria"/>
              <a:buNone/>
            </a:pPr>
            <a:r>
              <a:rPr b="0" i="1" lang="en-US" sz="1200" u="none" cap="none" strike="noStrike">
                <a:solidFill>
                  <a:srgbClr val="0E5F55"/>
                </a:solidFill>
                <a:latin typeface="Cambria"/>
                <a:ea typeface="Cambria"/>
                <a:cs typeface="Cambria"/>
                <a:sym typeface="Cambria"/>
              </a:rPr>
              <a:t>ZeRO: Memory Optimizations...</a:t>
            </a:r>
            <a:endParaRPr b="0" i="0" sz="1200" u="none" cap="none" strike="noStrike">
              <a:solidFill>
                <a:schemeClr val="dk1"/>
              </a:solidFill>
              <a:latin typeface="Calibri"/>
              <a:ea typeface="Calibri"/>
              <a:cs typeface="Calibri"/>
              <a:sym typeface="Calibri"/>
            </a:endParaRPr>
          </a:p>
        </p:txBody>
      </p:sp>
      <p:sp>
        <p:nvSpPr>
          <p:cNvPr id="870" name="Google Shape;870;p40"/>
          <p:cNvSpPr txBox="1"/>
          <p:nvPr/>
        </p:nvSpPr>
        <p:spPr>
          <a:xfrm>
            <a:off x="4615586" y="5413248"/>
            <a:ext cx="2960522"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16 bytes por parâmetro no treino com Adam em precisão mista.</a:t>
            </a:r>
            <a:endParaRPr b="0" i="0" sz="1200" u="none" cap="none" strike="noStrike">
              <a:solidFill>
                <a:schemeClr val="dk1"/>
              </a:solidFill>
              <a:latin typeface="Calibri"/>
              <a:ea typeface="Calibri"/>
              <a:cs typeface="Calibri"/>
              <a:sym typeface="Calibri"/>
            </a:endParaRPr>
          </a:p>
        </p:txBody>
      </p:sp>
      <p:sp>
        <p:nvSpPr>
          <p:cNvPr id="871" name="Google Shape;871;p40"/>
          <p:cNvSpPr/>
          <p:nvPr/>
        </p:nvSpPr>
        <p:spPr>
          <a:xfrm>
            <a:off x="8051597" y="4590288"/>
            <a:ext cx="3362858" cy="1371600"/>
          </a:xfrm>
          <a:prstGeom prst="roundRect">
            <a:avLst>
              <a:gd fmla="val 5333"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0"/>
          <p:cNvSpPr txBox="1"/>
          <p:nvPr/>
        </p:nvSpPr>
        <p:spPr>
          <a:xfrm>
            <a:off x="8252765" y="4681728"/>
            <a:ext cx="215585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200"/>
              <a:buFont typeface="Calibri"/>
              <a:buNone/>
            </a:pPr>
            <a:r>
              <a:rPr b="1" i="0" lang="en-US" sz="1200" u="none" cap="none" strike="noStrike">
                <a:solidFill>
                  <a:srgbClr val="0F1C2E"/>
                </a:solidFill>
                <a:latin typeface="Calibri"/>
                <a:ea typeface="Calibri"/>
                <a:cs typeface="Calibri"/>
                <a:sym typeface="Calibri"/>
              </a:rPr>
              <a:t>Thinking Machines (2025)</a:t>
            </a:r>
            <a:endParaRPr b="0" i="0" sz="1200" u="none" cap="none" strike="noStrike">
              <a:solidFill>
                <a:schemeClr val="dk1"/>
              </a:solidFill>
              <a:latin typeface="Calibri"/>
              <a:ea typeface="Calibri"/>
              <a:cs typeface="Calibri"/>
              <a:sym typeface="Calibri"/>
            </a:endParaRPr>
          </a:p>
        </p:txBody>
      </p:sp>
      <p:sp>
        <p:nvSpPr>
          <p:cNvPr id="873" name="Google Shape;873;p40"/>
          <p:cNvSpPr txBox="1"/>
          <p:nvPr/>
        </p:nvSpPr>
        <p:spPr>
          <a:xfrm>
            <a:off x="10481767" y="4681728"/>
            <a:ext cx="74980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55A18"/>
              </a:buClr>
              <a:buSzPts val="1050"/>
              <a:buFont typeface="Calibri"/>
              <a:buNone/>
            </a:pPr>
            <a:r>
              <a:rPr b="0" i="1" lang="en-US" sz="1050" u="none" cap="none" strike="noStrike">
                <a:solidFill>
                  <a:srgbClr val="A55A18"/>
                </a:solidFill>
                <a:latin typeface="Calibri"/>
                <a:ea typeface="Calibri"/>
                <a:cs typeface="Calibri"/>
                <a:sym typeface="Calibri"/>
              </a:rPr>
              <a:t>comparação</a:t>
            </a:r>
            <a:endParaRPr b="0" i="0" sz="1050" u="none" cap="none" strike="noStrike">
              <a:solidFill>
                <a:schemeClr val="dk1"/>
              </a:solidFill>
              <a:latin typeface="Calibri"/>
              <a:ea typeface="Calibri"/>
              <a:cs typeface="Calibri"/>
              <a:sym typeface="Calibri"/>
            </a:endParaRPr>
          </a:p>
        </p:txBody>
      </p:sp>
      <p:sp>
        <p:nvSpPr>
          <p:cNvPr id="874" name="Google Shape;874;p40"/>
          <p:cNvSpPr txBox="1"/>
          <p:nvPr/>
        </p:nvSpPr>
        <p:spPr>
          <a:xfrm>
            <a:off x="8252765" y="4974336"/>
            <a:ext cx="2960522"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E5F55"/>
              </a:buClr>
              <a:buSzPts val="1200"/>
              <a:buFont typeface="Cambria"/>
              <a:buNone/>
            </a:pPr>
            <a:r>
              <a:rPr b="0" i="1" lang="en-US" sz="1200" u="none" cap="none" strike="noStrike">
                <a:solidFill>
                  <a:srgbClr val="0E5F55"/>
                </a:solidFill>
                <a:latin typeface="Cambria"/>
                <a:ea typeface="Cambria"/>
                <a:cs typeface="Cambria"/>
                <a:sym typeface="Cambria"/>
              </a:rPr>
              <a:t>LoRA Without Regret (blog)</a:t>
            </a:r>
            <a:endParaRPr b="0" i="0" sz="1200" u="none" cap="none" strike="noStrike">
              <a:solidFill>
                <a:schemeClr val="dk1"/>
              </a:solidFill>
              <a:latin typeface="Calibri"/>
              <a:ea typeface="Calibri"/>
              <a:cs typeface="Calibri"/>
              <a:sym typeface="Calibri"/>
            </a:endParaRPr>
          </a:p>
        </p:txBody>
      </p:sp>
      <p:sp>
        <p:nvSpPr>
          <p:cNvPr id="875" name="Google Shape;875;p40"/>
          <p:cNvSpPr txBox="1"/>
          <p:nvPr/>
        </p:nvSpPr>
        <p:spPr>
          <a:xfrm>
            <a:off x="8252765" y="5413248"/>
            <a:ext cx="2960522" cy="4754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D73"/>
              </a:buClr>
              <a:buSzPts val="1200"/>
              <a:buFont typeface="Calibri"/>
              <a:buNone/>
            </a:pPr>
            <a:r>
              <a:rPr b="0" i="0" lang="en-US" sz="1200" u="none" cap="none" strike="noStrike">
                <a:solidFill>
                  <a:srgbClr val="4B5D73"/>
                </a:solidFill>
                <a:latin typeface="Calibri"/>
                <a:ea typeface="Calibri"/>
                <a:cs typeface="Calibri"/>
                <a:sym typeface="Calibri"/>
              </a:rPr>
              <a:t>Taxa ~10× a do ajuste completo; todas as camadas, sobretudo MLP.</a:t>
            </a:r>
            <a:endParaRPr b="0" i="0" sz="1200" u="none" cap="none" strike="noStrike">
              <a:solidFill>
                <a:schemeClr val="dk1"/>
              </a:solidFill>
              <a:latin typeface="Calibri"/>
              <a:ea typeface="Calibri"/>
              <a:cs typeface="Calibri"/>
              <a:sym typeface="Calibri"/>
            </a:endParaRPr>
          </a:p>
        </p:txBody>
      </p:sp>
      <p:sp>
        <p:nvSpPr>
          <p:cNvPr id="876" name="Google Shape;876;p40"/>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41"/>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Conexão com o projeto</a:t>
            </a:r>
            <a:endParaRPr sz="3100"/>
          </a:p>
        </p:txBody>
      </p:sp>
      <p:sp>
        <p:nvSpPr>
          <p:cNvPr id="883" name="Google Shape;883;p41"/>
          <p:cNvSpPr txBox="1"/>
          <p:nvPr/>
        </p:nvSpPr>
        <p:spPr>
          <a:xfrm>
            <a:off x="777240" y="1335024"/>
            <a:ext cx="1063721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D73"/>
              </a:buClr>
              <a:buSzPts val="1450"/>
              <a:buFont typeface="Calibri"/>
              <a:buNone/>
            </a:pPr>
            <a:r>
              <a:rPr b="0" i="0" lang="en-US" sz="1450" u="none" cap="none" strike="noStrike">
                <a:solidFill>
                  <a:srgbClr val="4B5D73"/>
                </a:solidFill>
                <a:latin typeface="Calibri"/>
                <a:ea typeface="Calibri"/>
                <a:cs typeface="Calibri"/>
                <a:sym typeface="Calibri"/>
              </a:rPr>
              <a:t>O roadmap pede 'pelo menos um adaptador de SLM em PT-BR avaliado contra um baseline'. Hoje vimos o que isso exige.</a:t>
            </a:r>
            <a:endParaRPr b="0" i="0" sz="1450" u="none" cap="none" strike="noStrike">
              <a:solidFill>
                <a:schemeClr val="dk1"/>
              </a:solidFill>
              <a:latin typeface="Calibri"/>
              <a:ea typeface="Calibri"/>
              <a:cs typeface="Calibri"/>
              <a:sym typeface="Calibri"/>
            </a:endParaRPr>
          </a:p>
        </p:txBody>
      </p:sp>
      <p:sp>
        <p:nvSpPr>
          <p:cNvPr id="884" name="Google Shape;884;p41"/>
          <p:cNvSpPr/>
          <p:nvPr/>
        </p:nvSpPr>
        <p:spPr>
          <a:xfrm>
            <a:off x="777240" y="1828800"/>
            <a:ext cx="6583680" cy="914400"/>
          </a:xfrm>
          <a:prstGeom prst="roundRect">
            <a:avLst>
              <a:gd fmla="val 8000"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1"/>
          <p:cNvSpPr/>
          <p:nvPr/>
        </p:nvSpPr>
        <p:spPr>
          <a:xfrm>
            <a:off x="1005840" y="2084832"/>
            <a:ext cx="384048" cy="384048"/>
          </a:xfrm>
          <a:prstGeom prst="ellipse">
            <a:avLst/>
          </a:prstGeom>
          <a:solidFill>
            <a:srgbClr val="17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1"/>
          <p:cNvSpPr txBox="1"/>
          <p:nvPr/>
        </p:nvSpPr>
        <p:spPr>
          <a:xfrm>
            <a:off x="1005840" y="208483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887" name="Google Shape;887;p41"/>
          <p:cNvSpPr txBox="1"/>
          <p:nvPr/>
        </p:nvSpPr>
        <p:spPr>
          <a:xfrm>
            <a:off x="1554480" y="1901952"/>
            <a:ext cx="5577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550"/>
              <a:buFont typeface="Cambria"/>
              <a:buNone/>
            </a:pPr>
            <a:r>
              <a:rPr b="1" i="0" lang="en-US" sz="1550" u="none" cap="none" strike="noStrike">
                <a:solidFill>
                  <a:srgbClr val="0F1C2E"/>
                </a:solidFill>
                <a:latin typeface="Cambria"/>
                <a:ea typeface="Cambria"/>
                <a:cs typeface="Cambria"/>
                <a:sym typeface="Cambria"/>
              </a:rPr>
              <a:t>Um adaptador é o entregável</a:t>
            </a:r>
            <a:endParaRPr b="0" i="0" sz="1550" u="none" cap="none" strike="noStrike">
              <a:solidFill>
                <a:schemeClr val="dk1"/>
              </a:solidFill>
              <a:latin typeface="Calibri"/>
              <a:ea typeface="Calibri"/>
              <a:cs typeface="Calibri"/>
              <a:sym typeface="Calibri"/>
            </a:endParaRPr>
          </a:p>
        </p:txBody>
      </p:sp>
      <p:sp>
        <p:nvSpPr>
          <p:cNvPr id="888" name="Google Shape;888;p41"/>
          <p:cNvSpPr txBox="1"/>
          <p:nvPr/>
        </p:nvSpPr>
        <p:spPr>
          <a:xfrm>
            <a:off x="1554480" y="2240280"/>
            <a:ext cx="5577840" cy="4572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Salvar A, B e o adapter_config, com o hash da base e do template. A base fica intacta e compartilhada.</a:t>
            </a:r>
            <a:endParaRPr b="0" i="0" sz="1250" u="none" cap="none" strike="noStrike">
              <a:solidFill>
                <a:schemeClr val="dk1"/>
              </a:solidFill>
              <a:latin typeface="Calibri"/>
              <a:ea typeface="Calibri"/>
              <a:cs typeface="Calibri"/>
              <a:sym typeface="Calibri"/>
            </a:endParaRPr>
          </a:p>
        </p:txBody>
      </p:sp>
      <p:sp>
        <p:nvSpPr>
          <p:cNvPr id="889" name="Google Shape;889;p41"/>
          <p:cNvSpPr/>
          <p:nvPr/>
        </p:nvSpPr>
        <p:spPr>
          <a:xfrm>
            <a:off x="777240" y="2852928"/>
            <a:ext cx="6583680" cy="914400"/>
          </a:xfrm>
          <a:prstGeom prst="roundRect">
            <a:avLst>
              <a:gd fmla="val 8000" name="adj"/>
            </a:avLst>
          </a:prstGeom>
          <a:solidFill>
            <a:srgbClr val="FBEFE1"/>
          </a:solidFill>
          <a:ln cap="flat" cmpd="sng" w="15225">
            <a:solidFill>
              <a:srgbClr val="E08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1"/>
          <p:cNvSpPr/>
          <p:nvPr/>
        </p:nvSpPr>
        <p:spPr>
          <a:xfrm>
            <a:off x="1005840" y="3108960"/>
            <a:ext cx="384048" cy="384048"/>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41"/>
          <p:cNvSpPr txBox="1"/>
          <p:nvPr/>
        </p:nvSpPr>
        <p:spPr>
          <a:xfrm>
            <a:off x="1005840" y="31089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892" name="Google Shape;892;p41"/>
          <p:cNvSpPr txBox="1"/>
          <p:nvPr/>
        </p:nvSpPr>
        <p:spPr>
          <a:xfrm>
            <a:off x="1554480" y="2926080"/>
            <a:ext cx="5577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550"/>
              <a:buFont typeface="Cambria"/>
              <a:buNone/>
            </a:pPr>
            <a:r>
              <a:rPr b="1" i="0" lang="en-US" sz="1550" u="none" cap="none" strike="noStrike">
                <a:solidFill>
                  <a:srgbClr val="0F1C2E"/>
                </a:solidFill>
                <a:latin typeface="Cambria"/>
                <a:ea typeface="Cambria"/>
                <a:cs typeface="Cambria"/>
                <a:sym typeface="Cambria"/>
              </a:rPr>
              <a:t>O baseline certo</a:t>
            </a:r>
            <a:endParaRPr b="0" i="0" sz="1550" u="none" cap="none" strike="noStrike">
              <a:solidFill>
                <a:schemeClr val="dk1"/>
              </a:solidFill>
              <a:latin typeface="Calibri"/>
              <a:ea typeface="Calibri"/>
              <a:cs typeface="Calibri"/>
              <a:sym typeface="Calibri"/>
            </a:endParaRPr>
          </a:p>
        </p:txBody>
      </p:sp>
      <p:sp>
        <p:nvSpPr>
          <p:cNvPr id="893" name="Google Shape;893;p41"/>
          <p:cNvSpPr txBox="1"/>
          <p:nvPr/>
        </p:nvSpPr>
        <p:spPr>
          <a:xfrm>
            <a:off x="1554480" y="3264408"/>
            <a:ext cx="5577840" cy="4572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O mesmo SLM sem adapter, com o mesmo prompt. Para QLoRA, a base quantizada. Se houver merge, o modelo fundido.</a:t>
            </a:r>
            <a:endParaRPr b="0" i="0" sz="1250" u="none" cap="none" strike="noStrike">
              <a:solidFill>
                <a:schemeClr val="dk1"/>
              </a:solidFill>
              <a:latin typeface="Calibri"/>
              <a:ea typeface="Calibri"/>
              <a:cs typeface="Calibri"/>
              <a:sym typeface="Calibri"/>
            </a:endParaRPr>
          </a:p>
        </p:txBody>
      </p:sp>
      <p:sp>
        <p:nvSpPr>
          <p:cNvPr id="894" name="Google Shape;894;p41"/>
          <p:cNvSpPr/>
          <p:nvPr/>
        </p:nvSpPr>
        <p:spPr>
          <a:xfrm>
            <a:off x="777240" y="3877056"/>
            <a:ext cx="6583680" cy="914400"/>
          </a:xfrm>
          <a:prstGeom prst="roundRect">
            <a:avLst>
              <a:gd fmla="val 8000"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1"/>
          <p:cNvSpPr/>
          <p:nvPr/>
        </p:nvSpPr>
        <p:spPr>
          <a:xfrm>
            <a:off x="1005840" y="4133088"/>
            <a:ext cx="384048" cy="384048"/>
          </a:xfrm>
          <a:prstGeom prst="ellipse">
            <a:avLst/>
          </a:prstGeom>
          <a:solidFill>
            <a:srgbClr val="0F1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41"/>
          <p:cNvSpPr txBox="1"/>
          <p:nvPr/>
        </p:nvSpPr>
        <p:spPr>
          <a:xfrm>
            <a:off x="1005840" y="41330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897" name="Google Shape;897;p41"/>
          <p:cNvSpPr txBox="1"/>
          <p:nvPr/>
        </p:nvSpPr>
        <p:spPr>
          <a:xfrm>
            <a:off x="1554480" y="3950208"/>
            <a:ext cx="5577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550"/>
              <a:buFont typeface="Cambria"/>
              <a:buNone/>
            </a:pPr>
            <a:r>
              <a:rPr b="1" i="0" lang="en-US" sz="1550" u="none" cap="none" strike="noStrike">
                <a:solidFill>
                  <a:srgbClr val="0F1C2E"/>
                </a:solidFill>
                <a:latin typeface="Cambria"/>
                <a:ea typeface="Cambria"/>
                <a:cs typeface="Cambria"/>
                <a:sym typeface="Cambria"/>
              </a:rPr>
              <a:t>A régua da semana 6, aplicada</a:t>
            </a:r>
            <a:endParaRPr b="0" i="0" sz="1550" u="none" cap="none" strike="noStrike">
              <a:solidFill>
                <a:schemeClr val="dk1"/>
              </a:solidFill>
              <a:latin typeface="Calibri"/>
              <a:ea typeface="Calibri"/>
              <a:cs typeface="Calibri"/>
              <a:sym typeface="Calibri"/>
            </a:endParaRPr>
          </a:p>
        </p:txBody>
      </p:sp>
      <p:sp>
        <p:nvSpPr>
          <p:cNvPr id="898" name="Google Shape;898;p41"/>
          <p:cNvSpPr txBox="1"/>
          <p:nvPr/>
        </p:nvSpPr>
        <p:spPr>
          <a:xfrm>
            <a:off x="1554480" y="4288536"/>
            <a:ext cx="5577840" cy="4572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4B5D73"/>
              </a:buClr>
              <a:buSzPts val="1250"/>
              <a:buFont typeface="Calibri"/>
              <a:buNone/>
            </a:pPr>
            <a:r>
              <a:rPr b="0" i="0" lang="en-US" sz="1250" u="none" cap="none" strike="noStrike">
                <a:solidFill>
                  <a:srgbClr val="4B5D73"/>
                </a:solidFill>
                <a:latin typeface="Calibri"/>
                <a:ea typeface="Calibri"/>
                <a:cs typeface="Calibri"/>
                <a:sym typeface="Calibri"/>
              </a:rPr>
              <a:t>Busca de taxa por método, sementes, intervalo de confiança e o que pode piorar fora da tarefa.</a:t>
            </a:r>
            <a:endParaRPr b="0" i="0" sz="1250" u="none" cap="none" strike="noStrike">
              <a:solidFill>
                <a:schemeClr val="dk1"/>
              </a:solidFill>
              <a:latin typeface="Calibri"/>
              <a:ea typeface="Calibri"/>
              <a:cs typeface="Calibri"/>
              <a:sym typeface="Calibri"/>
            </a:endParaRPr>
          </a:p>
        </p:txBody>
      </p:sp>
      <p:sp>
        <p:nvSpPr>
          <p:cNvPr id="899" name="Google Shape;899;p41"/>
          <p:cNvSpPr/>
          <p:nvPr/>
        </p:nvSpPr>
        <p:spPr>
          <a:xfrm>
            <a:off x="7680960" y="1828800"/>
            <a:ext cx="3733495" cy="3977640"/>
          </a:xfrm>
          <a:prstGeom prst="roundRect">
            <a:avLst>
              <a:gd fmla="val 1959" name="adj"/>
            </a:avLst>
          </a:prstGeom>
          <a:solidFill>
            <a:srgbClr val="0F1C2E"/>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1"/>
          <p:cNvSpPr txBox="1"/>
          <p:nvPr/>
        </p:nvSpPr>
        <p:spPr>
          <a:xfrm>
            <a:off x="7955280" y="1938528"/>
            <a:ext cx="3184855"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350"/>
              <a:buFont typeface="Calibri"/>
              <a:buNone/>
            </a:pPr>
            <a:r>
              <a:rPr b="1" i="0" lang="en-US" sz="1350" u="none" cap="none" strike="noStrike">
                <a:solidFill>
                  <a:srgbClr val="E08A3C"/>
                </a:solidFill>
                <a:latin typeface="Calibri"/>
                <a:ea typeface="Calibri"/>
                <a:cs typeface="Calibri"/>
                <a:sym typeface="Calibri"/>
              </a:rPr>
              <a:t>Sugestões para o radar de papers</a:t>
            </a:r>
            <a:endParaRPr b="0" i="0" sz="1350" u="none" cap="none" strike="noStrike">
              <a:solidFill>
                <a:schemeClr val="dk1"/>
              </a:solidFill>
              <a:latin typeface="Calibri"/>
              <a:ea typeface="Calibri"/>
              <a:cs typeface="Calibri"/>
              <a:sym typeface="Calibri"/>
            </a:endParaRPr>
          </a:p>
        </p:txBody>
      </p:sp>
      <p:sp>
        <p:nvSpPr>
          <p:cNvPr id="901" name="Google Shape;901;p41"/>
          <p:cNvSpPr txBox="1"/>
          <p:nvPr/>
        </p:nvSpPr>
        <p:spPr>
          <a:xfrm>
            <a:off x="7955280" y="2231136"/>
            <a:ext cx="3184855"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3B7"/>
              </a:buClr>
              <a:buSzPts val="1100"/>
              <a:buFont typeface="Calibri"/>
              <a:buNone/>
            </a:pPr>
            <a:r>
              <a:rPr b="0" i="1" lang="en-US" sz="1100" u="none" cap="none" strike="noStrike">
                <a:solidFill>
                  <a:srgbClr val="8FA3B7"/>
                </a:solidFill>
                <a:latin typeface="Calibri"/>
                <a:ea typeface="Calibri"/>
                <a:cs typeface="Calibri"/>
                <a:sym typeface="Calibri"/>
              </a:rPr>
              <a:t>para discutir com a equipe</a:t>
            </a:r>
            <a:endParaRPr b="0" i="0" sz="1100" u="none" cap="none" strike="noStrike">
              <a:solidFill>
                <a:schemeClr val="dk1"/>
              </a:solidFill>
              <a:latin typeface="Calibri"/>
              <a:ea typeface="Calibri"/>
              <a:cs typeface="Calibri"/>
              <a:sym typeface="Calibri"/>
            </a:endParaRPr>
          </a:p>
        </p:txBody>
      </p:sp>
      <p:sp>
        <p:nvSpPr>
          <p:cNvPr id="902" name="Google Shape;902;p41"/>
          <p:cNvSpPr txBox="1"/>
          <p:nvPr/>
        </p:nvSpPr>
        <p:spPr>
          <a:xfrm>
            <a:off x="7955280" y="2606040"/>
            <a:ext cx="3184855" cy="3017520"/>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QLoRA (2023)</a:t>
            </a:r>
            <a:endParaRPr b="0" i="0" sz="1300" u="none" cap="none" strike="noStrike">
              <a:solidFill>
                <a:schemeClr val="dk1"/>
              </a:solidFill>
              <a:latin typeface="Calibri"/>
              <a:ea typeface="Calibri"/>
              <a:cs typeface="Calibri"/>
              <a:sym typeface="Calibri"/>
            </a:endParaRPr>
          </a:p>
          <a:p>
            <a:pPr indent="0" lvl="0" marL="0" marR="0" rtl="0" algn="l">
              <a:lnSpc>
                <a:spcPct val="146153"/>
              </a:lnSpc>
              <a:spcBef>
                <a:spcPts val="0"/>
              </a:spcBef>
              <a:spcAft>
                <a:spcPts val="0"/>
              </a:spcAft>
              <a:buClr>
                <a:srgbClr val="C3D2DF"/>
              </a:buClr>
              <a:buSzPts val="1300"/>
              <a:buFont typeface="Calibri"/>
              <a:buNone/>
            </a:pPr>
            <a:r>
              <a:rPr b="0" i="0" lang="en-US" sz="1300" u="none" cap="none" strike="noStrike">
                <a:solidFill>
                  <a:srgbClr val="C3D2DF"/>
                </a:solidFill>
                <a:latin typeface="Calibri"/>
                <a:ea typeface="Calibri"/>
                <a:cs typeface="Calibri"/>
                <a:sym typeface="Calibri"/>
              </a:rPr>
              <a:t>Recorte: LoRA em bf16 × QLoRA num SLM em PT-BR, com a régua de hoje.</a:t>
            </a:r>
            <a:endParaRPr b="0" i="0" sz="1300" u="none" cap="none" strike="noStrike">
              <a:solidFill>
                <a:schemeClr val="dk1"/>
              </a:solidFill>
              <a:latin typeface="Calibri"/>
              <a:ea typeface="Calibri"/>
              <a:cs typeface="Calibri"/>
              <a:sym typeface="Calibri"/>
            </a:endParaRPr>
          </a:p>
          <a:p>
            <a:pPr indent="0" lvl="0" marL="0" marR="0" rtl="0" algn="l">
              <a:lnSpc>
                <a:spcPct val="146153"/>
              </a:lnSpc>
              <a:spcBef>
                <a:spcPts val="0"/>
              </a:spcBef>
              <a:spcAft>
                <a:spcPts val="0"/>
              </a:spcAft>
              <a:buClr>
                <a:srgbClr val="000000"/>
              </a:buClr>
              <a:buSzPts val="1300"/>
              <a:buFont typeface="Calibri"/>
              <a:buNone/>
            </a:pPr>
            <a:r>
              <a:rPr b="0" i="0" lang="en-US" sz="1300" u="none" cap="none" strike="noStrike">
                <a:solidFill>
                  <a:srgbClr val="000000"/>
                </a:solidFill>
                <a:latin typeface="Calibri"/>
                <a:ea typeface="Calibri"/>
                <a:cs typeface="Calibri"/>
                <a:sym typeface="Calibri"/>
              </a:rPr>
              <a:t> </a:t>
            </a:r>
            <a:endParaRPr b="0" i="0" sz="1300" u="none" cap="none" strike="noStrike">
              <a:solidFill>
                <a:schemeClr val="dk1"/>
              </a:solidFill>
              <a:latin typeface="Calibri"/>
              <a:ea typeface="Calibri"/>
              <a:cs typeface="Calibri"/>
              <a:sym typeface="Calibri"/>
            </a:endParaRPr>
          </a:p>
          <a:p>
            <a:pPr indent="0" lvl="0" marL="0" marR="0" rtl="0" algn="l">
              <a:lnSpc>
                <a:spcPct val="146153"/>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LoRA Learns Less and Forgets Less (2024)</a:t>
            </a:r>
            <a:endParaRPr b="0" i="0" sz="1300" u="none" cap="none" strike="noStrike">
              <a:solidFill>
                <a:schemeClr val="dk1"/>
              </a:solidFill>
              <a:latin typeface="Calibri"/>
              <a:ea typeface="Calibri"/>
              <a:cs typeface="Calibri"/>
              <a:sym typeface="Calibri"/>
            </a:endParaRPr>
          </a:p>
          <a:p>
            <a:pPr indent="0" lvl="0" marL="0" marR="0" rtl="0" algn="l">
              <a:lnSpc>
                <a:spcPct val="146153"/>
              </a:lnSpc>
              <a:spcBef>
                <a:spcPts val="0"/>
              </a:spcBef>
              <a:spcAft>
                <a:spcPts val="0"/>
              </a:spcAft>
              <a:buClr>
                <a:srgbClr val="C3D2DF"/>
              </a:buClr>
              <a:buSzPts val="1300"/>
              <a:buFont typeface="Calibri"/>
              <a:buNone/>
            </a:pPr>
            <a:r>
              <a:rPr b="0" i="0" lang="en-US" sz="1300" u="none" cap="none" strike="noStrike">
                <a:solidFill>
                  <a:srgbClr val="C3D2DF"/>
                </a:solidFill>
                <a:latin typeface="Calibri"/>
                <a:ea typeface="Calibri"/>
                <a:cs typeface="Calibri"/>
                <a:sym typeface="Calibri"/>
              </a:rPr>
              <a:t>Recorte: o que um adaptador PT-BR faz o modelo esquecer, medido antes e depois.</a:t>
            </a:r>
            <a:endParaRPr b="0" i="0" sz="1300" u="none" cap="none" strike="noStrike">
              <a:solidFill>
                <a:schemeClr val="dk1"/>
              </a:solidFill>
              <a:latin typeface="Calibri"/>
              <a:ea typeface="Calibri"/>
              <a:cs typeface="Calibri"/>
              <a:sym typeface="Calibri"/>
            </a:endParaRPr>
          </a:p>
        </p:txBody>
      </p:sp>
      <p:sp>
        <p:nvSpPr>
          <p:cNvPr id="903" name="Google Shape;903;p41"/>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42"/>
          <p:cNvSpPr txBox="1"/>
          <p:nvPr/>
        </p:nvSpPr>
        <p:spPr>
          <a:xfrm>
            <a:off x="777240" y="1783080"/>
            <a:ext cx="146304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9600"/>
              <a:buFont typeface="Cambria"/>
              <a:buNone/>
            </a:pPr>
            <a:r>
              <a:rPr b="1" i="0" lang="en-US" sz="9600" u="none" cap="none" strike="noStrike">
                <a:solidFill>
                  <a:srgbClr val="E08A3C"/>
                </a:solidFill>
                <a:latin typeface="Cambria"/>
                <a:ea typeface="Cambria"/>
                <a:cs typeface="Cambria"/>
                <a:sym typeface="Cambria"/>
              </a:rPr>
              <a:t>6</a:t>
            </a:r>
            <a:endParaRPr b="0" i="0" sz="9600" u="none" cap="none" strike="noStrike">
              <a:solidFill>
                <a:schemeClr val="dk1"/>
              </a:solidFill>
              <a:latin typeface="Calibri"/>
              <a:ea typeface="Calibri"/>
              <a:cs typeface="Calibri"/>
              <a:sym typeface="Calibri"/>
            </a:endParaRPr>
          </a:p>
        </p:txBody>
      </p:sp>
      <p:sp>
        <p:nvSpPr>
          <p:cNvPr id="910" name="Google Shape;910;p42"/>
          <p:cNvSpPr txBox="1"/>
          <p:nvPr>
            <p:ph type="title"/>
          </p:nvPr>
        </p:nvSpPr>
        <p:spPr>
          <a:xfrm>
            <a:off x="2377440" y="2011680"/>
            <a:ext cx="6583680" cy="73152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FFFFFF"/>
              </a:buClr>
              <a:buSzPts val="3600"/>
              <a:buFont typeface="Cambria"/>
              <a:buNone/>
            </a:pPr>
            <a:r>
              <a:rPr b="1" lang="en-US" sz="3600">
                <a:solidFill>
                  <a:srgbClr val="FFFFFF"/>
                </a:solidFill>
                <a:latin typeface="Cambria"/>
                <a:ea typeface="Cambria"/>
                <a:cs typeface="Cambria"/>
                <a:sym typeface="Cambria"/>
              </a:rPr>
              <a:t>Síntese e limites</a:t>
            </a:r>
            <a:endParaRPr sz="3600"/>
          </a:p>
        </p:txBody>
      </p:sp>
      <p:sp>
        <p:nvSpPr>
          <p:cNvPr id="911" name="Google Shape;911;p42"/>
          <p:cNvSpPr txBox="1"/>
          <p:nvPr/>
        </p:nvSpPr>
        <p:spPr>
          <a:xfrm>
            <a:off x="2404872" y="2761488"/>
            <a:ext cx="65836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9BACB"/>
              </a:buClr>
              <a:buSzPts val="1500"/>
              <a:buFont typeface="Calibri"/>
              <a:buNone/>
            </a:pPr>
            <a:r>
              <a:rPr b="0" i="0" lang="en-US" sz="1500" u="none" cap="none" strike="noStrike">
                <a:solidFill>
                  <a:srgbClr val="A9BACB"/>
                </a:solidFill>
                <a:latin typeface="Calibri"/>
                <a:ea typeface="Calibri"/>
                <a:cs typeface="Calibri"/>
                <a:sym typeface="Calibri"/>
              </a:rPr>
              <a:t>O que a economia preserva e o que ela pode esconder.</a:t>
            </a:r>
            <a:endParaRPr b="0" i="0" sz="1500" u="none" cap="none" strike="noStrike">
              <a:solidFill>
                <a:schemeClr val="dk1"/>
              </a:solidFill>
              <a:latin typeface="Calibri"/>
              <a:ea typeface="Calibri"/>
              <a:cs typeface="Calibri"/>
              <a:sym typeface="Calibri"/>
            </a:endParaRPr>
          </a:p>
        </p:txBody>
      </p:sp>
      <p:cxnSp>
        <p:nvCxnSpPr>
          <p:cNvPr id="912" name="Google Shape;912;p42"/>
          <p:cNvCxnSpPr/>
          <p:nvPr/>
        </p:nvCxnSpPr>
        <p:spPr>
          <a:xfrm>
            <a:off x="8732520" y="1691640"/>
            <a:ext cx="0" cy="3566160"/>
          </a:xfrm>
          <a:prstGeom prst="straightConnector1">
            <a:avLst/>
          </a:prstGeom>
          <a:noFill/>
          <a:ln cap="flat" cmpd="sng" w="12700">
            <a:solidFill>
              <a:srgbClr val="35506B"/>
            </a:solidFill>
            <a:prstDash val="solid"/>
            <a:round/>
            <a:headEnd len="sm" w="sm" type="none"/>
            <a:tailEnd len="sm" w="sm" type="none"/>
          </a:ln>
        </p:spPr>
      </p:cxnSp>
      <p:sp>
        <p:nvSpPr>
          <p:cNvPr id="913" name="Google Shape;913;p42"/>
          <p:cNvSpPr txBox="1"/>
          <p:nvPr/>
        </p:nvSpPr>
        <p:spPr>
          <a:xfrm>
            <a:off x="9098280" y="1691640"/>
            <a:ext cx="2377440" cy="3566160"/>
          </a:xfrm>
          <a:prstGeom prst="rect">
            <a:avLst/>
          </a:prstGeom>
          <a:noFill/>
          <a:ln>
            <a:noFill/>
          </a:ln>
        </p:spPr>
        <p:txBody>
          <a:bodyPr anchorCtr="0" anchor="t" bIns="0" lIns="0" spcFirstLastPara="1" rIns="0" wrap="square" tIns="0">
            <a:noAutofit/>
          </a:bodyPr>
          <a:lstStyle/>
          <a:p>
            <a:pPr indent="-342900" lvl="0" marL="342900" marR="0" rtl="0" algn="l">
              <a:lnSpc>
                <a:spcPct val="144000"/>
              </a:lnSpc>
              <a:spcBef>
                <a:spcPts val="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A resposta em seis passos</a:t>
            </a:r>
            <a:endParaRPr b="0" i="0" sz="1250" u="none" cap="none" strike="noStrike">
              <a:solidFill>
                <a:schemeClr val="dk1"/>
              </a:solidFill>
              <a:latin typeface="Calibri"/>
              <a:ea typeface="Calibri"/>
              <a:cs typeface="Calibri"/>
              <a:sym typeface="Calibri"/>
            </a:endParaRPr>
          </a:p>
          <a:p>
            <a:pPr indent="-342900" lvl="0" marL="342900" marR="0" rtl="0" algn="l">
              <a:lnSpc>
                <a:spcPct val="144000"/>
              </a:lnSpc>
              <a:spcBef>
                <a:spcPts val="600"/>
              </a:spcBef>
              <a:spcAft>
                <a:spcPts val="0"/>
              </a:spcAft>
              <a:buClr>
                <a:srgbClr val="C3D2DF"/>
              </a:buClr>
              <a:buSzPts val="1250"/>
              <a:buFont typeface="Calibri"/>
              <a:buChar char="•"/>
            </a:pPr>
            <a:r>
              <a:rPr b="0" i="0" lang="en-US" sz="1250" u="none" cap="none" strike="noStrike">
                <a:solidFill>
                  <a:srgbClr val="C3D2DF"/>
                </a:solidFill>
                <a:latin typeface="Calibri"/>
                <a:ea typeface="Calibri"/>
                <a:cs typeface="Calibri"/>
                <a:sym typeface="Calibri"/>
              </a:rPr>
              <a:t>Limites</a:t>
            </a:r>
            <a:endParaRPr b="0" i="0" sz="1250" u="none" cap="none" strike="noStrike">
              <a:solidFill>
                <a:schemeClr val="dk1"/>
              </a:solidFill>
              <a:latin typeface="Calibri"/>
              <a:ea typeface="Calibri"/>
              <a:cs typeface="Calibri"/>
              <a:sym typeface="Calibri"/>
            </a:endParaRPr>
          </a:p>
        </p:txBody>
      </p:sp>
      <p:sp>
        <p:nvSpPr>
          <p:cNvPr id="914" name="Google Shape;914;p42"/>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5C7086"/>
                </a:solidFill>
                <a:latin typeface="Calibri"/>
                <a:ea typeface="Calibri"/>
                <a:cs typeface="Calibri"/>
                <a:sym typeface="Calibri"/>
              </a:rPr>
              <a:t>‹#›</a:t>
            </a:fld>
            <a:endParaRPr b="0" i="0" sz="950" u="none" cap="none" strike="noStrike">
              <a:solidFill>
                <a:srgbClr val="5C7086"/>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43"/>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A resposta em seis passos</a:t>
            </a:r>
            <a:endParaRPr sz="3100"/>
          </a:p>
        </p:txBody>
      </p:sp>
      <p:sp>
        <p:nvSpPr>
          <p:cNvPr id="921" name="Google Shape;921;p43"/>
          <p:cNvSpPr/>
          <p:nvPr/>
        </p:nvSpPr>
        <p:spPr>
          <a:xfrm>
            <a:off x="777240" y="1417320"/>
            <a:ext cx="10637215" cy="566928"/>
          </a:xfrm>
          <a:prstGeom prst="roundRect">
            <a:avLst>
              <a:gd fmla="val 12903" name="adj"/>
            </a:avLst>
          </a:prstGeom>
          <a:solidFill>
            <a:srgbClr val="0F1C2E"/>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3"/>
          <p:cNvSpPr txBox="1"/>
          <p:nvPr/>
        </p:nvSpPr>
        <p:spPr>
          <a:xfrm>
            <a:off x="1097280" y="1417320"/>
            <a:ext cx="9997135"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0" i="1" lang="en-US" sz="1700" u="none" cap="none" strike="noStrike">
                <a:solidFill>
                  <a:srgbClr val="FFFFFF"/>
                </a:solidFill>
                <a:latin typeface="Cambria"/>
                <a:ea typeface="Cambria"/>
                <a:cs typeface="Cambria"/>
                <a:sym typeface="Cambria"/>
              </a:rPr>
              <a:t>Como adaptar atualizando poucos parâmetros, e quando a economia preserva a comparação?</a:t>
            </a:r>
            <a:endParaRPr b="0" i="0" sz="1700" u="none" cap="none" strike="noStrike">
              <a:solidFill>
                <a:schemeClr val="dk1"/>
              </a:solidFill>
              <a:latin typeface="Calibri"/>
              <a:ea typeface="Calibri"/>
              <a:cs typeface="Calibri"/>
              <a:sym typeface="Calibri"/>
            </a:endParaRPr>
          </a:p>
        </p:txBody>
      </p:sp>
      <p:sp>
        <p:nvSpPr>
          <p:cNvPr id="923" name="Google Shape;923;p43"/>
          <p:cNvSpPr/>
          <p:nvPr/>
        </p:nvSpPr>
        <p:spPr>
          <a:xfrm>
            <a:off x="777240" y="2258568"/>
            <a:ext cx="402336" cy="402336"/>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43"/>
          <p:cNvSpPr txBox="1"/>
          <p:nvPr/>
        </p:nvSpPr>
        <p:spPr>
          <a:xfrm>
            <a:off x="777240" y="225856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925" name="Google Shape;925;p43"/>
          <p:cNvSpPr txBox="1"/>
          <p:nvPr/>
        </p:nvSpPr>
        <p:spPr>
          <a:xfrm>
            <a:off x="1344168" y="2212848"/>
            <a:ext cx="454136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Congelar e acoplar</a:t>
            </a:r>
            <a:endParaRPr b="0" i="0" sz="1600" u="none" cap="none" strike="noStrike">
              <a:solidFill>
                <a:schemeClr val="dk1"/>
              </a:solidFill>
              <a:latin typeface="Calibri"/>
              <a:ea typeface="Calibri"/>
              <a:cs typeface="Calibri"/>
              <a:sym typeface="Calibri"/>
            </a:endParaRPr>
          </a:p>
        </p:txBody>
      </p:sp>
      <p:sp>
        <p:nvSpPr>
          <p:cNvPr id="926" name="Google Shape;926;p43"/>
          <p:cNvSpPr txBox="1"/>
          <p:nvPr/>
        </p:nvSpPr>
        <p:spPr>
          <a:xfrm>
            <a:off x="1344168" y="2578608"/>
            <a:ext cx="4541368" cy="73152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PEFT treina uma peça pequena; a base não muda e pode ser compartilhada.</a:t>
            </a:r>
            <a:endParaRPr b="0" i="0" sz="1350" u="none" cap="none" strike="noStrike">
              <a:solidFill>
                <a:schemeClr val="dk1"/>
              </a:solidFill>
              <a:latin typeface="Calibri"/>
              <a:ea typeface="Calibri"/>
              <a:cs typeface="Calibri"/>
              <a:sym typeface="Calibri"/>
            </a:endParaRPr>
          </a:p>
        </p:txBody>
      </p:sp>
      <p:sp>
        <p:nvSpPr>
          <p:cNvPr id="927" name="Google Shape;927;p43"/>
          <p:cNvSpPr/>
          <p:nvPr/>
        </p:nvSpPr>
        <p:spPr>
          <a:xfrm>
            <a:off x="777240" y="3520440"/>
            <a:ext cx="402336" cy="402336"/>
          </a:xfrm>
          <a:prstGeom prst="ellipse">
            <a:avLst/>
          </a:prstGeom>
          <a:solidFill>
            <a:srgbClr val="1789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3"/>
          <p:cNvSpPr txBox="1"/>
          <p:nvPr/>
        </p:nvSpPr>
        <p:spPr>
          <a:xfrm>
            <a:off x="777240" y="35204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929" name="Google Shape;929;p43"/>
          <p:cNvSpPr txBox="1"/>
          <p:nvPr/>
        </p:nvSpPr>
        <p:spPr>
          <a:xfrm>
            <a:off x="1344168" y="3474720"/>
            <a:ext cx="454136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Um desvio de baixo rank</a:t>
            </a:r>
            <a:endParaRPr b="0" i="0" sz="1600" u="none" cap="none" strike="noStrike">
              <a:solidFill>
                <a:schemeClr val="dk1"/>
              </a:solidFill>
              <a:latin typeface="Calibri"/>
              <a:ea typeface="Calibri"/>
              <a:cs typeface="Calibri"/>
              <a:sym typeface="Calibri"/>
            </a:endParaRPr>
          </a:p>
        </p:txBody>
      </p:sp>
      <p:sp>
        <p:nvSpPr>
          <p:cNvPr id="930" name="Google Shape;930;p43"/>
          <p:cNvSpPr txBox="1"/>
          <p:nvPr/>
        </p:nvSpPr>
        <p:spPr>
          <a:xfrm>
            <a:off x="1344168" y="3840480"/>
            <a:ext cx="4541368" cy="73152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A LoRA soma (α/r)·A·B a cada matriz-alvo; B começa em zero.</a:t>
            </a:r>
            <a:endParaRPr b="0" i="0" sz="1350" u="none" cap="none" strike="noStrike">
              <a:solidFill>
                <a:schemeClr val="dk1"/>
              </a:solidFill>
              <a:latin typeface="Calibri"/>
              <a:ea typeface="Calibri"/>
              <a:cs typeface="Calibri"/>
              <a:sym typeface="Calibri"/>
            </a:endParaRPr>
          </a:p>
        </p:txBody>
      </p:sp>
      <p:sp>
        <p:nvSpPr>
          <p:cNvPr id="931" name="Google Shape;931;p43"/>
          <p:cNvSpPr/>
          <p:nvPr/>
        </p:nvSpPr>
        <p:spPr>
          <a:xfrm>
            <a:off x="777240" y="4782312"/>
            <a:ext cx="402336" cy="402336"/>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43"/>
          <p:cNvSpPr txBox="1"/>
          <p:nvPr/>
        </p:nvSpPr>
        <p:spPr>
          <a:xfrm>
            <a:off x="777240" y="478231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933" name="Google Shape;933;p43"/>
          <p:cNvSpPr txBox="1"/>
          <p:nvPr/>
        </p:nvSpPr>
        <p:spPr>
          <a:xfrm>
            <a:off x="1344168" y="4736592"/>
            <a:ext cx="454136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Quatro botões</a:t>
            </a:r>
            <a:endParaRPr b="0" i="0" sz="1600" u="none" cap="none" strike="noStrike">
              <a:solidFill>
                <a:schemeClr val="dk1"/>
              </a:solidFill>
              <a:latin typeface="Calibri"/>
              <a:ea typeface="Calibri"/>
              <a:cs typeface="Calibri"/>
              <a:sym typeface="Calibri"/>
            </a:endParaRPr>
          </a:p>
        </p:txBody>
      </p:sp>
      <p:sp>
        <p:nvSpPr>
          <p:cNvPr id="934" name="Google Shape;934;p43"/>
          <p:cNvSpPr txBox="1"/>
          <p:nvPr/>
        </p:nvSpPr>
        <p:spPr>
          <a:xfrm>
            <a:off x="1344168" y="5102352"/>
            <a:ext cx="4541368" cy="73152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Rank, alpha, dropout e módulos-alvo. Alpha e taxa andam juntos.</a:t>
            </a:r>
            <a:endParaRPr b="0" i="0" sz="1350" u="none" cap="none" strike="noStrike">
              <a:solidFill>
                <a:schemeClr val="dk1"/>
              </a:solidFill>
              <a:latin typeface="Calibri"/>
              <a:ea typeface="Calibri"/>
              <a:cs typeface="Calibri"/>
              <a:sym typeface="Calibri"/>
            </a:endParaRPr>
          </a:p>
        </p:txBody>
      </p:sp>
      <p:sp>
        <p:nvSpPr>
          <p:cNvPr id="935" name="Google Shape;935;p43"/>
          <p:cNvSpPr/>
          <p:nvPr/>
        </p:nvSpPr>
        <p:spPr>
          <a:xfrm>
            <a:off x="6233008" y="2258568"/>
            <a:ext cx="402336" cy="402336"/>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3"/>
          <p:cNvSpPr txBox="1"/>
          <p:nvPr/>
        </p:nvSpPr>
        <p:spPr>
          <a:xfrm>
            <a:off x="6233008" y="225856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a:t>
            </a:r>
            <a:endParaRPr b="0" i="0" sz="1500" u="none" cap="none" strike="noStrike">
              <a:solidFill>
                <a:schemeClr val="dk1"/>
              </a:solidFill>
              <a:latin typeface="Calibri"/>
              <a:ea typeface="Calibri"/>
              <a:cs typeface="Calibri"/>
              <a:sym typeface="Calibri"/>
            </a:endParaRPr>
          </a:p>
        </p:txBody>
      </p:sp>
      <p:sp>
        <p:nvSpPr>
          <p:cNvPr id="937" name="Google Shape;937;p43"/>
          <p:cNvSpPr txBox="1"/>
          <p:nvPr/>
        </p:nvSpPr>
        <p:spPr>
          <a:xfrm>
            <a:off x="6799936" y="2212848"/>
            <a:ext cx="454136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Menos memória</a:t>
            </a:r>
            <a:endParaRPr b="0" i="0" sz="1600" u="none" cap="none" strike="noStrike">
              <a:solidFill>
                <a:schemeClr val="dk1"/>
              </a:solidFill>
              <a:latin typeface="Calibri"/>
              <a:ea typeface="Calibri"/>
              <a:cs typeface="Calibri"/>
              <a:sym typeface="Calibri"/>
            </a:endParaRPr>
          </a:p>
        </p:txBody>
      </p:sp>
      <p:sp>
        <p:nvSpPr>
          <p:cNvPr id="938" name="Google Shape;938;p43"/>
          <p:cNvSpPr txBox="1"/>
          <p:nvPr/>
        </p:nvSpPr>
        <p:spPr>
          <a:xfrm>
            <a:off x="6799936" y="2578608"/>
            <a:ext cx="4541368" cy="73152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Menos gradientes e estado do otimizador; a QLoRA ainda guarda a base em 4 bits.</a:t>
            </a:r>
            <a:endParaRPr b="0" i="0" sz="1350" u="none" cap="none" strike="noStrike">
              <a:solidFill>
                <a:schemeClr val="dk1"/>
              </a:solidFill>
              <a:latin typeface="Calibri"/>
              <a:ea typeface="Calibri"/>
              <a:cs typeface="Calibri"/>
              <a:sym typeface="Calibri"/>
            </a:endParaRPr>
          </a:p>
        </p:txBody>
      </p:sp>
      <p:sp>
        <p:nvSpPr>
          <p:cNvPr id="939" name="Google Shape;939;p43"/>
          <p:cNvSpPr/>
          <p:nvPr/>
        </p:nvSpPr>
        <p:spPr>
          <a:xfrm>
            <a:off x="6233008" y="3520440"/>
            <a:ext cx="402336" cy="402336"/>
          </a:xfrm>
          <a:prstGeom prst="ellipse">
            <a:avLst/>
          </a:prstGeom>
          <a:solidFill>
            <a:srgbClr val="E08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43"/>
          <p:cNvSpPr txBox="1"/>
          <p:nvPr/>
        </p:nvSpPr>
        <p:spPr>
          <a:xfrm>
            <a:off x="6233008" y="35204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5</a:t>
            </a:r>
            <a:endParaRPr b="0" i="0" sz="1500" u="none" cap="none" strike="noStrike">
              <a:solidFill>
                <a:schemeClr val="dk1"/>
              </a:solidFill>
              <a:latin typeface="Calibri"/>
              <a:ea typeface="Calibri"/>
              <a:cs typeface="Calibri"/>
              <a:sym typeface="Calibri"/>
            </a:endParaRPr>
          </a:p>
        </p:txBody>
      </p:sp>
      <p:sp>
        <p:nvSpPr>
          <p:cNvPr id="941" name="Google Shape;941;p43"/>
          <p:cNvSpPr txBox="1"/>
          <p:nvPr/>
        </p:nvSpPr>
        <p:spPr>
          <a:xfrm>
            <a:off x="6799936" y="3474720"/>
            <a:ext cx="454136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Separado ou fundido</a:t>
            </a:r>
            <a:endParaRPr b="0" i="0" sz="1600" u="none" cap="none" strike="noStrike">
              <a:solidFill>
                <a:schemeClr val="dk1"/>
              </a:solidFill>
              <a:latin typeface="Calibri"/>
              <a:ea typeface="Calibri"/>
              <a:cs typeface="Calibri"/>
              <a:sym typeface="Calibri"/>
            </a:endParaRPr>
          </a:p>
        </p:txBody>
      </p:sp>
      <p:sp>
        <p:nvSpPr>
          <p:cNvPr id="942" name="Google Shape;942;p43"/>
          <p:cNvSpPr txBox="1"/>
          <p:nvPr/>
        </p:nvSpPr>
        <p:spPr>
          <a:xfrm>
            <a:off x="6799936" y="3840480"/>
            <a:ext cx="4541368" cy="73152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O merge não deve mudar nada, e isso se confere. Na QLoRA, cuidado com a base.</a:t>
            </a:r>
            <a:endParaRPr b="0" i="0" sz="1350" u="none" cap="none" strike="noStrike">
              <a:solidFill>
                <a:schemeClr val="dk1"/>
              </a:solidFill>
              <a:latin typeface="Calibri"/>
              <a:ea typeface="Calibri"/>
              <a:cs typeface="Calibri"/>
              <a:sym typeface="Calibri"/>
            </a:endParaRPr>
          </a:p>
        </p:txBody>
      </p:sp>
      <p:sp>
        <p:nvSpPr>
          <p:cNvPr id="943" name="Google Shape;943;p43"/>
          <p:cNvSpPr/>
          <p:nvPr/>
        </p:nvSpPr>
        <p:spPr>
          <a:xfrm>
            <a:off x="6233008" y="4782312"/>
            <a:ext cx="402336" cy="402336"/>
          </a:xfrm>
          <a:prstGeom prst="ellipse">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43"/>
          <p:cNvSpPr txBox="1"/>
          <p:nvPr/>
        </p:nvSpPr>
        <p:spPr>
          <a:xfrm>
            <a:off x="6233008" y="478231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6</a:t>
            </a:r>
            <a:endParaRPr b="0" i="0" sz="1500" u="none" cap="none" strike="noStrike">
              <a:solidFill>
                <a:schemeClr val="dk1"/>
              </a:solidFill>
              <a:latin typeface="Calibri"/>
              <a:ea typeface="Calibri"/>
              <a:cs typeface="Calibri"/>
              <a:sym typeface="Calibri"/>
            </a:endParaRPr>
          </a:p>
        </p:txBody>
      </p:sp>
      <p:sp>
        <p:nvSpPr>
          <p:cNvPr id="945" name="Google Shape;945;p43"/>
          <p:cNvSpPr txBox="1"/>
          <p:nvPr/>
        </p:nvSpPr>
        <p:spPr>
          <a:xfrm>
            <a:off x="6799936" y="4736592"/>
            <a:ext cx="454136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600"/>
              <a:buFont typeface="Cambria"/>
              <a:buNone/>
            </a:pPr>
            <a:r>
              <a:rPr b="1" i="0" lang="en-US" sz="1600" u="none" cap="none" strike="noStrike">
                <a:solidFill>
                  <a:srgbClr val="0F1C2E"/>
                </a:solidFill>
                <a:latin typeface="Cambria"/>
                <a:ea typeface="Cambria"/>
                <a:cs typeface="Cambria"/>
                <a:sym typeface="Cambria"/>
              </a:rPr>
              <a:t>A régua decide</a:t>
            </a:r>
            <a:endParaRPr b="0" i="0" sz="1600" u="none" cap="none" strike="noStrike">
              <a:solidFill>
                <a:schemeClr val="dk1"/>
              </a:solidFill>
              <a:latin typeface="Calibri"/>
              <a:ea typeface="Calibri"/>
              <a:cs typeface="Calibri"/>
              <a:sym typeface="Calibri"/>
            </a:endParaRPr>
          </a:p>
        </p:txBody>
      </p:sp>
      <p:sp>
        <p:nvSpPr>
          <p:cNvPr id="946" name="Google Shape;946;p43"/>
          <p:cNvSpPr txBox="1"/>
          <p:nvPr/>
        </p:nvSpPr>
        <p:spPr>
          <a:xfrm>
            <a:off x="6799936" y="5102352"/>
            <a:ext cx="4541368" cy="73152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4B5D73"/>
              </a:buClr>
              <a:buSzPts val="1350"/>
              <a:buFont typeface="Calibri"/>
              <a:buNone/>
            </a:pPr>
            <a:r>
              <a:rPr b="0" i="0" lang="en-US" sz="1350" u="none" cap="none" strike="noStrike">
                <a:solidFill>
                  <a:srgbClr val="4B5D73"/>
                </a:solidFill>
                <a:latin typeface="Calibri"/>
                <a:ea typeface="Calibri"/>
                <a:cs typeface="Calibri"/>
                <a:sym typeface="Calibri"/>
              </a:rPr>
              <a:t>Busca de taxa por método, o 'antes' certo e sementes. Senão, a conclusão é da escolha.</a:t>
            </a:r>
            <a:endParaRPr b="0" i="0" sz="1350" u="none" cap="none" strike="noStrike">
              <a:solidFill>
                <a:schemeClr val="dk1"/>
              </a:solidFill>
              <a:latin typeface="Calibri"/>
              <a:ea typeface="Calibri"/>
              <a:cs typeface="Calibri"/>
              <a:sym typeface="Calibri"/>
            </a:endParaRPr>
          </a:p>
        </p:txBody>
      </p:sp>
      <p:sp>
        <p:nvSpPr>
          <p:cNvPr id="947" name="Google Shape;947;p43"/>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44"/>
          <p:cNvSpPr txBox="1"/>
          <p:nvPr>
            <p:ph type="title"/>
          </p:nvPr>
        </p:nvSpPr>
        <p:spPr>
          <a:xfrm>
            <a:off x="777240" y="676656"/>
            <a:ext cx="10637215" cy="56692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1C2E"/>
              </a:buClr>
              <a:buSzPts val="3100"/>
              <a:buFont typeface="Cambria"/>
              <a:buNone/>
            </a:pPr>
            <a:r>
              <a:rPr b="1" lang="en-US" sz="3100">
                <a:solidFill>
                  <a:srgbClr val="0F1C2E"/>
                </a:solidFill>
                <a:latin typeface="Cambria"/>
                <a:ea typeface="Cambria"/>
                <a:cs typeface="Cambria"/>
                <a:sym typeface="Cambria"/>
              </a:rPr>
              <a:t>Limites</a:t>
            </a:r>
            <a:endParaRPr sz="3100"/>
          </a:p>
        </p:txBody>
      </p:sp>
      <p:sp>
        <p:nvSpPr>
          <p:cNvPr id="954" name="Google Shape;954;p44"/>
          <p:cNvSpPr/>
          <p:nvPr/>
        </p:nvSpPr>
        <p:spPr>
          <a:xfrm>
            <a:off x="777240" y="1463040"/>
            <a:ext cx="5135728" cy="4343400"/>
          </a:xfrm>
          <a:prstGeom prst="roundRect">
            <a:avLst>
              <a:gd fmla="val 1684" name="adj"/>
            </a:avLst>
          </a:prstGeom>
          <a:solidFill>
            <a:srgbClr val="EFF3F7"/>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44"/>
          <p:cNvSpPr txBox="1"/>
          <p:nvPr/>
        </p:nvSpPr>
        <p:spPr>
          <a:xfrm>
            <a:off x="1051560" y="1600200"/>
            <a:ext cx="458708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C2E"/>
              </a:buClr>
              <a:buSzPts val="1800"/>
              <a:buFont typeface="Cambria"/>
              <a:buNone/>
            </a:pPr>
            <a:r>
              <a:rPr b="1" i="0" lang="en-US" sz="1800" u="none" cap="none" strike="noStrike">
                <a:solidFill>
                  <a:srgbClr val="0F1C2E"/>
                </a:solidFill>
                <a:latin typeface="Cambria"/>
                <a:ea typeface="Cambria"/>
                <a:cs typeface="Cambria"/>
                <a:sym typeface="Cambria"/>
              </a:rPr>
              <a:t>Do PEFT</a:t>
            </a:r>
            <a:endParaRPr b="0" i="0" sz="1800" u="none" cap="none" strike="noStrike">
              <a:solidFill>
                <a:schemeClr val="dk1"/>
              </a:solidFill>
              <a:latin typeface="Calibri"/>
              <a:ea typeface="Calibri"/>
              <a:cs typeface="Calibri"/>
              <a:sym typeface="Calibri"/>
            </a:endParaRPr>
          </a:p>
        </p:txBody>
      </p:sp>
      <p:sp>
        <p:nvSpPr>
          <p:cNvPr id="956" name="Google Shape;956;p44"/>
          <p:cNvSpPr txBox="1"/>
          <p:nvPr/>
        </p:nvSpPr>
        <p:spPr>
          <a:xfrm>
            <a:off x="1051560" y="2057400"/>
            <a:ext cx="4587088" cy="3657600"/>
          </a:xfrm>
          <a:prstGeom prst="rect">
            <a:avLst/>
          </a:prstGeom>
          <a:noFill/>
          <a:ln>
            <a:noFill/>
          </a:ln>
        </p:spPr>
        <p:txBody>
          <a:bodyPr anchorCtr="0" anchor="t" bIns="0" lIns="0" spcFirstLastPara="1" rIns="0" wrap="square" tIns="0">
            <a:noAutofit/>
          </a:bodyPr>
          <a:lstStyle/>
          <a:p>
            <a:pPr indent="-342900" lvl="0" marL="342900" marR="0" rtl="0" algn="l">
              <a:lnSpc>
                <a:spcPct val="138461"/>
              </a:lnSpc>
              <a:spcBef>
                <a:spcPts val="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Capacidade limitada: quando a tarefa exige aprender muito, a LoRA fica atrás do ajuste completo.</a:t>
            </a:r>
            <a:endParaRPr b="0" i="0" sz="1300" u="none" cap="none" strike="noStrike">
              <a:solidFill>
                <a:schemeClr val="dk1"/>
              </a:solidFill>
              <a:latin typeface="Calibri"/>
              <a:ea typeface="Calibri"/>
              <a:cs typeface="Calibri"/>
              <a:sym typeface="Calibri"/>
            </a:endParaRPr>
          </a:p>
          <a:p>
            <a:pPr indent="-342900" lvl="0" marL="342900" marR="0" rtl="0" algn="l">
              <a:lnSpc>
                <a:spcPct val="138461"/>
              </a:lnSpc>
              <a:spcBef>
                <a:spcPts val="60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Mais hiperparâmetros: rank, alpha e módulos interagem com a taxa.</a:t>
            </a:r>
            <a:endParaRPr b="0" i="0" sz="1300" u="none" cap="none" strike="noStrike">
              <a:solidFill>
                <a:schemeClr val="dk1"/>
              </a:solidFill>
              <a:latin typeface="Calibri"/>
              <a:ea typeface="Calibri"/>
              <a:cs typeface="Calibri"/>
              <a:sym typeface="Calibri"/>
            </a:endParaRPr>
          </a:p>
          <a:p>
            <a:pPr indent="-342900" lvl="0" marL="342900" marR="0" rtl="0" algn="l">
              <a:lnSpc>
                <a:spcPct val="138461"/>
              </a:lnSpc>
              <a:spcBef>
                <a:spcPts val="60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A memória das ativações continua; o PEFT corta pesos treináveis e otimizador.</a:t>
            </a:r>
            <a:endParaRPr b="0" i="0" sz="1300" u="none" cap="none" strike="noStrike">
              <a:solidFill>
                <a:schemeClr val="dk1"/>
              </a:solidFill>
              <a:latin typeface="Calibri"/>
              <a:ea typeface="Calibri"/>
              <a:cs typeface="Calibri"/>
              <a:sym typeface="Calibri"/>
            </a:endParaRPr>
          </a:p>
          <a:p>
            <a:pPr indent="-342900" lvl="0" marL="342900" marR="0" rtl="0" algn="l">
              <a:lnSpc>
                <a:spcPct val="138461"/>
              </a:lnSpc>
              <a:spcBef>
                <a:spcPts val="60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Quantizar muda a base: a QLoRA compara contra outro modelo.</a:t>
            </a:r>
            <a:endParaRPr b="0" i="0" sz="1300" u="none" cap="none" strike="noStrike">
              <a:solidFill>
                <a:schemeClr val="dk1"/>
              </a:solidFill>
              <a:latin typeface="Calibri"/>
              <a:ea typeface="Calibri"/>
              <a:cs typeface="Calibri"/>
              <a:sym typeface="Calibri"/>
            </a:endParaRPr>
          </a:p>
          <a:p>
            <a:pPr indent="-342900" lvl="0" marL="342900" marR="0" rtl="0" algn="l">
              <a:lnSpc>
                <a:spcPct val="138461"/>
              </a:lnSpc>
              <a:spcBef>
                <a:spcPts val="60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Merge sobre base quantizada não é exato: re-quantizar arredonda o desvio.</a:t>
            </a:r>
            <a:endParaRPr b="0" i="0" sz="1300" u="none" cap="none" strike="noStrike">
              <a:solidFill>
                <a:schemeClr val="dk1"/>
              </a:solidFill>
              <a:latin typeface="Calibri"/>
              <a:ea typeface="Calibri"/>
              <a:cs typeface="Calibri"/>
              <a:sym typeface="Calibri"/>
            </a:endParaRPr>
          </a:p>
        </p:txBody>
      </p:sp>
      <p:sp>
        <p:nvSpPr>
          <p:cNvPr id="957" name="Google Shape;957;p44"/>
          <p:cNvSpPr/>
          <p:nvPr/>
        </p:nvSpPr>
        <p:spPr>
          <a:xfrm>
            <a:off x="6278728" y="1463040"/>
            <a:ext cx="5135728" cy="4343400"/>
          </a:xfrm>
          <a:prstGeom prst="roundRect">
            <a:avLst>
              <a:gd fmla="val 1684" name="adj"/>
            </a:avLst>
          </a:prstGeom>
          <a:solidFill>
            <a:srgbClr val="FBEFE1"/>
          </a:solidFill>
          <a:ln cap="flat" cmpd="sng" w="9525">
            <a:solidFill>
              <a:srgbClr val="D8E0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44"/>
          <p:cNvSpPr txBox="1"/>
          <p:nvPr/>
        </p:nvSpPr>
        <p:spPr>
          <a:xfrm>
            <a:off x="6553048" y="1600200"/>
            <a:ext cx="458708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55A18"/>
              </a:buClr>
              <a:buSzPts val="1800"/>
              <a:buFont typeface="Cambria"/>
              <a:buNone/>
            </a:pPr>
            <a:r>
              <a:rPr b="1" i="0" lang="en-US" sz="1800" u="none" cap="none" strike="noStrike">
                <a:solidFill>
                  <a:srgbClr val="A55A18"/>
                </a:solidFill>
                <a:latin typeface="Cambria"/>
                <a:ea typeface="Cambria"/>
                <a:cs typeface="Cambria"/>
                <a:sym typeface="Cambria"/>
              </a:rPr>
              <a:t>Do nosso laboratório</a:t>
            </a:r>
            <a:endParaRPr b="0" i="0" sz="1800" u="none" cap="none" strike="noStrike">
              <a:solidFill>
                <a:schemeClr val="dk1"/>
              </a:solidFill>
              <a:latin typeface="Calibri"/>
              <a:ea typeface="Calibri"/>
              <a:cs typeface="Calibri"/>
              <a:sym typeface="Calibri"/>
            </a:endParaRPr>
          </a:p>
        </p:txBody>
      </p:sp>
      <p:sp>
        <p:nvSpPr>
          <p:cNvPr id="959" name="Google Shape;959;p44"/>
          <p:cNvSpPr txBox="1"/>
          <p:nvPr/>
        </p:nvSpPr>
        <p:spPr>
          <a:xfrm>
            <a:off x="6553048" y="2057400"/>
            <a:ext cx="4587088" cy="3657600"/>
          </a:xfrm>
          <a:prstGeom prst="rect">
            <a:avLst/>
          </a:prstGeom>
          <a:noFill/>
          <a:ln>
            <a:noFill/>
          </a:ln>
        </p:spPr>
        <p:txBody>
          <a:bodyPr anchorCtr="0" anchor="t" bIns="0" lIns="0" spcFirstLastPara="1" rIns="0" wrap="square" tIns="0">
            <a:noAutofit/>
          </a:bodyPr>
          <a:lstStyle/>
          <a:p>
            <a:pPr indent="-342900" lvl="0" marL="342900" marR="0" rtl="0" algn="l">
              <a:lnSpc>
                <a:spcPct val="138461"/>
              </a:lnSpc>
              <a:spcBef>
                <a:spcPts val="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Modelo de 132.352 parâmetros e d = 64: a LoRA treina 12,4%, muito mais que em LLMs.</a:t>
            </a:r>
            <a:endParaRPr b="0" i="0" sz="1300" u="none" cap="none" strike="noStrike">
              <a:solidFill>
                <a:schemeClr val="dk1"/>
              </a:solidFill>
              <a:latin typeface="Calibri"/>
              <a:ea typeface="Calibri"/>
              <a:cs typeface="Calibri"/>
              <a:sym typeface="Calibri"/>
            </a:endParaRPr>
          </a:p>
          <a:p>
            <a:pPr indent="-342900" lvl="0" marL="342900" marR="0" rtl="0" algn="l">
              <a:lnSpc>
                <a:spcPct val="138461"/>
              </a:lnSpc>
              <a:spcBef>
                <a:spcPts val="60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Validação pequena (6 países): ela nem sempre escolheu a melhor taxa do teste.</a:t>
            </a:r>
            <a:endParaRPr b="0" i="0" sz="1300" u="none" cap="none" strike="noStrike">
              <a:solidFill>
                <a:schemeClr val="dk1"/>
              </a:solidFill>
              <a:latin typeface="Calibri"/>
              <a:ea typeface="Calibri"/>
              <a:cs typeface="Calibri"/>
              <a:sym typeface="Calibri"/>
            </a:endParaRPr>
          </a:p>
          <a:p>
            <a:pPr indent="-342900" lvl="0" marL="342900" marR="0" rtl="0" algn="l">
              <a:lnSpc>
                <a:spcPct val="138461"/>
              </a:lnSpc>
              <a:spcBef>
                <a:spcPts val="60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Memória contada em float32, não medida numa GPU; sem ativações.</a:t>
            </a:r>
            <a:endParaRPr b="0" i="0" sz="1300" u="none" cap="none" strike="noStrike">
              <a:solidFill>
                <a:schemeClr val="dk1"/>
              </a:solidFill>
              <a:latin typeface="Calibri"/>
              <a:ea typeface="Calibri"/>
              <a:cs typeface="Calibri"/>
              <a:sym typeface="Calibri"/>
            </a:endParaRPr>
          </a:p>
          <a:p>
            <a:pPr indent="-342900" lvl="0" marL="342900" marR="0" rtl="0" algn="l">
              <a:lnSpc>
                <a:spcPct val="138461"/>
              </a:lnSpc>
              <a:spcBef>
                <a:spcPts val="60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Dupla quantização com inteiros de 8 bits, não o float de 8 bits do artigo.</a:t>
            </a:r>
            <a:endParaRPr b="0" i="0" sz="1300" u="none" cap="none" strike="noStrike">
              <a:solidFill>
                <a:schemeClr val="dk1"/>
              </a:solidFill>
              <a:latin typeface="Calibri"/>
              <a:ea typeface="Calibri"/>
              <a:cs typeface="Calibri"/>
              <a:sym typeface="Calibri"/>
            </a:endParaRPr>
          </a:p>
          <a:p>
            <a:pPr indent="-342900" lvl="0" marL="342900" marR="0" rtl="0" algn="l">
              <a:lnSpc>
                <a:spcPct val="138461"/>
              </a:lnSpc>
              <a:spcBef>
                <a:spcPts val="60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3 sementes na comparação principal; uma nas ablações.</a:t>
            </a:r>
            <a:endParaRPr b="0" i="0" sz="1300" u="none" cap="none" strike="noStrike">
              <a:solidFill>
                <a:schemeClr val="dk1"/>
              </a:solidFill>
              <a:latin typeface="Calibri"/>
              <a:ea typeface="Calibri"/>
              <a:cs typeface="Calibri"/>
              <a:sym typeface="Calibri"/>
            </a:endParaRPr>
          </a:p>
          <a:p>
            <a:pPr indent="-342900" lvl="0" marL="342900" marR="0" rtl="0" algn="l">
              <a:lnSpc>
                <a:spcPct val="138461"/>
              </a:lnSpc>
              <a:spcBef>
                <a:spcPts val="600"/>
              </a:spcBef>
              <a:spcAft>
                <a:spcPts val="0"/>
              </a:spcAft>
              <a:buClr>
                <a:srgbClr val="4B5D73"/>
              </a:buClr>
              <a:buSzPts val="1300"/>
              <a:buFont typeface="Calibri"/>
              <a:buChar char="•"/>
            </a:pPr>
            <a:r>
              <a:rPr b="0" i="0" lang="en-US" sz="1300" u="none" cap="none" strike="noStrike">
                <a:solidFill>
                  <a:srgbClr val="4B5D73"/>
                </a:solidFill>
                <a:latin typeface="Calibri"/>
                <a:ea typeface="Calibri"/>
                <a:cs typeface="Calibri"/>
                <a:sym typeface="Calibri"/>
              </a:rPr>
              <a:t>Aqui a LoRA esqueceu mais que o ajuste completo, ao contrário de Biderman et al.</a:t>
            </a:r>
            <a:endParaRPr b="0" i="0" sz="1300" u="none" cap="none" strike="noStrike">
              <a:solidFill>
                <a:schemeClr val="dk1"/>
              </a:solidFill>
              <a:latin typeface="Calibri"/>
              <a:ea typeface="Calibri"/>
              <a:cs typeface="Calibri"/>
              <a:sym typeface="Calibri"/>
            </a:endParaRPr>
          </a:p>
        </p:txBody>
      </p:sp>
      <p:sp>
        <p:nvSpPr>
          <p:cNvPr id="960" name="Google Shape;960;p44"/>
          <p:cNvSpPr txBox="1"/>
          <p:nvPr>
            <p:ph idx="4294967295" type="sldNum"/>
          </p:nvPr>
        </p:nvSpPr>
        <p:spPr>
          <a:xfrm>
            <a:off x="10500055" y="6327648"/>
            <a:ext cx="914400" cy="237744"/>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50" u="none" cap="none" strike="noStrike">
                <a:solidFill>
                  <a:srgbClr val="8494A6"/>
                </a:solidFill>
                <a:latin typeface="Calibri"/>
                <a:ea typeface="Calibri"/>
                <a:cs typeface="Calibri"/>
                <a:sym typeface="Calibri"/>
              </a:rPr>
              <a:t>‹#›</a:t>
            </a:fld>
            <a:endParaRPr b="0" i="0" sz="950" u="none" cap="none" strike="noStrike">
              <a:solidFill>
                <a:srgbClr val="8494A6"/>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45"/>
          <p:cNvSpPr txBox="1"/>
          <p:nvPr>
            <p:ph type="title"/>
          </p:nvPr>
        </p:nvSpPr>
        <p:spPr>
          <a:xfrm>
            <a:off x="777240" y="1005840"/>
            <a:ext cx="7315200" cy="100584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FFFFFF"/>
              </a:buClr>
              <a:buSzPts val="5400"/>
              <a:buFont typeface="Cambria"/>
              <a:buNone/>
            </a:pPr>
            <a:r>
              <a:rPr b="1" lang="en-US" sz="5400">
                <a:solidFill>
                  <a:srgbClr val="FFFFFF"/>
                </a:solidFill>
                <a:latin typeface="Cambria"/>
                <a:ea typeface="Cambria"/>
                <a:cs typeface="Cambria"/>
                <a:sym typeface="Cambria"/>
              </a:rPr>
              <a:t>Obrigado</a:t>
            </a:r>
            <a:endParaRPr sz="5400"/>
          </a:p>
        </p:txBody>
      </p:sp>
      <p:sp>
        <p:nvSpPr>
          <p:cNvPr id="967" name="Google Shape;967;p45"/>
          <p:cNvSpPr txBox="1"/>
          <p:nvPr/>
        </p:nvSpPr>
        <p:spPr>
          <a:xfrm>
            <a:off x="777240" y="2011680"/>
            <a:ext cx="5486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0D1"/>
              </a:buClr>
              <a:buSzPts val="2400"/>
              <a:buFont typeface="Calibri"/>
              <a:buNone/>
            </a:pPr>
            <a:r>
              <a:rPr b="0" i="0" lang="en-US" sz="2400" u="none" cap="none" strike="noStrike">
                <a:solidFill>
                  <a:srgbClr val="AFC0D1"/>
                </a:solidFill>
                <a:latin typeface="Calibri"/>
                <a:ea typeface="Calibri"/>
                <a:cs typeface="Calibri"/>
                <a:sym typeface="Calibri"/>
              </a:rPr>
              <a:t>Perguntas?</a:t>
            </a:r>
            <a:endParaRPr b="0" i="0" sz="2400" u="none" cap="none" strike="noStrike">
              <a:solidFill>
                <a:schemeClr val="dk1"/>
              </a:solidFill>
              <a:latin typeface="Calibri"/>
              <a:ea typeface="Calibri"/>
              <a:cs typeface="Calibri"/>
              <a:sym typeface="Calibri"/>
            </a:endParaRPr>
          </a:p>
        </p:txBody>
      </p:sp>
      <p:sp>
        <p:nvSpPr>
          <p:cNvPr id="968" name="Google Shape;968;p45"/>
          <p:cNvSpPr txBox="1"/>
          <p:nvPr/>
        </p:nvSpPr>
        <p:spPr>
          <a:xfrm>
            <a:off x="777240" y="2971800"/>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94A9"/>
              </a:buClr>
              <a:buSzPts val="1100"/>
              <a:buFont typeface="Calibri"/>
              <a:buNone/>
            </a:pPr>
            <a:r>
              <a:rPr b="0" i="0" lang="en-US" sz="1100" u="none" cap="none" strike="noStrike">
                <a:solidFill>
                  <a:srgbClr val="7F94A9"/>
                </a:solidFill>
                <a:latin typeface="Calibri"/>
                <a:ea typeface="Calibri"/>
                <a:cs typeface="Calibri"/>
                <a:sym typeface="Calibri"/>
              </a:rPr>
              <a:t>a mesma comparação, três réguas</a:t>
            </a:r>
            <a:endParaRPr b="0" i="0" sz="1100" u="none" cap="none" strike="noStrike">
              <a:solidFill>
                <a:schemeClr val="dk1"/>
              </a:solidFill>
              <a:latin typeface="Calibri"/>
              <a:ea typeface="Calibri"/>
              <a:cs typeface="Calibri"/>
              <a:sym typeface="Calibri"/>
            </a:endParaRPr>
          </a:p>
        </p:txBody>
      </p:sp>
      <p:sp>
        <p:nvSpPr>
          <p:cNvPr id="969" name="Google Shape;969;p45"/>
          <p:cNvSpPr/>
          <p:nvPr/>
        </p:nvSpPr>
        <p:spPr>
          <a:xfrm>
            <a:off x="777240" y="3310128"/>
            <a:ext cx="5852160" cy="475488"/>
          </a:xfrm>
          <a:prstGeom prst="roundRect">
            <a:avLst>
              <a:gd fmla="val 15385" name="adj"/>
            </a:avLst>
          </a:prstGeom>
          <a:solidFill>
            <a:srgbClr val="1B3149"/>
          </a:solidFill>
          <a:ln cap="flat" cmpd="sng" w="15225">
            <a:solidFill>
              <a:srgbClr val="3550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5"/>
          <p:cNvSpPr txBox="1"/>
          <p:nvPr/>
        </p:nvSpPr>
        <p:spPr>
          <a:xfrm>
            <a:off x="1005840" y="3310128"/>
            <a:ext cx="2377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D2DF"/>
              </a:buClr>
              <a:buSzPts val="1300"/>
              <a:buFont typeface="Calibri"/>
              <a:buNone/>
            </a:pPr>
            <a:r>
              <a:rPr b="0" i="0" lang="en-US" sz="1300" u="none" cap="none" strike="noStrike">
                <a:solidFill>
                  <a:srgbClr val="C3D2DF"/>
                </a:solidFill>
                <a:latin typeface="Calibri"/>
                <a:ea typeface="Calibri"/>
                <a:cs typeface="Calibri"/>
                <a:sym typeface="Calibri"/>
              </a:rPr>
              <a:t>mesma taxa 3e-4</a:t>
            </a:r>
            <a:endParaRPr b="0" i="0" sz="1300" u="none" cap="none" strike="noStrike">
              <a:solidFill>
                <a:schemeClr val="dk1"/>
              </a:solidFill>
              <a:latin typeface="Calibri"/>
              <a:ea typeface="Calibri"/>
              <a:cs typeface="Calibri"/>
              <a:sym typeface="Calibri"/>
            </a:endParaRPr>
          </a:p>
        </p:txBody>
      </p:sp>
      <p:sp>
        <p:nvSpPr>
          <p:cNvPr id="971" name="Google Shape;971;p45"/>
          <p:cNvSpPr txBox="1"/>
          <p:nvPr/>
        </p:nvSpPr>
        <p:spPr>
          <a:xfrm>
            <a:off x="3429000" y="3310128"/>
            <a:ext cx="30175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F3F8"/>
              </a:buClr>
              <a:buSzPts val="1300"/>
              <a:buFont typeface="Consolas"/>
              <a:buNone/>
            </a:pPr>
            <a:r>
              <a:rPr b="0" i="0" lang="en-US" sz="1300" u="none" cap="none" strike="noStrike">
                <a:solidFill>
                  <a:srgbClr val="EEF3F8"/>
                </a:solidFill>
                <a:latin typeface="Consolas"/>
                <a:ea typeface="Consolas"/>
                <a:cs typeface="Consolas"/>
                <a:sym typeface="Consolas"/>
              </a:rPr>
              <a:t>completo 87%   ·   LoRA 34%</a:t>
            </a:r>
            <a:endParaRPr b="0" i="0" sz="1300" u="none" cap="none" strike="noStrike">
              <a:solidFill>
                <a:schemeClr val="dk1"/>
              </a:solidFill>
              <a:latin typeface="Calibri"/>
              <a:ea typeface="Calibri"/>
              <a:cs typeface="Calibri"/>
              <a:sym typeface="Calibri"/>
            </a:endParaRPr>
          </a:p>
        </p:txBody>
      </p:sp>
      <p:sp>
        <p:nvSpPr>
          <p:cNvPr id="972" name="Google Shape;972;p45"/>
          <p:cNvSpPr/>
          <p:nvPr/>
        </p:nvSpPr>
        <p:spPr>
          <a:xfrm>
            <a:off x="777240" y="3877056"/>
            <a:ext cx="5852160" cy="475488"/>
          </a:xfrm>
          <a:prstGeom prst="roundRect">
            <a:avLst>
              <a:gd fmla="val 15385" name="adj"/>
            </a:avLst>
          </a:prstGeom>
          <a:solidFill>
            <a:srgbClr val="1B3149"/>
          </a:solidFill>
          <a:ln cap="flat" cmpd="sng" w="15225">
            <a:solidFill>
              <a:srgbClr val="3550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45"/>
          <p:cNvSpPr txBox="1"/>
          <p:nvPr/>
        </p:nvSpPr>
        <p:spPr>
          <a:xfrm>
            <a:off x="1005840" y="3877056"/>
            <a:ext cx="2377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D2DF"/>
              </a:buClr>
              <a:buSzPts val="1300"/>
              <a:buFont typeface="Calibri"/>
              <a:buNone/>
            </a:pPr>
            <a:r>
              <a:rPr b="0" i="0" lang="en-US" sz="1300" u="none" cap="none" strike="noStrike">
                <a:solidFill>
                  <a:srgbClr val="C3D2DF"/>
                </a:solidFill>
                <a:latin typeface="Calibri"/>
                <a:ea typeface="Calibri"/>
                <a:cs typeface="Calibri"/>
                <a:sym typeface="Calibri"/>
              </a:rPr>
              <a:t>mesma taxa 2e-3</a:t>
            </a:r>
            <a:endParaRPr b="0" i="0" sz="1300" u="none" cap="none" strike="noStrike">
              <a:solidFill>
                <a:schemeClr val="dk1"/>
              </a:solidFill>
              <a:latin typeface="Calibri"/>
              <a:ea typeface="Calibri"/>
              <a:cs typeface="Calibri"/>
              <a:sym typeface="Calibri"/>
            </a:endParaRPr>
          </a:p>
        </p:txBody>
      </p:sp>
      <p:sp>
        <p:nvSpPr>
          <p:cNvPr id="974" name="Google Shape;974;p45"/>
          <p:cNvSpPr txBox="1"/>
          <p:nvPr/>
        </p:nvSpPr>
        <p:spPr>
          <a:xfrm>
            <a:off x="3429000" y="3877056"/>
            <a:ext cx="30175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EF3F8"/>
              </a:buClr>
              <a:buSzPts val="1300"/>
              <a:buFont typeface="Consolas"/>
              <a:buNone/>
            </a:pPr>
            <a:r>
              <a:rPr b="0" i="0" lang="en-US" sz="1300" u="none" cap="none" strike="noStrike">
                <a:solidFill>
                  <a:srgbClr val="EEF3F8"/>
                </a:solidFill>
                <a:latin typeface="Consolas"/>
                <a:ea typeface="Consolas"/>
                <a:cs typeface="Consolas"/>
                <a:sym typeface="Consolas"/>
              </a:rPr>
              <a:t>completo 13%   ·   LoRA 96%</a:t>
            </a:r>
            <a:endParaRPr b="0" i="0" sz="1300" u="none" cap="none" strike="noStrike">
              <a:solidFill>
                <a:schemeClr val="dk1"/>
              </a:solidFill>
              <a:latin typeface="Calibri"/>
              <a:ea typeface="Calibri"/>
              <a:cs typeface="Calibri"/>
              <a:sym typeface="Calibri"/>
            </a:endParaRPr>
          </a:p>
        </p:txBody>
      </p:sp>
      <p:sp>
        <p:nvSpPr>
          <p:cNvPr id="975" name="Google Shape;975;p45"/>
          <p:cNvSpPr/>
          <p:nvPr/>
        </p:nvSpPr>
        <p:spPr>
          <a:xfrm>
            <a:off x="777240" y="4443984"/>
            <a:ext cx="5852160" cy="475488"/>
          </a:xfrm>
          <a:prstGeom prst="roundRect">
            <a:avLst>
              <a:gd fmla="val 15385" name="adj"/>
            </a:avLst>
          </a:prstGeom>
          <a:solidFill>
            <a:srgbClr val="1B3149"/>
          </a:solidFill>
          <a:ln cap="flat" cmpd="sng" w="15225">
            <a:solidFill>
              <a:srgbClr val="3550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45"/>
          <p:cNvSpPr txBox="1"/>
          <p:nvPr/>
        </p:nvSpPr>
        <p:spPr>
          <a:xfrm>
            <a:off x="1005840" y="4443984"/>
            <a:ext cx="23774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3D2DF"/>
              </a:buClr>
              <a:buSzPts val="1300"/>
              <a:buFont typeface="Calibri"/>
              <a:buNone/>
            </a:pPr>
            <a:r>
              <a:rPr b="0" i="0" lang="en-US" sz="1300" u="none" cap="none" strike="noStrike">
                <a:solidFill>
                  <a:srgbClr val="C3D2DF"/>
                </a:solidFill>
                <a:latin typeface="Calibri"/>
                <a:ea typeface="Calibri"/>
                <a:cs typeface="Calibri"/>
                <a:sym typeface="Calibri"/>
              </a:rPr>
              <a:t>cada um com a sua</a:t>
            </a:r>
            <a:endParaRPr b="0" i="0" sz="1300" u="none" cap="none" strike="noStrike">
              <a:solidFill>
                <a:schemeClr val="dk1"/>
              </a:solidFill>
              <a:latin typeface="Calibri"/>
              <a:ea typeface="Calibri"/>
              <a:cs typeface="Calibri"/>
              <a:sym typeface="Calibri"/>
            </a:endParaRPr>
          </a:p>
        </p:txBody>
      </p:sp>
      <p:sp>
        <p:nvSpPr>
          <p:cNvPr id="977" name="Google Shape;977;p45"/>
          <p:cNvSpPr txBox="1"/>
          <p:nvPr/>
        </p:nvSpPr>
        <p:spPr>
          <a:xfrm>
            <a:off x="3429000" y="4443984"/>
            <a:ext cx="30175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300"/>
              <a:buFont typeface="Consolas"/>
              <a:buNone/>
            </a:pPr>
            <a:r>
              <a:rPr b="0" i="0" lang="en-US" sz="1300" u="none" cap="none" strike="noStrike">
                <a:solidFill>
                  <a:srgbClr val="E08A3C"/>
                </a:solidFill>
                <a:latin typeface="Consolas"/>
                <a:ea typeface="Consolas"/>
                <a:cs typeface="Consolas"/>
                <a:sym typeface="Consolas"/>
              </a:rPr>
              <a:t>completo 84%   ·   LoRA 87%</a:t>
            </a:r>
            <a:endParaRPr b="0" i="0" sz="1300" u="none" cap="none" strike="noStrike">
              <a:solidFill>
                <a:schemeClr val="dk1"/>
              </a:solidFill>
              <a:latin typeface="Calibri"/>
              <a:ea typeface="Calibri"/>
              <a:cs typeface="Calibri"/>
              <a:sym typeface="Calibri"/>
            </a:endParaRPr>
          </a:p>
        </p:txBody>
      </p:sp>
      <p:sp>
        <p:nvSpPr>
          <p:cNvPr id="978" name="Google Shape;978;p45"/>
          <p:cNvSpPr txBox="1"/>
          <p:nvPr/>
        </p:nvSpPr>
        <p:spPr>
          <a:xfrm>
            <a:off x="7863840" y="3310128"/>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8A3C"/>
              </a:buClr>
              <a:buSzPts val="1200"/>
              <a:buFont typeface="Calibri"/>
              <a:buNone/>
            </a:pPr>
            <a:r>
              <a:rPr b="1" i="0" lang="en-US" sz="1200" u="none" cap="none" strike="noStrike">
                <a:solidFill>
                  <a:srgbClr val="E08A3C"/>
                </a:solidFill>
                <a:latin typeface="Calibri"/>
                <a:ea typeface="Calibri"/>
                <a:cs typeface="Calibri"/>
                <a:sym typeface="Calibri"/>
              </a:rPr>
              <a:t>Equipe  ·  Treinamento e fine-tuning</a:t>
            </a:r>
            <a:endParaRPr b="0" i="0" sz="1200" u="none" cap="none" strike="noStrike">
              <a:solidFill>
                <a:schemeClr val="dk1"/>
              </a:solidFill>
              <a:latin typeface="Calibri"/>
              <a:ea typeface="Calibri"/>
              <a:cs typeface="Calibri"/>
              <a:sym typeface="Calibri"/>
            </a:endParaRPr>
          </a:p>
        </p:txBody>
      </p:sp>
      <p:sp>
        <p:nvSpPr>
          <p:cNvPr id="979" name="Google Shape;979;p45"/>
          <p:cNvSpPr txBox="1"/>
          <p:nvPr/>
        </p:nvSpPr>
        <p:spPr>
          <a:xfrm>
            <a:off x="7863840" y="3657600"/>
            <a:ext cx="3657600" cy="109728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C3D2DF"/>
              </a:buClr>
              <a:buSzPts val="1350"/>
              <a:buFont typeface="Calibri"/>
              <a:buNone/>
            </a:pPr>
            <a:r>
              <a:rPr b="0" i="0" lang="en-US" sz="1350" u="none" cap="none" strike="noStrike">
                <a:solidFill>
                  <a:srgbClr val="C3D2DF"/>
                </a:solidFill>
                <a:latin typeface="Calibri"/>
                <a:ea typeface="Calibri"/>
                <a:cs typeface="Calibri"/>
                <a:sym typeface="Calibri"/>
              </a:rPr>
              <a:t>Gabriel Palhares</a:t>
            </a:r>
            <a:endParaRPr b="0" i="0" sz="1350" u="none" cap="none" strike="noStrike">
              <a:solidFill>
                <a:schemeClr val="dk1"/>
              </a:solidFill>
              <a:latin typeface="Calibri"/>
              <a:ea typeface="Calibri"/>
              <a:cs typeface="Calibri"/>
              <a:sym typeface="Calibri"/>
            </a:endParaRPr>
          </a:p>
          <a:p>
            <a:pPr indent="0" lvl="0" marL="0" marR="0" rtl="0" algn="l">
              <a:lnSpc>
                <a:spcPct val="155555"/>
              </a:lnSpc>
              <a:spcBef>
                <a:spcPts val="0"/>
              </a:spcBef>
              <a:spcAft>
                <a:spcPts val="0"/>
              </a:spcAft>
              <a:buClr>
                <a:srgbClr val="C3D2DF"/>
              </a:buClr>
              <a:buSzPts val="1350"/>
              <a:buFont typeface="Calibri"/>
              <a:buNone/>
            </a:pPr>
            <a:r>
              <a:rPr b="0" i="0" lang="en-US" sz="1350" u="none" cap="none" strike="noStrike">
                <a:solidFill>
                  <a:srgbClr val="C3D2DF"/>
                </a:solidFill>
                <a:latin typeface="Calibri"/>
                <a:ea typeface="Calibri"/>
                <a:cs typeface="Calibri"/>
                <a:sym typeface="Calibri"/>
              </a:rPr>
              <a:t>Jolie Pavan</a:t>
            </a:r>
            <a:endParaRPr b="0" i="0" sz="1350" u="none" cap="none" strike="noStrike">
              <a:solidFill>
                <a:schemeClr val="dk1"/>
              </a:solidFill>
              <a:latin typeface="Calibri"/>
              <a:ea typeface="Calibri"/>
              <a:cs typeface="Calibri"/>
              <a:sym typeface="Calibri"/>
            </a:endParaRPr>
          </a:p>
          <a:p>
            <a:pPr indent="0" lvl="0" marL="0" marR="0" rtl="0" algn="l">
              <a:lnSpc>
                <a:spcPct val="155555"/>
              </a:lnSpc>
              <a:spcBef>
                <a:spcPts val="0"/>
              </a:spcBef>
              <a:spcAft>
                <a:spcPts val="0"/>
              </a:spcAft>
              <a:buClr>
                <a:srgbClr val="C3D2DF"/>
              </a:buClr>
              <a:buSzPts val="1350"/>
              <a:buFont typeface="Calibri"/>
              <a:buNone/>
            </a:pPr>
            <a:r>
              <a:rPr b="0" i="0" lang="en-US" sz="1350" u="none" cap="none" strike="noStrike">
                <a:solidFill>
                  <a:srgbClr val="C3D2DF"/>
                </a:solidFill>
                <a:latin typeface="Calibri"/>
                <a:ea typeface="Calibri"/>
                <a:cs typeface="Calibri"/>
                <a:sym typeface="Calibri"/>
              </a:rPr>
              <a:t>Mateus Nery</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eminario LLM">
  <a:themeElements>
    <a:clrScheme name="Seminario LLM">
      <a:dk1>
        <a:srgbClr val="0F1C2E"/>
      </a:dk1>
      <a:lt1>
        <a:srgbClr val="FFFFFF"/>
      </a:lt1>
      <a:dk2>
        <a:srgbClr val="4B5D73"/>
      </a:dk2>
      <a:lt2>
        <a:srgbClr val="EFF3F7"/>
      </a:lt2>
      <a:accent1>
        <a:srgbClr val="E08A3C"/>
      </a:accent1>
      <a:accent2>
        <a:srgbClr val="17897B"/>
      </a:accent2>
      <a:accent3>
        <a:srgbClr val="C0392B"/>
      </a:accent3>
      <a:accent4>
        <a:srgbClr val="A55A18"/>
      </a:accent4>
      <a:accent5>
        <a:srgbClr val="0E5F55"/>
      </a:accent5>
      <a:accent6>
        <a:srgbClr val="8494A6"/>
      </a:accent6>
      <a:hlink>
        <a:srgbClr val="17897B"/>
      </a:hlink>
      <a:folHlink>
        <a:srgbClr val="0E5F5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minario LLM">
  <a:themeElements>
    <a:clrScheme name="Seminario LLM">
      <a:dk1>
        <a:srgbClr val="0F1C2E"/>
      </a:dk1>
      <a:lt1>
        <a:srgbClr val="FFFFFF"/>
      </a:lt1>
      <a:dk2>
        <a:srgbClr val="4B5D73"/>
      </a:dk2>
      <a:lt2>
        <a:srgbClr val="EFF3F7"/>
      </a:lt2>
      <a:accent1>
        <a:srgbClr val="E08A3C"/>
      </a:accent1>
      <a:accent2>
        <a:srgbClr val="17897B"/>
      </a:accent2>
      <a:accent3>
        <a:srgbClr val="C0392B"/>
      </a:accent3>
      <a:accent4>
        <a:srgbClr val="A55A18"/>
      </a:accent4>
      <a:accent5>
        <a:srgbClr val="0E5F55"/>
      </a:accent5>
      <a:accent6>
        <a:srgbClr val="8494A6"/>
      </a:accent6>
      <a:hlink>
        <a:srgbClr val="17897B"/>
      </a:hlink>
      <a:folHlink>
        <a:srgbClr val="0E5F5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