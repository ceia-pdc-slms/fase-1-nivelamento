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86c08288064202" /><Relationship Type="http://schemas.openxmlformats.org/officeDocument/2006/relationships/extended-properties" Target="/docProps/app.xml" Id="R2293a376cf9745a0" /><Relationship Type="http://schemas.openxmlformats.org/officeDocument/2006/relationships/officeDocument" Target="/ppt/presentation.xml" Id="Rae909d0293354c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f2539567bc4f74"/>
  </p:sldMasterIdLst>
  <p:notesMasterIdLst>
    <p:notesMasterId xmlns:r="http://schemas.openxmlformats.org/officeDocument/2006/relationships" r:id="R20d5d0b93a34465e"/>
  </p:notesMasterIdLst>
  <p:sldIdLst>
    <p:sldId xmlns:r="http://schemas.openxmlformats.org/officeDocument/2006/relationships" id="256" r:id="R1cdfb6e0a9a5499b"/>
    <p:sldId xmlns:r="http://schemas.openxmlformats.org/officeDocument/2006/relationships" id="257" r:id="R0c29f17383e8446e"/>
    <p:sldId xmlns:r="http://schemas.openxmlformats.org/officeDocument/2006/relationships" id="258" r:id="Rcc0d560e359e45d1"/>
    <p:sldId xmlns:r="http://schemas.openxmlformats.org/officeDocument/2006/relationships" id="259" r:id="Rf7377db6fa854b55"/>
    <p:sldId xmlns:r="http://schemas.openxmlformats.org/officeDocument/2006/relationships" id="260" r:id="R8d2b8b8e2f754a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c67d00defd482c" /><Relationship Type="http://schemas.openxmlformats.org/officeDocument/2006/relationships/slideMaster" Target="/ppt/slideMasters/slideMaster1.xml" Id="R61f2539567bc4f74" /><Relationship Type="http://schemas.openxmlformats.org/officeDocument/2006/relationships/notesMaster" Target="/ppt/notesMasters/notesMaster1.xml" Id="R20d5d0b93a34465e" /><Relationship Type="http://schemas.openxmlformats.org/officeDocument/2006/relationships/presProps" Target="/ppt/presProps.xml" Id="R5543bee274444f7b" /><Relationship Type="http://schemas.openxmlformats.org/officeDocument/2006/relationships/tableStyles" Target="/ppt/tableStyles.xml" Id="R885a0a760f72470c" /><Relationship Type="http://schemas.openxmlformats.org/officeDocument/2006/relationships/slide" Target="/ppt/slides/slide1.xml" Id="R1cdfb6e0a9a5499b" /><Relationship Type="http://schemas.openxmlformats.org/officeDocument/2006/relationships/slide" Target="/ppt/slides/slide2.xml" Id="R0c29f17383e8446e" /><Relationship Type="http://schemas.openxmlformats.org/officeDocument/2006/relationships/slide" Target="/ppt/slides/slide3.xml" Id="Rcc0d560e359e45d1" /><Relationship Type="http://schemas.openxmlformats.org/officeDocument/2006/relationships/slide" Target="/ppt/slides/slide4.xml" Id="Rf7377db6fa854b55" /><Relationship Type="http://schemas.openxmlformats.org/officeDocument/2006/relationships/slide" Target="/ppt/slides/slide5.xml" Id="R8d2b8b8e2f754a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4134e8f23144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9878538e1f4030" /><Relationship Type="http://schemas.openxmlformats.org/officeDocument/2006/relationships/notesMaster" Target="/ppt/notesMasters/notesMaster1.xml" Id="R795f74e64cf841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9d77e85883420a" /><Relationship Type="http://schemas.openxmlformats.org/officeDocument/2006/relationships/notesMaster" Target="/ppt/notesMasters/notesMaster1.xml" Id="Rd9fdcfcd1a814f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36bb70f14745bd" /><Relationship Type="http://schemas.openxmlformats.org/officeDocument/2006/relationships/notesMaster" Target="/ppt/notesMasters/notesMaster1.xml" Id="R27a8856283aa48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de1a653127441c" /><Relationship Type="http://schemas.openxmlformats.org/officeDocument/2006/relationships/notesMaster" Target="/ppt/notesMasters/notesMaster1.xml" Id="Rcdc05ec4d6fd4c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3301fda8024754" /><Relationship Type="http://schemas.openxmlformats.org/officeDocument/2006/relationships/notesMaster" Target="/ppt/notesMasters/notesMaster1.xml" Id="R8b59932322874e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35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equipe 2 apresentou a pergunta central da semana: por que o mesmo modelo pode responder de maneiras diferentes e o que significa dizer que ele seguiu uma instrução? A apresentação tem vinte slides e percorre três etapas. Primeiro, mostra como o modelo usa atenção causal para considerar o contexto. Depois, explica como ele escolhe o próximo token. Por fim, discute como prompts e formatos de conversa influenciam a resposta e como avaliar seu resultado. Vou resumir a lógica principal e terminar com dois ajustes úteis antes de reaproveitarmos o material.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Equipe 2, “Semana 2 — Como um LLM gera respostas e segue instruções”, PDF na branch equipe2/semana-02-geracao-e-instrucoes.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65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primeiro bloco da equipe explica a parte mecânica. Cada token fornece representações chamadas query, key e value. A query de uma posição é comparada com as keys das posições disponíveis, e a atenção usa esses escores para combinar os values. A máscara causal impede que a posição consulte tokens futuros. Assim, o modelo pode estimar uma distribuição sobre o próximo token usando somente o histórico disponível. A equipe também menciona o KV cache: durante a geração, o modelo guarda keys e values já calculados para evitar recomputar todo o prefixo a cada passo. Esse bloco prepara a ideia central da apresentação: o modelo produz probabilidades; uma estratégia posterior escolhe o token efetivamente emitido.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Equipe 2, slides 3 a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segundo bloco responde à pergunta sobre variação. O modelo calcula uma distribuição para o próximo token, mas o decoding decide como selecionar um candidato. No greedy decoding, ele escolhe o mais provável em cada etapa. Com amostragem, a saída pode variar. A temperatura reescala os logits e muda o quanto a distribuição fica concentrada. Top-k limita a escolha aos k tokens mais prováveis, enquanto top-p mantém o menor conjunto cuja probabilidade acumulada alcança um limiar. Depois, o token escolhido entra no contexto e o ciclo se repete. A equipe trouxe dois notebooks para demonstrar essas diferenças. A conclusão útil é que parâmetros de geração precisam ser registrados ao comparar respostas, porque mudanças neles afetam a reprodução do resultado.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Equipe 2, slides 9 a 15 e notebooks Decoding.ipynb e Decoding_Strategies_in_Large_Language_Models.ipynb.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70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terceiro bloco separa a geração de texto da obediência a instruções. A equipe mostra que system message, mensagem do usuário e chat template fornecem ao modelo a estrutura da conversa. O template precisa corresponder ao formato esperado pelo modelo, porque os marcadores de papel fazem parte da entrada. Depois, a equipe propõe três perguntas de avaliação. A resposta é fluente? Está correta em termos de conteúdo? Respeita as restrições do pedido, inclusive formato e escopo? Essas perguntas devem ser feitas separadamente. Uma resposta pode parecer convincente e ainda trazer um fato falso. Pode também acertar o fato e ignorar uma exigência explícita. Para benchmarks e aplicações agênticas, essa distinção é especialmente importante.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Equipe 2, slides 16 a 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Como avaliação, a apresentação cobre todo o roteiro previsto para a semana 2 e faz uma boa passagem da arquitetura para o comportamento observável. Os exemplos de decoding ajudam a tornar concreta a variação entre respostas, e a distinção entre fluência, correção e cumprimento é útil para a frente de benchmarks. Eu faria dois ajustes antes de reutilizar o material. No slide sobre máscara causal, a expressão “zera a relação” pode induzir ao erro: os escores das posições futuras são bloqueados antes do softmax, tipicamente com menos infinito, para que recebam peso zero depois dele. No notebook de estratégias, a célula 6 começa com indentação inesperada e falha ao compilar; vale corrigi-la e executar o notebook inteiro. Assim, o material fica mais seguro para uma demonstração ao vivo.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Equipe 2, slide 6; notebook Decoding_Strategies_in_Large_Language_Models.ipynb, célula 6. Verificação da célula por compilação Python.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5f653d36b548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8fd51e98ce4113" /><Relationship Type="http://schemas.openxmlformats.org/officeDocument/2006/relationships/slideLayout" Target="/ppt/slideLayouts/slideLayout1.xml" Id="Ra45569d0fbae42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5569d0fbae42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84ee669d249f5" /><Relationship Type="http://schemas.openxmlformats.org/officeDocument/2006/relationships/notesSlide" Target="/ppt/notesSlides/notesSlide1.xml" Id="R4d3e756b66ec4e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4645aa17d4fa4" /><Relationship Type="http://schemas.openxmlformats.org/officeDocument/2006/relationships/notesSlide" Target="/ppt/notesSlides/notesSlide2.xml" Id="R385f163ef31645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182a38aca473a" /><Relationship Type="http://schemas.openxmlformats.org/officeDocument/2006/relationships/notesSlide" Target="/ppt/notesSlides/notesSlide3.xml" Id="Rc87d003b6a1f49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a098b0e2d423a" /><Relationship Type="http://schemas.openxmlformats.org/officeDocument/2006/relationships/notesSlide" Target="/ppt/notesSlides/notesSlide4.xml" Id="R867c21ee0b064a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3151dd25f4217" /><Relationship Type="http://schemas.openxmlformats.org/officeDocument/2006/relationships/notesSlide" Target="/ppt/notesSlides/notesSlide5.xml" Id="Re9887fba15924f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CF7820-0516-400B-9933-18459FDB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382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8E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8E7FA"/>
                </a:solidFill>
                <a:latin typeface="Arial"/>
                <a:ea typeface="Arial"/>
                <a:cs typeface="Arial"/>
              </a:rPr>
              <a:t>SEMANA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BABFC-AD3B-4A7B-B086-F97A5ED9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Como um LLM gera respostas</a:t>
            </a:r>
          </a:p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 segue instruções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C9D9D-C871-42BE-BA5C-80B67E82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8E7F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8E7FA"/>
                </a:solidFill>
                <a:latin typeface="Arial"/>
                <a:ea typeface="Arial"/>
                <a:cs typeface="Arial"/>
              </a:rPr>
              <a:t>Síntese da apresentação da equipe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EB5A9-5481-4929-9D6C-DEFE7494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 minutos</a:t>
            </a:r>
          </a:p>
        </p:txBody>
      </p:sp>
    </p:spTree>
    <p:extLst>
      <p:ext uri="{BB962C8B-B14F-4D97-AF65-F5344CB8AC3E}">
        <p14:creationId xmlns:p14="http://schemas.microsoft.com/office/powerpoint/2010/main" val="4913056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F56423-EB95-4666-84A8-C441676C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O caminho até o próximo token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948CC-9195-46FD-8128-3F7B20A9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436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D5A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D5A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FAEE1-7910-4457-84EC-AF929188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63B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B9"/>
                </a:solidFill>
                <a:latin typeface="Arial"/>
                <a:ea typeface="Arial"/>
                <a:cs typeface="Arial"/>
              </a:rPr>
              <a:t>CONTEXTO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CD0DBB-BC33-4F22-BFDB-2CD12CE3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A atenção compara tokens por queries e keys e combina os values relevantes.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0DDC64-E149-4105-BC4F-5FA04F79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63B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B9"/>
                </a:solidFill>
                <a:latin typeface="Arial"/>
                <a:ea typeface="Arial"/>
                <a:cs typeface="Arial"/>
              </a:rPr>
              <a:t>LIMITE CAUSAL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7442B-CEC9-4080-B0CC-5D2C1A43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Cada posição considera apenas o que veio antes dela.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877E3-A305-40E6-84BD-5D86846C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D5A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D5A6C"/>
                </a:solidFill>
                <a:latin typeface="Arial"/>
                <a:ea typeface="Arial"/>
                <a:cs typeface="Arial"/>
              </a:rPr>
              <a:t>O resultado é uma distribuição de probabilidades para o próximo token.</a:t>
            </a:r>
          </a:p>
        </p:txBody>
      </p:sp>
    </p:spTree>
    <p:extLst>
      <p:ext uri="{BB962C8B-B14F-4D97-AF65-F5344CB8AC3E}">
        <p14:creationId xmlns:p14="http://schemas.microsoft.com/office/powerpoint/2010/main" val="13255381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4104C6-89AE-4672-BFB4-55CA5378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Por que as respostas variam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6BA68-1551-406D-8406-C4510A6F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436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D5A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D5A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059C5-1CAF-4F33-95F2-686ED6E0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563B9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563B9"/>
                </a:solidFill>
                <a:latin typeface="Arial"/>
                <a:ea typeface="Arial"/>
                <a:cs typeface="Arial"/>
              </a:rPr>
              <a:t>Greedy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2DF0A-8200-4ACA-A4B4-41EA0D30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Escolhe sempre o token de maior escore.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BAFDD-BE02-45B2-9100-464337D1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563B9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563B9"/>
                </a:solidFill>
                <a:latin typeface="Arial"/>
                <a:ea typeface="Arial"/>
                <a:cs typeface="Arial"/>
              </a:rPr>
              <a:t>Temperatura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3ED631-375F-4F05-BADE-3E332946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62375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Altera a concentração da distribuição antes da escolha.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B92CF-A3CA-475C-B6EB-E246BDF1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563B9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563B9"/>
                </a:solidFill>
                <a:latin typeface="Arial"/>
                <a:ea typeface="Arial"/>
                <a:cs typeface="Arial"/>
              </a:rPr>
              <a:t>Top-k e top-p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C59D2-14BB-4CAC-9DA6-58E4BA21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91125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Limitam quais tokens podem entrar na amostragem.</a:t>
            </a:r>
          </a:p>
        </p:txBody>
      </p:sp>
    </p:spTree>
    <p:extLst>
      <p:ext uri="{BB962C8B-B14F-4D97-AF65-F5344CB8AC3E}">
        <p14:creationId xmlns:p14="http://schemas.microsoft.com/office/powerpoint/2010/main" val="2629749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F8B0DA-564D-4E13-8C16-B0D2572A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O que significa seguir uma instrução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230D88-EA51-4953-AFF9-6BF2B15E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436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D5A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D5A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70C06-25D4-46C9-8758-FDBFFF69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5737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O chat template organiza papéis e mensagens para o modelo.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750DB0-93EE-412F-9FFC-DF6B4C49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D5A6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4D5A6C"/>
                </a:solidFill>
                <a:latin typeface="Arial"/>
                <a:ea typeface="Arial"/>
                <a:cs typeface="Arial"/>
              </a:rPr>
              <a:t>Uma resposta deve ser avaliada em dimensões separadas: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3F97D-50FD-44A7-89DB-4FCEAD25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63B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63B9"/>
                </a:solidFill>
                <a:latin typeface="Arial"/>
                <a:ea typeface="Arial"/>
                <a:cs typeface="Arial"/>
              </a:rPr>
              <a:t>Fluência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8BBFF-AEC2-4E7E-B70A-E5D00139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910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63B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63B9"/>
                </a:solidFill>
                <a:latin typeface="Arial"/>
                <a:ea typeface="Arial"/>
                <a:cs typeface="Arial"/>
              </a:rPr>
              <a:t>Correção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B1547-089A-49FF-A7CD-BF377A39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910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63B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63B9"/>
                </a:solidFill>
                <a:latin typeface="Arial"/>
                <a:ea typeface="Arial"/>
                <a:cs typeface="Arial"/>
              </a:rPr>
              <a:t>Cumprimento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F3F36-FF2D-4506-BD35-42721285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O texto pode soar natural e ainda estar errado ou desobedecer ao pedido.</a:t>
            </a:r>
          </a:p>
        </p:txBody>
      </p:sp>
    </p:spTree>
    <p:extLst>
      <p:ext uri="{BB962C8B-B14F-4D97-AF65-F5344CB8AC3E}">
        <p14:creationId xmlns:p14="http://schemas.microsoft.com/office/powerpoint/2010/main" val="1210075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9FA265-9691-4AF7-8D8A-A39C7821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Avaliação do material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226CEA-818C-4A3B-8EED-885F2CDD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436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D5A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D5A6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F75455-0EC9-47A1-B5CE-6BC39546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63B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63B9"/>
                </a:solidFill>
                <a:latin typeface="Arial"/>
                <a:ea typeface="Arial"/>
                <a:cs typeface="Arial"/>
              </a:rPr>
              <a:t>Ponto forte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2ACF2-8FA6-4D31-90E1-A34239C2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A sequência liga atenção, geração e avaliação de respostas.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67071-9D2F-494C-8B1E-E6B43F28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781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63B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63B9"/>
                </a:solidFill>
                <a:latin typeface="Arial"/>
                <a:ea typeface="Arial"/>
                <a:cs typeface="Arial"/>
              </a:rPr>
              <a:t>Ajustes antes de reutilizar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60AFB5-CE05-453F-8C4F-722B4EA5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1. Corrigir a descrição da máscara causal no slide 6.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085A4-D4C7-4A87-AF6C-72E85F2F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2. Corrigir a indentação da célula 6 no notebook de estratégias.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F9EC9-844C-4FF9-A0E9-70ACCA1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67375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D5A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D5A6C"/>
                </a:solidFill>
                <a:latin typeface="Arial"/>
                <a:ea typeface="Arial"/>
                <a:cs typeface="Arial"/>
              </a:rPr>
              <a:t>Com esses ajustes, o material serve bem ao nivelamento da semana 2.</a:t>
            </a:r>
          </a:p>
        </p:txBody>
      </p:sp>
    </p:spTree>
    <p:extLst>
      <p:ext uri="{BB962C8B-B14F-4D97-AF65-F5344CB8AC3E}">
        <p14:creationId xmlns:p14="http://schemas.microsoft.com/office/powerpoint/2010/main" val="11753660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2026-09-25T18:10:47.5780000Z</dcterms:created>
  <dcterms:modified xsi:type="dcterms:W3CDTF">2026-09-25T18:10:47.5780000Z</dcterms:modified>
</coreProperties>
</file>